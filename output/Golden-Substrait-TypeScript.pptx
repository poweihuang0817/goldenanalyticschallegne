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26DAF7-A9A1-484B-A07A-94FA56851AB0}"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21AE5-8040-4A08-9039-D4537475CA36}" type="slidenum">
              <a:rPr lang="en-US" smtClean="0"/>
              <a:t>‹#›</a:t>
            </a:fld>
            <a:endParaRPr lang="en-US"/>
          </a:p>
        </p:txBody>
      </p:sp>
    </p:spTree>
    <p:extLst>
      <p:ext uri="{BB962C8B-B14F-4D97-AF65-F5344CB8AC3E}">
        <p14:creationId xmlns:p14="http://schemas.microsoft.com/office/powerpoint/2010/main" val="1483661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public methods from src/api.ts, src/queries.ts and src/client.ts. Imports and setup are abbreviated: createSource, count and literal come from src/api.ts; challengeCatalog comes from src/challenge.ts. On the right, client means createClient("postgres", challengeCatalog); await client.destroy() in a finally block when finished. query.toSubstrait() exports fresh profile-validated Substrait JSON using generated protobuf structures and our constrained profile. It does not return protobuf binary or execute SQL. Internally client.compile(query) calls compiler.compile(query.toSubstrait()); compilation runs in a worker and validates catalog/function semantics. client.execute(query) compiles and sends SQL plus separate parameters through the backend driver. The plan contains Read, Filter and Aggregate relations, typed literals, field references and function anchors. Golden extensions constrain the semantics supported here; arbitrary Substrait plans and external engine interoperability are not promised.</a:t>
            </a:r>
          </a:p>
        </p:txBody>
      </p:sp>
      <p:sp>
        <p:nvSpPr>
          <p:cNvPr id="4" name="Slide Number Placeholder 3"/>
          <p:cNvSpPr>
            <a:spLocks noGrp="1"/>
          </p:cNvSpPr>
          <p:nvPr>
            <p:ph type="sldNum" sz="quarter" idx="5"/>
          </p:nvPr>
        </p:nvSpPr>
        <p:spPr/>
        <p:txBody>
          <a:bodyPr/>
          <a:lstStyle/>
          <a:p>
            <a:fld id="{8B921AE5-8040-4A08-9039-D4537475CA36}" type="slidenum">
              <a:rPr lang="en-US" smtClean="0"/>
              <a:t>1</a:t>
            </a:fld>
            <a:endParaRPr lang="en-US"/>
          </a:p>
        </p:txBody>
      </p:sp>
    </p:spTree>
    <p:extLst>
      <p:ext uri="{BB962C8B-B14F-4D97-AF65-F5344CB8AC3E}">
        <p14:creationId xmlns:p14="http://schemas.microsoft.com/office/powerpoint/2010/main" val="40569373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6FD63-7077-6CE2-8F7D-2D8CA48725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DE5ECA-28CA-64CF-5802-7C67301F9B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AF0872-402E-5DAC-DEB3-048E2C3F38F4}"/>
              </a:ext>
            </a:extLst>
          </p:cNvPr>
          <p:cNvSpPr>
            <a:spLocks noGrp="1"/>
          </p:cNvSpPr>
          <p:nvPr>
            <p:ph type="dt" sz="half" idx="10"/>
          </p:nvPr>
        </p:nvSpPr>
        <p:spPr/>
        <p:txBody>
          <a:bodyPr/>
          <a:lstStyle/>
          <a:p>
            <a:fld id="{EFD04825-3E51-40A2-A83D-D1DBE25145E9}" type="datetimeFigureOut">
              <a:rPr lang="en-US" smtClean="0"/>
              <a:t>10/21/2026</a:t>
            </a:fld>
            <a:endParaRPr lang="en-US"/>
          </a:p>
        </p:txBody>
      </p:sp>
      <p:sp>
        <p:nvSpPr>
          <p:cNvPr id="5" name="Footer Placeholder 4">
            <a:extLst>
              <a:ext uri="{FF2B5EF4-FFF2-40B4-BE49-F238E27FC236}">
                <a16:creationId xmlns:a16="http://schemas.microsoft.com/office/drawing/2014/main" id="{52F87691-8D8B-4870-2184-DD279CCDDA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9CBABD-A149-6E0C-748F-5C73D468BBF6}"/>
              </a:ext>
            </a:extLst>
          </p:cNvPr>
          <p:cNvSpPr>
            <a:spLocks noGrp="1"/>
          </p:cNvSpPr>
          <p:nvPr>
            <p:ph type="sldNum" sz="quarter" idx="12"/>
          </p:nvPr>
        </p:nvSpPr>
        <p:spPr/>
        <p:txBody>
          <a:bodyPr/>
          <a:lstStyle/>
          <a:p>
            <a:fld id="{EA6ADD99-42C3-461B-BE88-359523F4CA60}" type="slidenum">
              <a:rPr lang="en-US" smtClean="0"/>
              <a:t>‹#›</a:t>
            </a:fld>
            <a:endParaRPr lang="en-US"/>
          </a:p>
        </p:txBody>
      </p:sp>
    </p:spTree>
    <p:extLst>
      <p:ext uri="{BB962C8B-B14F-4D97-AF65-F5344CB8AC3E}">
        <p14:creationId xmlns:p14="http://schemas.microsoft.com/office/powerpoint/2010/main" val="365485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FA5A5-7687-AE70-B394-D62D6F812E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55EBFA-D746-2469-E433-7BF0C38E5D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E7C707-6CEF-D0D7-15F9-60678C595546}"/>
              </a:ext>
            </a:extLst>
          </p:cNvPr>
          <p:cNvSpPr>
            <a:spLocks noGrp="1"/>
          </p:cNvSpPr>
          <p:nvPr>
            <p:ph type="dt" sz="half" idx="10"/>
          </p:nvPr>
        </p:nvSpPr>
        <p:spPr/>
        <p:txBody>
          <a:bodyPr/>
          <a:lstStyle/>
          <a:p>
            <a:fld id="{EFD04825-3E51-40A2-A83D-D1DBE25145E9}" type="datetimeFigureOut">
              <a:rPr lang="en-US" smtClean="0"/>
              <a:t>10/21/2026</a:t>
            </a:fld>
            <a:endParaRPr lang="en-US"/>
          </a:p>
        </p:txBody>
      </p:sp>
      <p:sp>
        <p:nvSpPr>
          <p:cNvPr id="5" name="Footer Placeholder 4">
            <a:extLst>
              <a:ext uri="{FF2B5EF4-FFF2-40B4-BE49-F238E27FC236}">
                <a16:creationId xmlns:a16="http://schemas.microsoft.com/office/drawing/2014/main" id="{8E01A016-35F1-3648-5C89-70E5D2ED65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4C8AF5-6B1E-AF84-6BE4-C852C5D84C4A}"/>
              </a:ext>
            </a:extLst>
          </p:cNvPr>
          <p:cNvSpPr>
            <a:spLocks noGrp="1"/>
          </p:cNvSpPr>
          <p:nvPr>
            <p:ph type="sldNum" sz="quarter" idx="12"/>
          </p:nvPr>
        </p:nvSpPr>
        <p:spPr/>
        <p:txBody>
          <a:bodyPr/>
          <a:lstStyle/>
          <a:p>
            <a:fld id="{EA6ADD99-42C3-461B-BE88-359523F4CA60}" type="slidenum">
              <a:rPr lang="en-US" smtClean="0"/>
              <a:t>‹#›</a:t>
            </a:fld>
            <a:endParaRPr lang="en-US"/>
          </a:p>
        </p:txBody>
      </p:sp>
    </p:spTree>
    <p:extLst>
      <p:ext uri="{BB962C8B-B14F-4D97-AF65-F5344CB8AC3E}">
        <p14:creationId xmlns:p14="http://schemas.microsoft.com/office/powerpoint/2010/main" val="2789431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48B42-23ED-9901-DADA-2220CAAF60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CAC302-751D-2A27-D0B3-3DB6F5F1AE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4AB575-E64C-226D-629B-F26E1EAAA650}"/>
              </a:ext>
            </a:extLst>
          </p:cNvPr>
          <p:cNvSpPr>
            <a:spLocks noGrp="1"/>
          </p:cNvSpPr>
          <p:nvPr>
            <p:ph type="dt" sz="half" idx="10"/>
          </p:nvPr>
        </p:nvSpPr>
        <p:spPr/>
        <p:txBody>
          <a:bodyPr/>
          <a:lstStyle/>
          <a:p>
            <a:fld id="{EFD04825-3E51-40A2-A83D-D1DBE25145E9}" type="datetimeFigureOut">
              <a:rPr lang="en-US" smtClean="0"/>
              <a:t>10/21/2026</a:t>
            </a:fld>
            <a:endParaRPr lang="en-US"/>
          </a:p>
        </p:txBody>
      </p:sp>
      <p:sp>
        <p:nvSpPr>
          <p:cNvPr id="5" name="Footer Placeholder 4">
            <a:extLst>
              <a:ext uri="{FF2B5EF4-FFF2-40B4-BE49-F238E27FC236}">
                <a16:creationId xmlns:a16="http://schemas.microsoft.com/office/drawing/2014/main" id="{949349AB-D817-346B-2463-C3CBFFE185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105C85-2DEC-2810-372B-EB068A9EC1E1}"/>
              </a:ext>
            </a:extLst>
          </p:cNvPr>
          <p:cNvSpPr>
            <a:spLocks noGrp="1"/>
          </p:cNvSpPr>
          <p:nvPr>
            <p:ph type="sldNum" sz="quarter" idx="12"/>
          </p:nvPr>
        </p:nvSpPr>
        <p:spPr/>
        <p:txBody>
          <a:bodyPr/>
          <a:lstStyle/>
          <a:p>
            <a:fld id="{EA6ADD99-42C3-461B-BE88-359523F4CA60}" type="slidenum">
              <a:rPr lang="en-US" smtClean="0"/>
              <a:t>‹#›</a:t>
            </a:fld>
            <a:endParaRPr lang="en-US"/>
          </a:p>
        </p:txBody>
      </p:sp>
    </p:spTree>
    <p:extLst>
      <p:ext uri="{BB962C8B-B14F-4D97-AF65-F5344CB8AC3E}">
        <p14:creationId xmlns:p14="http://schemas.microsoft.com/office/powerpoint/2010/main" val="2524113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8B73F-C25E-EB26-1B47-24B2C133D6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4E87DF-B528-17D6-1033-12BCCBCC79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217311-8F28-A4A9-FFDE-149F744F25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5B2DB2-C7BD-8D0E-5BA4-D75D527C432B}"/>
              </a:ext>
            </a:extLst>
          </p:cNvPr>
          <p:cNvSpPr>
            <a:spLocks noGrp="1"/>
          </p:cNvSpPr>
          <p:nvPr>
            <p:ph type="dt" sz="half" idx="10"/>
          </p:nvPr>
        </p:nvSpPr>
        <p:spPr/>
        <p:txBody>
          <a:bodyPr/>
          <a:lstStyle/>
          <a:p>
            <a:fld id="{EFD04825-3E51-40A2-A83D-D1DBE25145E9}" type="datetimeFigureOut">
              <a:rPr lang="en-US" smtClean="0"/>
              <a:t>10/21/2026</a:t>
            </a:fld>
            <a:endParaRPr lang="en-US"/>
          </a:p>
        </p:txBody>
      </p:sp>
      <p:sp>
        <p:nvSpPr>
          <p:cNvPr id="6" name="Footer Placeholder 5">
            <a:extLst>
              <a:ext uri="{FF2B5EF4-FFF2-40B4-BE49-F238E27FC236}">
                <a16:creationId xmlns:a16="http://schemas.microsoft.com/office/drawing/2014/main" id="{FC3F7AC0-1BB0-681E-4B9F-995F3ADB70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65CA2F-2351-80DF-496D-E92E55190F05}"/>
              </a:ext>
            </a:extLst>
          </p:cNvPr>
          <p:cNvSpPr>
            <a:spLocks noGrp="1"/>
          </p:cNvSpPr>
          <p:nvPr>
            <p:ph type="sldNum" sz="quarter" idx="12"/>
          </p:nvPr>
        </p:nvSpPr>
        <p:spPr/>
        <p:txBody>
          <a:bodyPr/>
          <a:lstStyle/>
          <a:p>
            <a:fld id="{EA6ADD99-42C3-461B-BE88-359523F4CA60}" type="slidenum">
              <a:rPr lang="en-US" smtClean="0"/>
              <a:t>‹#›</a:t>
            </a:fld>
            <a:endParaRPr lang="en-US"/>
          </a:p>
        </p:txBody>
      </p:sp>
    </p:spTree>
    <p:extLst>
      <p:ext uri="{BB962C8B-B14F-4D97-AF65-F5344CB8AC3E}">
        <p14:creationId xmlns:p14="http://schemas.microsoft.com/office/powerpoint/2010/main" val="1440387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1F970-DB56-00BC-67A7-039098385D3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B878B0B-D90A-A660-C862-548A42767A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9C43E3-18FE-D197-96D6-F9B4C5E514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ED5CA7-43C0-3032-56AC-C6E20D2DF6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A5376B-1F21-7A0D-F69E-013C713ED8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28CF6F-1AFC-8F99-64DC-C40B7FC61166}"/>
              </a:ext>
            </a:extLst>
          </p:cNvPr>
          <p:cNvSpPr>
            <a:spLocks noGrp="1"/>
          </p:cNvSpPr>
          <p:nvPr>
            <p:ph type="dt" sz="half" idx="10"/>
          </p:nvPr>
        </p:nvSpPr>
        <p:spPr/>
        <p:txBody>
          <a:bodyPr/>
          <a:lstStyle/>
          <a:p>
            <a:fld id="{EFD04825-3E51-40A2-A83D-D1DBE25145E9}" type="datetimeFigureOut">
              <a:rPr lang="en-US" smtClean="0"/>
              <a:t>10/21/2026</a:t>
            </a:fld>
            <a:endParaRPr lang="en-US"/>
          </a:p>
        </p:txBody>
      </p:sp>
      <p:sp>
        <p:nvSpPr>
          <p:cNvPr id="8" name="Footer Placeholder 7">
            <a:extLst>
              <a:ext uri="{FF2B5EF4-FFF2-40B4-BE49-F238E27FC236}">
                <a16:creationId xmlns:a16="http://schemas.microsoft.com/office/drawing/2014/main" id="{A903BF62-D26A-8542-2D50-0FF9E98776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670352-94B9-AAF5-1AEC-CC4DAA2A2350}"/>
              </a:ext>
            </a:extLst>
          </p:cNvPr>
          <p:cNvSpPr>
            <a:spLocks noGrp="1"/>
          </p:cNvSpPr>
          <p:nvPr>
            <p:ph type="sldNum" sz="quarter" idx="12"/>
          </p:nvPr>
        </p:nvSpPr>
        <p:spPr/>
        <p:txBody>
          <a:bodyPr/>
          <a:lstStyle/>
          <a:p>
            <a:fld id="{EA6ADD99-42C3-461B-BE88-359523F4CA60}" type="slidenum">
              <a:rPr lang="en-US" smtClean="0"/>
              <a:t>‹#›</a:t>
            </a:fld>
            <a:endParaRPr lang="en-US"/>
          </a:p>
        </p:txBody>
      </p:sp>
    </p:spTree>
    <p:extLst>
      <p:ext uri="{BB962C8B-B14F-4D97-AF65-F5344CB8AC3E}">
        <p14:creationId xmlns:p14="http://schemas.microsoft.com/office/powerpoint/2010/main" val="2853944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D5230-6CE9-FD0F-B3E6-A120F60BAB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B5B180-7F34-5478-8400-50C7B300AC9D}"/>
              </a:ext>
            </a:extLst>
          </p:cNvPr>
          <p:cNvSpPr>
            <a:spLocks noGrp="1"/>
          </p:cNvSpPr>
          <p:nvPr>
            <p:ph type="dt" sz="half" idx="10"/>
          </p:nvPr>
        </p:nvSpPr>
        <p:spPr/>
        <p:txBody>
          <a:bodyPr/>
          <a:lstStyle/>
          <a:p>
            <a:fld id="{EFD04825-3E51-40A2-A83D-D1DBE25145E9}" type="datetimeFigureOut">
              <a:rPr lang="en-US" smtClean="0"/>
              <a:t>10/21/2026</a:t>
            </a:fld>
            <a:endParaRPr lang="en-US"/>
          </a:p>
        </p:txBody>
      </p:sp>
      <p:sp>
        <p:nvSpPr>
          <p:cNvPr id="4" name="Footer Placeholder 3">
            <a:extLst>
              <a:ext uri="{FF2B5EF4-FFF2-40B4-BE49-F238E27FC236}">
                <a16:creationId xmlns:a16="http://schemas.microsoft.com/office/drawing/2014/main" id="{AF25A1D1-C5A2-1E89-A030-F697E3DCF7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587098-5878-284B-0C1C-A38B7D9836E2}"/>
              </a:ext>
            </a:extLst>
          </p:cNvPr>
          <p:cNvSpPr>
            <a:spLocks noGrp="1"/>
          </p:cNvSpPr>
          <p:nvPr>
            <p:ph type="sldNum" sz="quarter" idx="12"/>
          </p:nvPr>
        </p:nvSpPr>
        <p:spPr/>
        <p:txBody>
          <a:bodyPr/>
          <a:lstStyle/>
          <a:p>
            <a:fld id="{EA6ADD99-42C3-461B-BE88-359523F4CA60}" type="slidenum">
              <a:rPr lang="en-US" smtClean="0"/>
              <a:t>‹#›</a:t>
            </a:fld>
            <a:endParaRPr lang="en-US"/>
          </a:p>
        </p:txBody>
      </p:sp>
    </p:spTree>
    <p:extLst>
      <p:ext uri="{BB962C8B-B14F-4D97-AF65-F5344CB8AC3E}">
        <p14:creationId xmlns:p14="http://schemas.microsoft.com/office/powerpoint/2010/main" val="3956192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70937-BAE6-4C11-378C-D85FF5FA1A48}"/>
              </a:ext>
            </a:extLst>
          </p:cNvPr>
          <p:cNvSpPr>
            <a:spLocks noGrp="1"/>
          </p:cNvSpPr>
          <p:nvPr>
            <p:ph type="dt" sz="half" idx="10"/>
          </p:nvPr>
        </p:nvSpPr>
        <p:spPr/>
        <p:txBody>
          <a:bodyPr/>
          <a:lstStyle/>
          <a:p>
            <a:fld id="{EFD04825-3E51-40A2-A83D-D1DBE25145E9}" type="datetimeFigureOut">
              <a:rPr lang="en-US" smtClean="0"/>
              <a:t>10/21/2026</a:t>
            </a:fld>
            <a:endParaRPr lang="en-US"/>
          </a:p>
        </p:txBody>
      </p:sp>
      <p:sp>
        <p:nvSpPr>
          <p:cNvPr id="3" name="Footer Placeholder 2">
            <a:extLst>
              <a:ext uri="{FF2B5EF4-FFF2-40B4-BE49-F238E27FC236}">
                <a16:creationId xmlns:a16="http://schemas.microsoft.com/office/drawing/2014/main" id="{1893FB3F-97CF-D0C8-FA96-1240F11815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586F88-9D95-AC1F-AA6B-588B668C3401}"/>
              </a:ext>
            </a:extLst>
          </p:cNvPr>
          <p:cNvSpPr>
            <a:spLocks noGrp="1"/>
          </p:cNvSpPr>
          <p:nvPr>
            <p:ph type="sldNum" sz="quarter" idx="12"/>
          </p:nvPr>
        </p:nvSpPr>
        <p:spPr/>
        <p:txBody>
          <a:bodyPr/>
          <a:lstStyle/>
          <a:p>
            <a:fld id="{EA6ADD99-42C3-461B-BE88-359523F4CA60}" type="slidenum">
              <a:rPr lang="en-US" smtClean="0"/>
              <a:t>‹#›</a:t>
            </a:fld>
            <a:endParaRPr lang="en-US"/>
          </a:p>
        </p:txBody>
      </p:sp>
    </p:spTree>
    <p:extLst>
      <p:ext uri="{BB962C8B-B14F-4D97-AF65-F5344CB8AC3E}">
        <p14:creationId xmlns:p14="http://schemas.microsoft.com/office/powerpoint/2010/main" val="1541821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B39DD-23DD-2F06-54BA-EADCD66EC6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5183FFC-72A1-48BB-ADA3-826F11A290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6A3EFB-B874-D048-E516-7D18D945DB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4661C-1616-198B-655F-90C46114C2D1}"/>
              </a:ext>
            </a:extLst>
          </p:cNvPr>
          <p:cNvSpPr>
            <a:spLocks noGrp="1"/>
          </p:cNvSpPr>
          <p:nvPr>
            <p:ph type="dt" sz="half" idx="10"/>
          </p:nvPr>
        </p:nvSpPr>
        <p:spPr/>
        <p:txBody>
          <a:bodyPr/>
          <a:lstStyle/>
          <a:p>
            <a:fld id="{EFD04825-3E51-40A2-A83D-D1DBE25145E9}" type="datetimeFigureOut">
              <a:rPr lang="en-US" smtClean="0"/>
              <a:t>10/21/2026</a:t>
            </a:fld>
            <a:endParaRPr lang="en-US"/>
          </a:p>
        </p:txBody>
      </p:sp>
      <p:sp>
        <p:nvSpPr>
          <p:cNvPr id="6" name="Footer Placeholder 5">
            <a:extLst>
              <a:ext uri="{FF2B5EF4-FFF2-40B4-BE49-F238E27FC236}">
                <a16:creationId xmlns:a16="http://schemas.microsoft.com/office/drawing/2014/main" id="{CB37CA93-8D97-9169-01E2-49E683B105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823ADC-1023-4D96-7969-BDC29071BD1F}"/>
              </a:ext>
            </a:extLst>
          </p:cNvPr>
          <p:cNvSpPr>
            <a:spLocks noGrp="1"/>
          </p:cNvSpPr>
          <p:nvPr>
            <p:ph type="sldNum" sz="quarter" idx="12"/>
          </p:nvPr>
        </p:nvSpPr>
        <p:spPr/>
        <p:txBody>
          <a:bodyPr/>
          <a:lstStyle/>
          <a:p>
            <a:fld id="{EA6ADD99-42C3-461B-BE88-359523F4CA60}" type="slidenum">
              <a:rPr lang="en-US" smtClean="0"/>
              <a:t>‹#›</a:t>
            </a:fld>
            <a:endParaRPr lang="en-US"/>
          </a:p>
        </p:txBody>
      </p:sp>
    </p:spTree>
    <p:extLst>
      <p:ext uri="{BB962C8B-B14F-4D97-AF65-F5344CB8AC3E}">
        <p14:creationId xmlns:p14="http://schemas.microsoft.com/office/powerpoint/2010/main" val="2489810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11DF8-B21F-627A-AA29-42A9DC7704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048D98-0518-C612-69C2-604AACADD1E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8BF10D-C97F-E9EC-B318-AE200B3106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E9298F-AC90-69BF-7570-15C940E43DC0}"/>
              </a:ext>
            </a:extLst>
          </p:cNvPr>
          <p:cNvSpPr>
            <a:spLocks noGrp="1"/>
          </p:cNvSpPr>
          <p:nvPr>
            <p:ph type="dt" sz="half" idx="10"/>
          </p:nvPr>
        </p:nvSpPr>
        <p:spPr/>
        <p:txBody>
          <a:bodyPr/>
          <a:lstStyle/>
          <a:p>
            <a:fld id="{EFD04825-3E51-40A2-A83D-D1DBE25145E9}" type="datetimeFigureOut">
              <a:rPr lang="en-US" smtClean="0"/>
              <a:t>10/21/2026</a:t>
            </a:fld>
            <a:endParaRPr lang="en-US"/>
          </a:p>
        </p:txBody>
      </p:sp>
      <p:sp>
        <p:nvSpPr>
          <p:cNvPr id="6" name="Footer Placeholder 5">
            <a:extLst>
              <a:ext uri="{FF2B5EF4-FFF2-40B4-BE49-F238E27FC236}">
                <a16:creationId xmlns:a16="http://schemas.microsoft.com/office/drawing/2014/main" id="{0A7BB962-3F9F-6C36-E6A8-4022EFB550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76305B-406C-2BCC-7002-FDFE50D3B5B0}"/>
              </a:ext>
            </a:extLst>
          </p:cNvPr>
          <p:cNvSpPr>
            <a:spLocks noGrp="1"/>
          </p:cNvSpPr>
          <p:nvPr>
            <p:ph type="sldNum" sz="quarter" idx="12"/>
          </p:nvPr>
        </p:nvSpPr>
        <p:spPr/>
        <p:txBody>
          <a:bodyPr/>
          <a:lstStyle/>
          <a:p>
            <a:fld id="{EA6ADD99-42C3-461B-BE88-359523F4CA60}" type="slidenum">
              <a:rPr lang="en-US" smtClean="0"/>
              <a:t>‹#›</a:t>
            </a:fld>
            <a:endParaRPr lang="en-US"/>
          </a:p>
        </p:txBody>
      </p:sp>
    </p:spTree>
    <p:extLst>
      <p:ext uri="{BB962C8B-B14F-4D97-AF65-F5344CB8AC3E}">
        <p14:creationId xmlns:p14="http://schemas.microsoft.com/office/powerpoint/2010/main" val="1655672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1A7C6-8480-2352-D511-E22347668C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F5BF1C-9987-33EC-47C5-98568665ED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D1D7BE-FEEC-9E0D-9353-74E6D9D5F45A}"/>
              </a:ext>
            </a:extLst>
          </p:cNvPr>
          <p:cNvSpPr>
            <a:spLocks noGrp="1"/>
          </p:cNvSpPr>
          <p:nvPr>
            <p:ph type="dt" sz="half" idx="10"/>
          </p:nvPr>
        </p:nvSpPr>
        <p:spPr/>
        <p:txBody>
          <a:bodyPr/>
          <a:lstStyle/>
          <a:p>
            <a:fld id="{EFD04825-3E51-40A2-A83D-D1DBE25145E9}" type="datetimeFigureOut">
              <a:rPr lang="en-US" smtClean="0"/>
              <a:t>10/21/2026</a:t>
            </a:fld>
            <a:endParaRPr lang="en-US"/>
          </a:p>
        </p:txBody>
      </p:sp>
      <p:sp>
        <p:nvSpPr>
          <p:cNvPr id="5" name="Footer Placeholder 4">
            <a:extLst>
              <a:ext uri="{FF2B5EF4-FFF2-40B4-BE49-F238E27FC236}">
                <a16:creationId xmlns:a16="http://schemas.microsoft.com/office/drawing/2014/main" id="{B5D4346E-CA29-AA71-6959-D1146AE76F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A1A6A8-81D2-5605-2670-923B65ED4946}"/>
              </a:ext>
            </a:extLst>
          </p:cNvPr>
          <p:cNvSpPr>
            <a:spLocks noGrp="1"/>
          </p:cNvSpPr>
          <p:nvPr>
            <p:ph type="sldNum" sz="quarter" idx="12"/>
          </p:nvPr>
        </p:nvSpPr>
        <p:spPr/>
        <p:txBody>
          <a:bodyPr/>
          <a:lstStyle/>
          <a:p>
            <a:fld id="{EA6ADD99-42C3-461B-BE88-359523F4CA60}" type="slidenum">
              <a:rPr lang="en-US" smtClean="0"/>
              <a:t>‹#›</a:t>
            </a:fld>
            <a:endParaRPr lang="en-US"/>
          </a:p>
        </p:txBody>
      </p:sp>
    </p:spTree>
    <p:extLst>
      <p:ext uri="{BB962C8B-B14F-4D97-AF65-F5344CB8AC3E}">
        <p14:creationId xmlns:p14="http://schemas.microsoft.com/office/powerpoint/2010/main" val="4291997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F0222-6AC6-0DFD-68EE-C4511F6382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22F039-6210-8A1E-0069-8C3994F634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472DBC-26A5-BBF8-B56C-071AAD6E4BE5}"/>
              </a:ext>
            </a:extLst>
          </p:cNvPr>
          <p:cNvSpPr>
            <a:spLocks noGrp="1"/>
          </p:cNvSpPr>
          <p:nvPr>
            <p:ph type="dt" sz="half" idx="10"/>
          </p:nvPr>
        </p:nvSpPr>
        <p:spPr/>
        <p:txBody>
          <a:bodyPr/>
          <a:lstStyle/>
          <a:p>
            <a:fld id="{EFD04825-3E51-40A2-A83D-D1DBE25145E9}" type="datetimeFigureOut">
              <a:rPr lang="en-US" smtClean="0"/>
              <a:t>10/21/2026</a:t>
            </a:fld>
            <a:endParaRPr lang="en-US"/>
          </a:p>
        </p:txBody>
      </p:sp>
      <p:sp>
        <p:nvSpPr>
          <p:cNvPr id="5" name="Footer Placeholder 4">
            <a:extLst>
              <a:ext uri="{FF2B5EF4-FFF2-40B4-BE49-F238E27FC236}">
                <a16:creationId xmlns:a16="http://schemas.microsoft.com/office/drawing/2014/main" id="{DD041773-7AF7-0D03-9B17-A00F39D80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6E0A70-CF19-EA29-265E-F6ED84204397}"/>
              </a:ext>
            </a:extLst>
          </p:cNvPr>
          <p:cNvSpPr>
            <a:spLocks noGrp="1"/>
          </p:cNvSpPr>
          <p:nvPr>
            <p:ph type="sldNum" sz="quarter" idx="12"/>
          </p:nvPr>
        </p:nvSpPr>
        <p:spPr/>
        <p:txBody>
          <a:bodyPr/>
          <a:lstStyle/>
          <a:p>
            <a:fld id="{EA6ADD99-42C3-461B-BE88-359523F4CA60}" type="slidenum">
              <a:rPr lang="en-US" smtClean="0"/>
              <a:t>‹#›</a:t>
            </a:fld>
            <a:endParaRPr lang="en-US"/>
          </a:p>
        </p:txBody>
      </p:sp>
    </p:spTree>
    <p:extLst>
      <p:ext uri="{BB962C8B-B14F-4D97-AF65-F5344CB8AC3E}">
        <p14:creationId xmlns:p14="http://schemas.microsoft.com/office/powerpoint/2010/main" val="2201826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06102A-B2B0-716E-D83B-A5E4DB37E7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9C472E-3291-7DCC-0744-EF9B20A158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C918EB-E330-EDFD-BD45-9EA4CD6BF4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D04825-3E51-40A2-A83D-D1DBE25145E9}" type="datetimeFigureOut">
              <a:rPr lang="en-US" smtClean="0"/>
              <a:t>10/21/2026</a:t>
            </a:fld>
            <a:endParaRPr lang="en-US"/>
          </a:p>
        </p:txBody>
      </p:sp>
      <p:sp>
        <p:nvSpPr>
          <p:cNvPr id="5" name="Footer Placeholder 4">
            <a:extLst>
              <a:ext uri="{FF2B5EF4-FFF2-40B4-BE49-F238E27FC236}">
                <a16:creationId xmlns:a16="http://schemas.microsoft.com/office/drawing/2014/main" id="{5AEA2E9B-74F8-F0B3-CBFF-EE1FF8B58A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8C3D827-937C-A4E6-2AE5-9A1B9E560C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6ADD99-42C3-461B-BE88-359523F4CA60}" type="slidenum">
              <a:rPr lang="en-US" smtClean="0"/>
              <a:t>‹#›</a:t>
            </a:fld>
            <a:endParaRPr lang="en-US"/>
          </a:p>
        </p:txBody>
      </p:sp>
    </p:spTree>
    <p:extLst>
      <p:ext uri="{BB962C8B-B14F-4D97-AF65-F5344CB8AC3E}">
        <p14:creationId xmlns:p14="http://schemas.microsoft.com/office/powerpoint/2010/main" val="2016539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EA9903-03E1-CF7A-14D3-1962101DD633}"/>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Substrait in our TypeScript API</a:t>
            </a:r>
          </a:p>
        </p:txBody>
      </p:sp>
      <p:sp>
        <p:nvSpPr>
          <p:cNvPr id="3" name="TextBox 2">
            <a:extLst>
              <a:ext uri="{FF2B5EF4-FFF2-40B4-BE49-F238E27FC236}">
                <a16:creationId xmlns:a16="http://schemas.microsoft.com/office/drawing/2014/main" id="{A143C5EB-39F4-FDF9-4DC7-BB0F3BD50889}"/>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2BEFEE91-6EAC-F888-6432-47BE33C4B553}"/>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1</a:t>
            </a:r>
          </a:p>
        </p:txBody>
      </p:sp>
      <p:sp>
        <p:nvSpPr>
          <p:cNvPr id="5" name="TextBox 4">
            <a:extLst>
              <a:ext uri="{FF2B5EF4-FFF2-40B4-BE49-F238E27FC236}">
                <a16:creationId xmlns:a16="http://schemas.microsoft.com/office/drawing/2014/main" id="{F5FE6319-BFC7-20E4-412C-C22AA30B160A}"/>
              </a:ext>
            </a:extLst>
          </p:cNvPr>
          <p:cNvSpPr txBox="1"/>
          <p:nvPr/>
        </p:nvSpPr>
        <p:spPr>
          <a:xfrm>
            <a:off x="609600" y="1473200"/>
            <a:ext cx="10972800" cy="400110"/>
          </a:xfrm>
          <a:prstGeom prst="rect">
            <a:avLst/>
          </a:prstGeom>
          <a:noFill/>
        </p:spPr>
        <p:txBody>
          <a:bodyPr vert="horz" wrap="square" lIns="0" tIns="0" rIns="0" bIns="0" rtlCol="0">
            <a:spAutoFit/>
          </a:bodyPr>
          <a:lstStyle/>
          <a:p>
            <a:r>
              <a:rPr lang="en-US" sz="2600" b="1">
                <a:solidFill>
                  <a:srgbClr val="087F6B"/>
                </a:solidFill>
                <a:latin typeface="Aptos" panose="020B0004020202020204" pitchFamily="34" charset="0"/>
              </a:rPr>
              <a:t>One query object, an inspectable plan, and backend SQL</a:t>
            </a:r>
          </a:p>
        </p:txBody>
      </p:sp>
      <p:sp>
        <p:nvSpPr>
          <p:cNvPr id="6" name="TextBox 5">
            <a:extLst>
              <a:ext uri="{FF2B5EF4-FFF2-40B4-BE49-F238E27FC236}">
                <a16:creationId xmlns:a16="http://schemas.microsoft.com/office/drawing/2014/main" id="{82407D1A-8311-6313-5FE8-2162A8CDC444}"/>
              </a:ext>
            </a:extLst>
          </p:cNvPr>
          <p:cNvSpPr txBox="1"/>
          <p:nvPr/>
        </p:nvSpPr>
        <p:spPr>
          <a:xfrm>
            <a:off x="609600" y="2336800"/>
            <a:ext cx="5461000" cy="384721"/>
          </a:xfrm>
          <a:prstGeom prst="rect">
            <a:avLst/>
          </a:prstGeom>
          <a:noFill/>
        </p:spPr>
        <p:txBody>
          <a:bodyPr vert="horz" wrap="square" lIns="0" tIns="0" rIns="0" bIns="0" rtlCol="0">
            <a:spAutoFit/>
          </a:bodyPr>
          <a:lstStyle/>
          <a:p>
            <a:r>
              <a:rPr lang="en-US" sz="2500" b="1">
                <a:solidFill>
                  <a:srgbClr val="087F6B"/>
                </a:solidFill>
                <a:latin typeface="Aptos" panose="020B0004020202020204" pitchFamily="34" charset="0"/>
              </a:rPr>
              <a:t>1. Build the query</a:t>
            </a:r>
          </a:p>
        </p:txBody>
      </p:sp>
      <p:sp>
        <p:nvSpPr>
          <p:cNvPr id="7" name="TextBox 6">
            <a:extLst>
              <a:ext uri="{FF2B5EF4-FFF2-40B4-BE49-F238E27FC236}">
                <a16:creationId xmlns:a16="http://schemas.microsoft.com/office/drawing/2014/main" id="{657DF3FA-57DA-1D89-E2F4-ED97FE2763E0}"/>
              </a:ext>
            </a:extLst>
          </p:cNvPr>
          <p:cNvSpPr txBox="1"/>
          <p:nvPr/>
        </p:nvSpPr>
        <p:spPr>
          <a:xfrm>
            <a:off x="609600" y="3022600"/>
            <a:ext cx="5715000" cy="1831271"/>
          </a:xfrm>
          <a:prstGeom prst="rect">
            <a:avLst/>
          </a:prstGeom>
          <a:noFill/>
        </p:spPr>
        <p:txBody>
          <a:bodyPr vert="horz" wrap="square" lIns="0" tIns="0" rIns="0" bIns="0" rtlCol="0">
            <a:spAutoFit/>
          </a:bodyPr>
          <a:lstStyle/>
          <a:p>
            <a:r>
              <a:rPr lang="en-US" sz="1700">
                <a:solidFill>
                  <a:srgbClr val="142735"/>
                </a:solidFill>
                <a:latin typeface="Consolas" panose="020B0609020204030204" pitchFamily="49" charset="0"/>
              </a:rPr>
              <a:t>const source = createSource(challengeCatalog);
const c = source.table('customers');
const query = c
  .filter(c.columns.city.lower()
    .eq(literal('london').lower()))
  .aggregate({ customer_count: count() });</a:t>
            </a:r>
          </a:p>
        </p:txBody>
      </p:sp>
      <p:sp>
        <p:nvSpPr>
          <p:cNvPr id="8" name="TextBox 7">
            <a:extLst>
              <a:ext uri="{FF2B5EF4-FFF2-40B4-BE49-F238E27FC236}">
                <a16:creationId xmlns:a16="http://schemas.microsoft.com/office/drawing/2014/main" id="{6ACE7C94-ED08-C4AF-C9E6-7859397226C9}"/>
              </a:ext>
            </a:extLst>
          </p:cNvPr>
          <p:cNvSpPr txBox="1"/>
          <p:nvPr/>
        </p:nvSpPr>
        <p:spPr>
          <a:xfrm>
            <a:off x="6794500" y="2336800"/>
            <a:ext cx="4787900" cy="384721"/>
          </a:xfrm>
          <a:prstGeom prst="rect">
            <a:avLst/>
          </a:prstGeom>
          <a:noFill/>
        </p:spPr>
        <p:txBody>
          <a:bodyPr vert="horz" wrap="square" lIns="0" tIns="0" rIns="0" bIns="0" rtlCol="0">
            <a:spAutoFit/>
          </a:bodyPr>
          <a:lstStyle/>
          <a:p>
            <a:r>
              <a:rPr lang="en-US" sz="2500" b="1">
                <a:solidFill>
                  <a:srgbClr val="087F6B"/>
                </a:solidFill>
                <a:latin typeface="Aptos" panose="020B0004020202020204" pitchFamily="34" charset="0"/>
              </a:rPr>
              <a:t>2. Inspect, compile, execute</a:t>
            </a:r>
          </a:p>
        </p:txBody>
      </p:sp>
      <p:sp>
        <p:nvSpPr>
          <p:cNvPr id="9" name="TextBox 8">
            <a:extLst>
              <a:ext uri="{FF2B5EF4-FFF2-40B4-BE49-F238E27FC236}">
                <a16:creationId xmlns:a16="http://schemas.microsoft.com/office/drawing/2014/main" id="{BE81BD52-3643-0840-5F15-754EF1220A5C}"/>
              </a:ext>
            </a:extLst>
          </p:cNvPr>
          <p:cNvSpPr txBox="1"/>
          <p:nvPr/>
        </p:nvSpPr>
        <p:spPr>
          <a:xfrm>
            <a:off x="6794500" y="3022600"/>
            <a:ext cx="4787900" cy="2354491"/>
          </a:xfrm>
          <a:prstGeom prst="rect">
            <a:avLst/>
          </a:prstGeom>
          <a:noFill/>
        </p:spPr>
        <p:txBody>
          <a:bodyPr vert="horz" wrap="square" lIns="0" tIns="0" rIns="0" bIns="0" rtlCol="0">
            <a:spAutoFit/>
          </a:bodyPr>
          <a:lstStyle/>
          <a:p>
            <a:r>
              <a:rPr lang="en-US" sz="1700">
                <a:solidFill>
                  <a:srgbClr val="142735"/>
                </a:solidFill>
                <a:latin typeface="Consolas" panose="020B0609020204030204" pitchFamily="49" charset="0"/>
              </a:rPr>
              <a:t>// Export Substrait JSON
const plan = query.toSubstrait();
// Compile for the client's backend
const { sql, parameters } =
  await client.compile(query);
const { rows } =
  await client.execute(query);</a:t>
            </a:r>
          </a:p>
        </p:txBody>
      </p:sp>
      <p:sp>
        <p:nvSpPr>
          <p:cNvPr id="10" name="TextBox 9">
            <a:extLst>
              <a:ext uri="{FF2B5EF4-FFF2-40B4-BE49-F238E27FC236}">
                <a16:creationId xmlns:a16="http://schemas.microsoft.com/office/drawing/2014/main" id="{01DE3D8D-E57E-B914-E2E4-A5C42D31080F}"/>
              </a:ext>
            </a:extLst>
          </p:cNvPr>
          <p:cNvSpPr txBox="1"/>
          <p:nvPr/>
        </p:nvSpPr>
        <p:spPr>
          <a:xfrm>
            <a:off x="609600" y="5842000"/>
            <a:ext cx="10972800" cy="338554"/>
          </a:xfrm>
          <a:prstGeom prst="rect">
            <a:avLst/>
          </a:prstGeom>
          <a:noFill/>
        </p:spPr>
        <p:txBody>
          <a:bodyPr vert="horz" wrap="square" lIns="0" tIns="0" rIns="0" bIns="0" rtlCol="0">
            <a:spAutoFit/>
          </a:bodyPr>
          <a:lstStyle/>
          <a:p>
            <a:r>
              <a:rPr lang="en-US" sz="2200" b="1">
                <a:solidFill>
                  <a:srgbClr val="087F6B"/>
                </a:solidFill>
                <a:latin typeface="Aptos" panose="020B0004020202020204" pitchFamily="34" charset="0"/>
              </a:rPr>
              <a:t>compile() uses toSubstrait() internally. Exporting the plan is optional.</a:t>
            </a:r>
          </a:p>
        </p:txBody>
      </p:sp>
    </p:spTree>
    <p:extLst>
      <p:ext uri="{BB962C8B-B14F-4D97-AF65-F5344CB8AC3E}">
        <p14:creationId xmlns:p14="http://schemas.microsoft.com/office/powerpoint/2010/main" val="17496541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350</Words>
  <Application>Microsoft Office PowerPoint</Application>
  <PresentationFormat>Custom</PresentationFormat>
  <Paragraphs>11</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Consolas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Po-wei Huang</dc:creator>
  <cp:lastModifiedBy>Po-wei Huang</cp:lastModifiedBy>
  <cp:revision>1</cp:revision>
  <dcterms:created xsi:type="dcterms:W3CDTF">2026-10-21T15:34:37Z</dcterms:created>
  <dcterms:modified xsi:type="dcterms:W3CDTF">2026-10-21T15:34:37Z</dcterms:modified>
</cp:coreProperties>
</file>