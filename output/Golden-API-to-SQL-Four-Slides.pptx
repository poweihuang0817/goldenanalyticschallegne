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A6E6A2-8845-4B2F-BCB8-401534AF7E32}"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E40BE4-4A0E-44DA-98C9-72BEE3AEBCF3}" type="slidenum">
              <a:rPr lang="en-US" smtClean="0"/>
              <a:t>‹#›</a:t>
            </a:fld>
            <a:endParaRPr lang="en-US"/>
          </a:p>
        </p:txBody>
      </p:sp>
    </p:spTree>
    <p:extLst>
      <p:ext uri="{BB962C8B-B14F-4D97-AF65-F5344CB8AC3E}">
        <p14:creationId xmlns:p14="http://schemas.microsoft.com/office/powerpoint/2010/main" val="4081402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Bottom-up walkthrough: begin at the database boundary. The running example counts customers whose city matches London after lowercasing. This SQL is the PostgreSQL city-query snapshot. $1 is a placeholder, not the literal 1. The driver sends SQL and [london] separately. COUNT returns an i64 logical result and Golden casts it to text to preserve its result representation without unsafe JS-number conversion. The observed Northwind result is customer_count string 6. Matching is lower-based, not a universal locale-independent case-folding promise. Source: src/queries.ts cityQuery, PostgreSQL SQL snapshot and previous provided-database tests. The physical database chooses its execution plan.</a:t>
            </a:r>
          </a:p>
        </p:txBody>
      </p:sp>
      <p:sp>
        <p:nvSpPr>
          <p:cNvPr id="4" name="Slide Number Placeholder 3"/>
          <p:cNvSpPr>
            <a:spLocks noGrp="1"/>
          </p:cNvSpPr>
          <p:nvPr>
            <p:ph type="sldNum" sz="quarter" idx="5"/>
          </p:nvPr>
        </p:nvSpPr>
        <p:spPr/>
        <p:txBody>
          <a:bodyPr/>
          <a:lstStyle/>
          <a:p>
            <a:fld id="{CBE40BE4-4A0E-44DA-98C9-72BEE3AEBCF3}" type="slidenum">
              <a:rPr lang="en-US" smtClean="0"/>
              <a:t>1</a:t>
            </a:fld>
            <a:endParaRPr lang="en-US"/>
          </a:p>
        </p:txBody>
      </p:sp>
    </p:spTree>
    <p:extLst>
      <p:ext uri="{BB962C8B-B14F-4D97-AF65-F5344CB8AC3E}">
        <p14:creationId xmlns:p14="http://schemas.microsoft.com/office/powerpoint/2010/main" val="3233496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SQL lowering maps relational operations to legal SQL clauses and query-block boundaries. Golden decides whether an operation can merge into a block or needs a subquery, implements semantic casts and capability rewrites, then uses Kysely to construct/compile SQL. Kysely also offers a typed SQL-shaped public builder (selectFrom/select/where). Golden does not expose that builder as its public API. Its analytical compiler predominantly uses Kysely structured sql templates and reference/value builders. sql.val values become parameters; identifiers use sql.ref/sql.id. Kysely does not automatically translate Substrait or prove relational semantics. Source: src/relational.ts compileAnalytics, src/compiler.ts compilePlanSync.</a:t>
            </a:r>
          </a:p>
        </p:txBody>
      </p:sp>
      <p:sp>
        <p:nvSpPr>
          <p:cNvPr id="4" name="Slide Number Placeholder 3"/>
          <p:cNvSpPr>
            <a:spLocks noGrp="1"/>
          </p:cNvSpPr>
          <p:nvPr>
            <p:ph type="sldNum" sz="quarter" idx="5"/>
          </p:nvPr>
        </p:nvSpPr>
        <p:spPr/>
        <p:txBody>
          <a:bodyPr/>
          <a:lstStyle/>
          <a:p>
            <a:fld id="{CBE40BE4-4A0E-44DA-98C9-72BEE3AEBCF3}" type="slidenum">
              <a:rPr lang="en-US" smtClean="0"/>
              <a:t>2</a:t>
            </a:fld>
            <a:endParaRPr lang="en-US"/>
          </a:p>
        </p:txBody>
      </p:sp>
    </p:spTree>
    <p:extLst>
      <p:ext uri="{BB962C8B-B14F-4D97-AF65-F5344CB8AC3E}">
        <p14:creationId xmlns:p14="http://schemas.microsoft.com/office/powerpoint/2010/main" val="1775175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readable logical outline, not literal protobuf JSON. Read yields customer columns with catalog types; Filter contains equal(lower(field reference),lower(string literal)). Aggregate has no group keys and counts rows. The actual Golden count() currently uses a non-null constant aggregate argument that lowering simplifies to COUNT(*). A root gives the output name customer_count. The constrained profile uses standard relation structures plus Golden function extensions; it rejects unsupported inputs. Substrait is not a semantic model, SQL generator or execution engine. Its value is a validated serialized boundary independent of backend SQL. External engine interoperability is not demonstrated. Sources: src/api.ts, src/plan.ts, src/functions.ts, docs/ARCHITECTURE.md.</a:t>
            </a:r>
          </a:p>
        </p:txBody>
      </p:sp>
      <p:sp>
        <p:nvSpPr>
          <p:cNvPr id="4" name="Slide Number Placeholder 3"/>
          <p:cNvSpPr>
            <a:spLocks noGrp="1"/>
          </p:cNvSpPr>
          <p:nvPr>
            <p:ph type="sldNum" sz="quarter" idx="5"/>
          </p:nvPr>
        </p:nvSpPr>
        <p:spPr/>
        <p:txBody>
          <a:bodyPr/>
          <a:lstStyle/>
          <a:p>
            <a:fld id="{CBE40BE4-4A0E-44DA-98C9-72BEE3AEBCF3}" type="slidenum">
              <a:rPr lang="en-US" smtClean="0"/>
              <a:t>3</a:t>
            </a:fld>
            <a:endParaRPr lang="en-US"/>
          </a:p>
        </p:txBody>
      </p:sp>
    </p:spTree>
    <p:extLst>
      <p:ext uri="{BB962C8B-B14F-4D97-AF65-F5344CB8AC3E}">
        <p14:creationId xmlns:p14="http://schemas.microsoft.com/office/powerpoint/2010/main" val="421164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Top-down return to the same example. source derives typed columns from an authored catalog, such as city:string nullable and customer_id:string required. Our TypeScript Expr interface constrains lower(this: Expr&lt;string,N&gt;), and Table.filter requires Expr&lt;bool&gt;. An orders order_id i32 expression cannot call lower in checked TS. Column names are keys of the inferred row type. Projection and aggregation replace the output schema. Runtime checks also reject bad kinds, unknown fields, stale relation scopes and unsupported plans because TS disappears at runtime. query construction is lazy. await client.compile(query) previews SQL via the worker; await client.execute(query) compiles and executes. These are our library constraints implemented using TypeScript, not automatic protections supplied by Substrait or Kysely. Source: src/api.ts Expr/Table/RuntimeExpr, src/client.ts and src/queries.ts cityQuery. Imports/source initialization omitted for slide readability.</a:t>
            </a:r>
          </a:p>
        </p:txBody>
      </p:sp>
      <p:sp>
        <p:nvSpPr>
          <p:cNvPr id="4" name="Slide Number Placeholder 3"/>
          <p:cNvSpPr>
            <a:spLocks noGrp="1"/>
          </p:cNvSpPr>
          <p:nvPr>
            <p:ph type="sldNum" sz="quarter" idx="5"/>
          </p:nvPr>
        </p:nvSpPr>
        <p:spPr/>
        <p:txBody>
          <a:bodyPr/>
          <a:lstStyle/>
          <a:p>
            <a:fld id="{CBE40BE4-4A0E-44DA-98C9-72BEE3AEBCF3}" type="slidenum">
              <a:rPr lang="en-US" smtClean="0"/>
              <a:t>4</a:t>
            </a:fld>
            <a:endParaRPr lang="en-US"/>
          </a:p>
        </p:txBody>
      </p:sp>
    </p:spTree>
    <p:extLst>
      <p:ext uri="{BB962C8B-B14F-4D97-AF65-F5344CB8AC3E}">
        <p14:creationId xmlns:p14="http://schemas.microsoft.com/office/powerpoint/2010/main" val="2118246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1A888-2A48-F93A-E469-0DE1F24676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0D8F90-F58A-9109-633B-A7FF154E2F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272D8F-1A24-BC0B-AA3C-F64212656741}"/>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5" name="Footer Placeholder 4">
            <a:extLst>
              <a:ext uri="{FF2B5EF4-FFF2-40B4-BE49-F238E27FC236}">
                <a16:creationId xmlns:a16="http://schemas.microsoft.com/office/drawing/2014/main" id="{00229F18-21AE-74CE-5323-9E460B095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E35AFA-FD56-020E-8425-54A96256C8EC}"/>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490587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9EA93-6E8C-9528-3119-1ED075DCB2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4792B0-F8E5-C439-F96B-67360D6D3C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AC6B86-1455-A39E-6971-93E8D7584A17}"/>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5" name="Footer Placeholder 4">
            <a:extLst>
              <a:ext uri="{FF2B5EF4-FFF2-40B4-BE49-F238E27FC236}">
                <a16:creationId xmlns:a16="http://schemas.microsoft.com/office/drawing/2014/main" id="{22440F59-B721-8F6D-E13E-E8C28815F0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77A6FC-DF94-BF75-63D4-E3342C7550EB}"/>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27852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13D1-4A5D-7A97-A23F-B4464C4CD7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589A90-75F1-97C9-BE84-8CCA4A0CC6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300301-6F93-1A0E-234F-F46738103435}"/>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5" name="Footer Placeholder 4">
            <a:extLst>
              <a:ext uri="{FF2B5EF4-FFF2-40B4-BE49-F238E27FC236}">
                <a16:creationId xmlns:a16="http://schemas.microsoft.com/office/drawing/2014/main" id="{DBF968B4-E996-53A6-0334-4076B86E0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74B1E-DD0E-0640-9F7F-32CB3CC01592}"/>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3929594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90FE3-9109-3850-F460-BDAA60AAA1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B77889-91DF-4516-E41B-4B8ACDF1A8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95052D-B356-D6A8-1F80-2D1E176CD2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76122A-896C-693B-F7D2-F6FC55E8BF44}"/>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6" name="Footer Placeholder 5">
            <a:extLst>
              <a:ext uri="{FF2B5EF4-FFF2-40B4-BE49-F238E27FC236}">
                <a16:creationId xmlns:a16="http://schemas.microsoft.com/office/drawing/2014/main" id="{B4C28C5A-30FE-8830-1235-9461F7A6D1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140A05-D10B-787A-505A-D93F12B18B2E}"/>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3328934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D238A-7F91-7C48-FAA2-2928F3953D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6E50C9-3084-7D13-E74E-078A7EF0BA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8831AD-D62C-99CB-9B61-5E1CEFFD5F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817537-42FA-FC86-0454-25AAD3D3A1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18E01D-C726-A681-FAA8-44B97EF62E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DE78C0-34F5-1989-21FE-F421FC96D25C}"/>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8" name="Footer Placeholder 7">
            <a:extLst>
              <a:ext uri="{FF2B5EF4-FFF2-40B4-BE49-F238E27FC236}">
                <a16:creationId xmlns:a16="http://schemas.microsoft.com/office/drawing/2014/main" id="{12FAB893-E811-EFC4-42A6-322AAB8290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C3A796-74A9-EF45-3802-1AB52EEB6998}"/>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3934405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3BB3C-D2CB-E377-7926-B36820919C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FE30BD-6A2B-5B92-C338-56D3A4DE37B9}"/>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4" name="Footer Placeholder 3">
            <a:extLst>
              <a:ext uri="{FF2B5EF4-FFF2-40B4-BE49-F238E27FC236}">
                <a16:creationId xmlns:a16="http://schemas.microsoft.com/office/drawing/2014/main" id="{20D3A928-684F-9E5A-25E8-479D0F3135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C51C13-74FE-309D-6657-F8359CAF1ACC}"/>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3730069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24F79-5902-7356-9063-254DEFF3B94C}"/>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3" name="Footer Placeholder 2">
            <a:extLst>
              <a:ext uri="{FF2B5EF4-FFF2-40B4-BE49-F238E27FC236}">
                <a16:creationId xmlns:a16="http://schemas.microsoft.com/office/drawing/2014/main" id="{FA6B5E0C-61B2-850C-344C-D2A8EBB526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3C75FA-ADC8-1E01-299A-FDF991A7BE5C}"/>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94034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28C63-8DC3-BEF7-13B8-02672E125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00F5FC-06E9-6BFB-6436-685DE184CD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081906-E282-DBF5-21E3-3225EF12C0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801890-DC35-CAB2-B318-56853B81F1F5}"/>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6" name="Footer Placeholder 5">
            <a:extLst>
              <a:ext uri="{FF2B5EF4-FFF2-40B4-BE49-F238E27FC236}">
                <a16:creationId xmlns:a16="http://schemas.microsoft.com/office/drawing/2014/main" id="{C6604EF5-9E1B-8970-B4B6-19E6F15B87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43A4AC-FF7D-0DA4-EB7D-0C4D89D8149F}"/>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2730174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21890-061C-0609-1B63-D4C06FC54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02B803-C54E-66C1-A8E8-405B376B27F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F5AC18-DE01-7F69-6462-A491B76210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DBCF9-CC84-C9EB-3BDD-72438C74451E}"/>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6" name="Footer Placeholder 5">
            <a:extLst>
              <a:ext uri="{FF2B5EF4-FFF2-40B4-BE49-F238E27FC236}">
                <a16:creationId xmlns:a16="http://schemas.microsoft.com/office/drawing/2014/main" id="{BF5ED6CE-161D-E5D7-69F5-BD750988CE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C0A97C-1F74-7086-F128-FEF072DE59FD}"/>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3313595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F35BD-6D9A-349F-45B2-15C10BA829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0FD532-E820-C5DC-D5BE-A3266B4283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74575E-1425-EEED-B04E-39A312A5F8C3}"/>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5" name="Footer Placeholder 4">
            <a:extLst>
              <a:ext uri="{FF2B5EF4-FFF2-40B4-BE49-F238E27FC236}">
                <a16:creationId xmlns:a16="http://schemas.microsoft.com/office/drawing/2014/main" id="{3AD43D12-3D59-E5D8-AE5C-9A9F44729E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BB76F2-2738-1848-7055-879B52C063BE}"/>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3650225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5E2208-EA4E-3855-EDDF-B0228906AA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D25F28-22C3-B661-D512-B04859A2C4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7F24E6-9BF4-C3EF-9773-E2302F4544BD}"/>
              </a:ext>
            </a:extLst>
          </p:cNvPr>
          <p:cNvSpPr>
            <a:spLocks noGrp="1"/>
          </p:cNvSpPr>
          <p:nvPr>
            <p:ph type="dt" sz="half" idx="10"/>
          </p:nvPr>
        </p:nvSpPr>
        <p:spPr/>
        <p:txBody>
          <a:bodyPr/>
          <a:lstStyle/>
          <a:p>
            <a:fld id="{CBFA04D0-4390-4E8C-8945-73BB46697086}" type="datetimeFigureOut">
              <a:rPr lang="en-US" smtClean="0"/>
              <a:t>10/21/2026</a:t>
            </a:fld>
            <a:endParaRPr lang="en-US"/>
          </a:p>
        </p:txBody>
      </p:sp>
      <p:sp>
        <p:nvSpPr>
          <p:cNvPr id="5" name="Footer Placeholder 4">
            <a:extLst>
              <a:ext uri="{FF2B5EF4-FFF2-40B4-BE49-F238E27FC236}">
                <a16:creationId xmlns:a16="http://schemas.microsoft.com/office/drawing/2014/main" id="{43E4198B-691B-58F5-A189-D1266F8ED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B0A36-3467-FABA-ECC2-FB35E1684FF9}"/>
              </a:ext>
            </a:extLst>
          </p:cNvPr>
          <p:cNvSpPr>
            <a:spLocks noGrp="1"/>
          </p:cNvSpPr>
          <p:nvPr>
            <p:ph type="sldNum" sz="quarter" idx="12"/>
          </p:nvPr>
        </p:nvSpPr>
        <p:spPr/>
        <p:txBody>
          <a:bodyPr/>
          <a:lstStyle/>
          <a:p>
            <a:fld id="{76FDCCBD-FC95-49BC-844F-536F63C72CC1}" type="slidenum">
              <a:rPr lang="en-US" smtClean="0"/>
              <a:t>‹#›</a:t>
            </a:fld>
            <a:endParaRPr lang="en-US"/>
          </a:p>
        </p:txBody>
      </p:sp>
    </p:spTree>
    <p:extLst>
      <p:ext uri="{BB962C8B-B14F-4D97-AF65-F5344CB8AC3E}">
        <p14:creationId xmlns:p14="http://schemas.microsoft.com/office/powerpoint/2010/main" val="1296327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E3B4DD-F7C4-7005-39BE-84C9B532D0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655872-1805-91C0-C8E4-B9053879E6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4F6D5-56D9-6691-CDF4-A29A2070F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FA04D0-4390-4E8C-8945-73BB46697086}" type="datetimeFigureOut">
              <a:rPr lang="en-US" smtClean="0"/>
              <a:t>10/21/2026</a:t>
            </a:fld>
            <a:endParaRPr lang="en-US"/>
          </a:p>
        </p:txBody>
      </p:sp>
      <p:sp>
        <p:nvSpPr>
          <p:cNvPr id="5" name="Footer Placeholder 4">
            <a:extLst>
              <a:ext uri="{FF2B5EF4-FFF2-40B4-BE49-F238E27FC236}">
                <a16:creationId xmlns:a16="http://schemas.microsoft.com/office/drawing/2014/main" id="{0BECF979-038F-F75E-39B5-1477AE2470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9DE01B-E4DD-912E-0C30-C79A60EEA9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FDCCBD-FC95-49BC-844F-536F63C72CC1}" type="slidenum">
              <a:rPr lang="en-US" smtClean="0"/>
              <a:t>‹#›</a:t>
            </a:fld>
            <a:endParaRPr lang="en-US"/>
          </a:p>
        </p:txBody>
      </p:sp>
    </p:spTree>
    <p:extLst>
      <p:ext uri="{BB962C8B-B14F-4D97-AF65-F5344CB8AC3E}">
        <p14:creationId xmlns:p14="http://schemas.microsoft.com/office/powerpoint/2010/main" val="2308721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1A9B6F-2C24-5B03-5587-3405ED4BBB15}"/>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1. The result: SQL and bound parameters</a:t>
            </a:r>
          </a:p>
        </p:txBody>
      </p:sp>
      <p:sp>
        <p:nvSpPr>
          <p:cNvPr id="3" name="TextBox 2">
            <a:extLst>
              <a:ext uri="{FF2B5EF4-FFF2-40B4-BE49-F238E27FC236}">
                <a16:creationId xmlns:a16="http://schemas.microsoft.com/office/drawing/2014/main" id="{0C7ADEF0-E9FD-DBC2-202A-D5E9D462995E}"/>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D6250E5E-6610-9E8E-7BCB-5E4D4E61AE9E}"/>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1</a:t>
            </a:r>
          </a:p>
        </p:txBody>
      </p:sp>
      <p:sp>
        <p:nvSpPr>
          <p:cNvPr id="5" name="TextBox 4">
            <a:extLst>
              <a:ext uri="{FF2B5EF4-FFF2-40B4-BE49-F238E27FC236}">
                <a16:creationId xmlns:a16="http://schemas.microsoft.com/office/drawing/2014/main" id="{7D8EC3B9-715D-F7B2-E987-0D52AE7BCE12}"/>
              </a:ext>
            </a:extLst>
          </p:cNvPr>
          <p:cNvSpPr txBox="1"/>
          <p:nvPr/>
        </p:nvSpPr>
        <p:spPr>
          <a:xfrm>
            <a:off x="609600" y="1587500"/>
            <a:ext cx="10922000" cy="415498"/>
          </a:xfrm>
          <a:prstGeom prst="rect">
            <a:avLst/>
          </a:prstGeom>
          <a:noFill/>
        </p:spPr>
        <p:txBody>
          <a:bodyPr vert="horz" wrap="square" lIns="0" tIns="0" rIns="0" bIns="0" rtlCol="0">
            <a:spAutoFit/>
          </a:bodyPr>
          <a:lstStyle/>
          <a:p>
            <a:r>
              <a:rPr lang="en-US" sz="2700" b="1">
                <a:solidFill>
                  <a:srgbClr val="087F6B"/>
                </a:solidFill>
                <a:latin typeface="Aptos" panose="020B0004020202020204" pitchFamily="34" charset="0"/>
              </a:rPr>
              <a:t>Example: count customers in London</a:t>
            </a:r>
          </a:p>
        </p:txBody>
      </p:sp>
      <p:sp>
        <p:nvSpPr>
          <p:cNvPr id="6" name="TextBox 5">
            <a:extLst>
              <a:ext uri="{FF2B5EF4-FFF2-40B4-BE49-F238E27FC236}">
                <a16:creationId xmlns:a16="http://schemas.microsoft.com/office/drawing/2014/main" id="{48D556AD-3E8E-9359-AA6A-2E3251CACF7B}"/>
              </a:ext>
            </a:extLst>
          </p:cNvPr>
          <p:cNvSpPr txBox="1"/>
          <p:nvPr/>
        </p:nvSpPr>
        <p:spPr>
          <a:xfrm>
            <a:off x="609600" y="2476500"/>
            <a:ext cx="10972800" cy="969496"/>
          </a:xfrm>
          <a:prstGeom prst="rect">
            <a:avLst/>
          </a:prstGeom>
          <a:noFill/>
        </p:spPr>
        <p:txBody>
          <a:bodyPr vert="horz" wrap="square" lIns="0" tIns="0" rIns="0" bIns="0" rtlCol="0">
            <a:spAutoFit/>
          </a:bodyPr>
          <a:lstStyle/>
          <a:p>
            <a:r>
              <a:rPr lang="en-US" sz="2100">
                <a:solidFill>
                  <a:srgbClr val="142735"/>
                </a:solidFill>
                <a:latin typeface="Consolas" panose="020B0609020204030204" pitchFamily="49" charset="0"/>
              </a:rPr>
              <a:t>SELECT CAST(COUNT(*) AS text) AS customer_count
FROM customers
WHERE LOWER(customers.city) = LOWER(CAST($1 AS text));</a:t>
            </a:r>
          </a:p>
        </p:txBody>
      </p:sp>
      <p:sp>
        <p:nvSpPr>
          <p:cNvPr id="7" name="Rectangle 6">
            <a:extLst>
              <a:ext uri="{FF2B5EF4-FFF2-40B4-BE49-F238E27FC236}">
                <a16:creationId xmlns:a16="http://schemas.microsoft.com/office/drawing/2014/main" id="{8317E984-73C3-692B-97C1-C988926AA343}"/>
              </a:ext>
            </a:extLst>
          </p:cNvPr>
          <p:cNvSpPr/>
          <p:nvPr/>
        </p:nvSpPr>
        <p:spPr>
          <a:xfrm>
            <a:off x="609600" y="4381500"/>
            <a:ext cx="31750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Parameters
['london']</a:t>
            </a:r>
          </a:p>
        </p:txBody>
      </p:sp>
      <p:sp>
        <p:nvSpPr>
          <p:cNvPr id="8" name="Rectangle 7">
            <a:extLst>
              <a:ext uri="{FF2B5EF4-FFF2-40B4-BE49-F238E27FC236}">
                <a16:creationId xmlns:a16="http://schemas.microsoft.com/office/drawing/2014/main" id="{E3B23A11-D3F6-59C5-276F-101AF947D410}"/>
              </a:ext>
            </a:extLst>
          </p:cNvPr>
          <p:cNvSpPr/>
          <p:nvPr/>
        </p:nvSpPr>
        <p:spPr>
          <a:xfrm>
            <a:off x="4508500" y="4381500"/>
            <a:ext cx="31750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PostgreSQL executes</a:t>
            </a:r>
          </a:p>
        </p:txBody>
      </p:sp>
      <p:sp>
        <p:nvSpPr>
          <p:cNvPr id="9" name="Rectangle 8">
            <a:extLst>
              <a:ext uri="{FF2B5EF4-FFF2-40B4-BE49-F238E27FC236}">
                <a16:creationId xmlns:a16="http://schemas.microsoft.com/office/drawing/2014/main" id="{F32109BE-ABD0-7F7B-46B2-A9C99014D7B9}"/>
              </a:ext>
            </a:extLst>
          </p:cNvPr>
          <p:cNvSpPr/>
          <p:nvPr/>
        </p:nvSpPr>
        <p:spPr>
          <a:xfrm>
            <a:off x="8407400" y="4381500"/>
            <a:ext cx="31750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Result
customer_count: '6'</a:t>
            </a:r>
          </a:p>
        </p:txBody>
      </p:sp>
      <p:cxnSp>
        <p:nvCxnSpPr>
          <p:cNvPr id="10" name="Straight Connector 9">
            <a:extLst>
              <a:ext uri="{FF2B5EF4-FFF2-40B4-BE49-F238E27FC236}">
                <a16:creationId xmlns:a16="http://schemas.microsoft.com/office/drawing/2014/main" id="{101CAFFA-246F-1C72-4DC0-43D826F10FC3}"/>
              </a:ext>
            </a:extLst>
          </p:cNvPr>
          <p:cNvCxnSpPr/>
          <p:nvPr/>
        </p:nvCxnSpPr>
        <p:spPr>
          <a:xfrm>
            <a:off x="3784600" y="4787900"/>
            <a:ext cx="7239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2216818-6B67-8D2E-4A5A-EBE4BFB0A2DE}"/>
              </a:ext>
            </a:extLst>
          </p:cNvPr>
          <p:cNvCxnSpPr/>
          <p:nvPr/>
        </p:nvCxnSpPr>
        <p:spPr>
          <a:xfrm>
            <a:off x="7683500" y="4787900"/>
            <a:ext cx="7239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866E449-AB50-2223-FEF1-4739833E8694}"/>
              </a:ext>
            </a:extLst>
          </p:cNvPr>
          <p:cNvSpPr txBox="1"/>
          <p:nvPr/>
        </p:nvSpPr>
        <p:spPr>
          <a:xfrm>
            <a:off x="609600" y="5778500"/>
            <a:ext cx="10972800" cy="338554"/>
          </a:xfrm>
          <a:prstGeom prst="rect">
            <a:avLst/>
          </a:prstGeom>
          <a:noFill/>
        </p:spPr>
        <p:txBody>
          <a:bodyPr vert="horz" wrap="square" lIns="0" tIns="0" rIns="0" bIns="0" rtlCol="0">
            <a:spAutoFit/>
          </a:bodyPr>
          <a:lstStyle/>
          <a:p>
            <a:r>
              <a:rPr lang="en-US" sz="2200" b="1">
                <a:solidFill>
                  <a:srgbClr val="087F6B"/>
                </a:solidFill>
                <a:latin typeface="Aptos" panose="020B0004020202020204" pitchFamily="34" charset="0"/>
              </a:rPr>
              <a:t>Values stay separate from SQL. The database owns physical execution.</a:t>
            </a:r>
          </a:p>
        </p:txBody>
      </p:sp>
    </p:spTree>
    <p:extLst>
      <p:ext uri="{BB962C8B-B14F-4D97-AF65-F5344CB8AC3E}">
        <p14:creationId xmlns:p14="http://schemas.microsoft.com/office/powerpoint/2010/main" val="1744231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889BBE-C930-2749-28A4-08ED38268C74}"/>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2. Golden lowers the plan; Kysely builds SQL</a:t>
            </a:r>
          </a:p>
        </p:txBody>
      </p:sp>
      <p:sp>
        <p:nvSpPr>
          <p:cNvPr id="3" name="TextBox 2">
            <a:extLst>
              <a:ext uri="{FF2B5EF4-FFF2-40B4-BE49-F238E27FC236}">
                <a16:creationId xmlns:a16="http://schemas.microsoft.com/office/drawing/2014/main" id="{B4EC131F-DFF8-AE0E-452D-957360666CA1}"/>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8075A0BB-CFDB-BA5F-B0E3-06FDF1C10387}"/>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2</a:t>
            </a:r>
          </a:p>
        </p:txBody>
      </p:sp>
      <p:sp>
        <p:nvSpPr>
          <p:cNvPr id="5" name="Rectangle 4">
            <a:extLst>
              <a:ext uri="{FF2B5EF4-FFF2-40B4-BE49-F238E27FC236}">
                <a16:creationId xmlns:a16="http://schemas.microsoft.com/office/drawing/2014/main" id="{1EBCAE0E-FEF0-A7E2-8796-C221FA00AC52}"/>
              </a:ext>
            </a:extLst>
          </p:cNvPr>
          <p:cNvSpPr/>
          <p:nvPr/>
        </p:nvSpPr>
        <p:spPr>
          <a:xfrm>
            <a:off x="609600" y="1841500"/>
            <a:ext cx="3175000" cy="952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Relational operations
Read / Filter / Aggregate</a:t>
            </a:r>
          </a:p>
        </p:txBody>
      </p:sp>
      <p:sp>
        <p:nvSpPr>
          <p:cNvPr id="6" name="Rectangle 5">
            <a:extLst>
              <a:ext uri="{FF2B5EF4-FFF2-40B4-BE49-F238E27FC236}">
                <a16:creationId xmlns:a16="http://schemas.microsoft.com/office/drawing/2014/main" id="{ADF99B31-DBC5-73A6-A4C2-B107274DFD60}"/>
              </a:ext>
            </a:extLst>
          </p:cNvPr>
          <p:cNvSpPr/>
          <p:nvPr/>
        </p:nvSpPr>
        <p:spPr>
          <a:xfrm>
            <a:off x="4508500" y="1841500"/>
            <a:ext cx="3175000" cy="952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Golden lowering
FROM / WHERE / SELECT</a:t>
            </a:r>
          </a:p>
        </p:txBody>
      </p:sp>
      <p:sp>
        <p:nvSpPr>
          <p:cNvPr id="7" name="Rectangle 6">
            <a:extLst>
              <a:ext uri="{FF2B5EF4-FFF2-40B4-BE49-F238E27FC236}">
                <a16:creationId xmlns:a16="http://schemas.microsoft.com/office/drawing/2014/main" id="{53BE0699-D535-7D3C-4EB8-7E3DB01DE9DC}"/>
              </a:ext>
            </a:extLst>
          </p:cNvPr>
          <p:cNvSpPr/>
          <p:nvPr/>
        </p:nvSpPr>
        <p:spPr>
          <a:xfrm>
            <a:off x="8407400" y="1841500"/>
            <a:ext cx="3175000" cy="952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Kysely dialect
SQL + parameters</a:t>
            </a:r>
          </a:p>
        </p:txBody>
      </p:sp>
      <p:cxnSp>
        <p:nvCxnSpPr>
          <p:cNvPr id="8" name="Straight Connector 7">
            <a:extLst>
              <a:ext uri="{FF2B5EF4-FFF2-40B4-BE49-F238E27FC236}">
                <a16:creationId xmlns:a16="http://schemas.microsoft.com/office/drawing/2014/main" id="{3C71B53C-A856-75A4-006C-FDD5329F8D66}"/>
              </a:ext>
            </a:extLst>
          </p:cNvPr>
          <p:cNvCxnSpPr/>
          <p:nvPr/>
        </p:nvCxnSpPr>
        <p:spPr>
          <a:xfrm>
            <a:off x="3784600" y="2311400"/>
            <a:ext cx="7239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0D6EAA9-CE55-94CE-5FCA-0F8AD404F42E}"/>
              </a:ext>
            </a:extLst>
          </p:cNvPr>
          <p:cNvCxnSpPr/>
          <p:nvPr/>
        </p:nvCxnSpPr>
        <p:spPr>
          <a:xfrm>
            <a:off x="7683500" y="2311400"/>
            <a:ext cx="7239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5C898AD-E9D3-406B-0E52-5485694793E1}"/>
              </a:ext>
            </a:extLst>
          </p:cNvPr>
          <p:cNvSpPr txBox="1"/>
          <p:nvPr/>
        </p:nvSpPr>
        <p:spPr>
          <a:xfrm>
            <a:off x="609600" y="3302000"/>
            <a:ext cx="5207000" cy="384721"/>
          </a:xfrm>
          <a:prstGeom prst="rect">
            <a:avLst/>
          </a:prstGeom>
          <a:noFill/>
        </p:spPr>
        <p:txBody>
          <a:bodyPr vert="horz" wrap="square" lIns="0" tIns="0" rIns="0" bIns="0" rtlCol="0">
            <a:spAutoFit/>
          </a:bodyPr>
          <a:lstStyle/>
          <a:p>
            <a:r>
              <a:rPr lang="en-US" sz="2500" b="1">
                <a:solidFill>
                  <a:srgbClr val="087F6B"/>
                </a:solidFill>
                <a:latin typeface="Aptos" panose="020B0004020202020204" pitchFamily="34" charset="0"/>
              </a:rPr>
              <a:t>Kysely API building blocks</a:t>
            </a:r>
          </a:p>
        </p:txBody>
      </p:sp>
      <p:sp>
        <p:nvSpPr>
          <p:cNvPr id="11" name="TextBox 10">
            <a:extLst>
              <a:ext uri="{FF2B5EF4-FFF2-40B4-BE49-F238E27FC236}">
                <a16:creationId xmlns:a16="http://schemas.microsoft.com/office/drawing/2014/main" id="{EF059462-12C6-A757-C5A4-D63CFEC595DD}"/>
              </a:ext>
            </a:extLst>
          </p:cNvPr>
          <p:cNvSpPr txBox="1"/>
          <p:nvPr/>
        </p:nvSpPr>
        <p:spPr>
          <a:xfrm>
            <a:off x="609600" y="4000500"/>
            <a:ext cx="5334000" cy="1015663"/>
          </a:xfrm>
          <a:prstGeom prst="rect">
            <a:avLst/>
          </a:prstGeom>
          <a:noFill/>
        </p:spPr>
        <p:txBody>
          <a:bodyPr vert="horz" wrap="square" lIns="0" tIns="0" rIns="0" bIns="0" rtlCol="0">
            <a:spAutoFit/>
          </a:bodyPr>
          <a:lstStyle/>
          <a:p>
            <a:r>
              <a:rPr lang="en-US" sz="2200">
                <a:solidFill>
                  <a:srgbClr val="142735"/>
                </a:solidFill>
                <a:latin typeface="Consolas" panose="020B0609020204030204" pitchFamily="49" charset="0"/>
              </a:rPr>
              <a:t>sql.ref('customers.city')
sql.val('london')
sql`count(*)`</a:t>
            </a:r>
          </a:p>
        </p:txBody>
      </p:sp>
      <p:sp>
        <p:nvSpPr>
          <p:cNvPr id="12" name="TextBox 11">
            <a:extLst>
              <a:ext uri="{FF2B5EF4-FFF2-40B4-BE49-F238E27FC236}">
                <a16:creationId xmlns:a16="http://schemas.microsoft.com/office/drawing/2014/main" id="{6B69AA7C-A9FD-8F1F-391B-E38D9BC82D9C}"/>
              </a:ext>
            </a:extLst>
          </p:cNvPr>
          <p:cNvSpPr txBox="1"/>
          <p:nvPr/>
        </p:nvSpPr>
        <p:spPr>
          <a:xfrm>
            <a:off x="6604000" y="3429000"/>
            <a:ext cx="4978400" cy="1538883"/>
          </a:xfrm>
          <a:prstGeom prst="rect">
            <a:avLst/>
          </a:prstGeom>
          <a:noFill/>
        </p:spPr>
        <p:txBody>
          <a:bodyPr vert="horz" wrap="square" lIns="0" tIns="0" rIns="0" bIns="0" rtlCol="0">
            <a:spAutoFit/>
          </a:bodyPr>
          <a:lstStyle/>
          <a:p>
            <a:r>
              <a:rPr lang="en-US" sz="2500">
                <a:solidFill>
                  <a:srgbClr val="142735"/>
                </a:solidFill>
                <a:latin typeface="Aptos" panose="020B0004020202020204" pitchFamily="34" charset="0"/>
              </a:rPr>
              <a:t>Golden decides query structure.
Kysely renders identifiers, expressions and placeholders.</a:t>
            </a:r>
          </a:p>
        </p:txBody>
      </p:sp>
      <p:sp>
        <p:nvSpPr>
          <p:cNvPr id="13" name="TextBox 12">
            <a:extLst>
              <a:ext uri="{FF2B5EF4-FFF2-40B4-BE49-F238E27FC236}">
                <a16:creationId xmlns:a16="http://schemas.microsoft.com/office/drawing/2014/main" id="{55BD4976-F2C1-0468-BEEC-CFF198CA4E5B}"/>
              </a:ext>
            </a:extLst>
          </p:cNvPr>
          <p:cNvSpPr txBox="1"/>
          <p:nvPr/>
        </p:nvSpPr>
        <p:spPr>
          <a:xfrm>
            <a:off x="609600" y="5778500"/>
            <a:ext cx="10972800" cy="338554"/>
          </a:xfrm>
          <a:prstGeom prst="rect">
            <a:avLst/>
          </a:prstGeom>
          <a:noFill/>
        </p:spPr>
        <p:txBody>
          <a:bodyPr vert="horz" wrap="square" lIns="0" tIns="0" rIns="0" bIns="0" rtlCol="0">
            <a:spAutoFit/>
          </a:bodyPr>
          <a:lstStyle/>
          <a:p>
            <a:r>
              <a:rPr lang="en-US" sz="2200" b="1">
                <a:solidFill>
                  <a:srgbClr val="087F6B"/>
                </a:solidFill>
                <a:latin typeface="Aptos" panose="020B0004020202020204" pitchFamily="34" charset="0"/>
              </a:rPr>
              <a:t>Nested aggregates and window filters may require separate SQL blocks.</a:t>
            </a:r>
          </a:p>
        </p:txBody>
      </p:sp>
    </p:spTree>
    <p:extLst>
      <p:ext uri="{BB962C8B-B14F-4D97-AF65-F5344CB8AC3E}">
        <p14:creationId xmlns:p14="http://schemas.microsoft.com/office/powerpoint/2010/main" val="2722954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26F3D0-CBB9-D8EB-9685-0C528EF035D3}"/>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3. Substrait carries the relational intent</a:t>
            </a:r>
          </a:p>
        </p:txBody>
      </p:sp>
      <p:sp>
        <p:nvSpPr>
          <p:cNvPr id="3" name="TextBox 2">
            <a:extLst>
              <a:ext uri="{FF2B5EF4-FFF2-40B4-BE49-F238E27FC236}">
                <a16:creationId xmlns:a16="http://schemas.microsoft.com/office/drawing/2014/main" id="{3A4530E7-D1B5-0A22-1607-C18491732F02}"/>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51FFA5C5-9228-12BB-38B5-5B9658C0837C}"/>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3</a:t>
            </a:r>
          </a:p>
        </p:txBody>
      </p:sp>
      <p:sp>
        <p:nvSpPr>
          <p:cNvPr id="5" name="Rectangle 4">
            <a:extLst>
              <a:ext uri="{FF2B5EF4-FFF2-40B4-BE49-F238E27FC236}">
                <a16:creationId xmlns:a16="http://schemas.microsoft.com/office/drawing/2014/main" id="{6CAD8ED2-89BB-2283-9769-F4653F38240F}"/>
              </a:ext>
            </a:extLst>
          </p:cNvPr>
          <p:cNvSpPr/>
          <p:nvPr/>
        </p:nvSpPr>
        <p:spPr>
          <a:xfrm>
            <a:off x="609600" y="1905000"/>
            <a:ext cx="53340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Read customers</a:t>
            </a:r>
          </a:p>
        </p:txBody>
      </p:sp>
      <p:sp>
        <p:nvSpPr>
          <p:cNvPr id="6" name="Rectangle 5">
            <a:extLst>
              <a:ext uri="{FF2B5EF4-FFF2-40B4-BE49-F238E27FC236}">
                <a16:creationId xmlns:a16="http://schemas.microsoft.com/office/drawing/2014/main" id="{67BDBF3A-ABDE-C556-6DE7-CA45EBCDD8BC}"/>
              </a:ext>
            </a:extLst>
          </p:cNvPr>
          <p:cNvSpPr/>
          <p:nvPr/>
        </p:nvSpPr>
        <p:spPr>
          <a:xfrm>
            <a:off x="609600" y="3238500"/>
            <a:ext cx="53340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Filter lower(city) = lower(london)</a:t>
            </a:r>
          </a:p>
        </p:txBody>
      </p:sp>
      <p:sp>
        <p:nvSpPr>
          <p:cNvPr id="7" name="Rectangle 6">
            <a:extLst>
              <a:ext uri="{FF2B5EF4-FFF2-40B4-BE49-F238E27FC236}">
                <a16:creationId xmlns:a16="http://schemas.microsoft.com/office/drawing/2014/main" id="{8DE58B9C-6AA4-3930-C694-D47DD195D1A5}"/>
              </a:ext>
            </a:extLst>
          </p:cNvPr>
          <p:cNvSpPr/>
          <p:nvPr/>
        </p:nvSpPr>
        <p:spPr>
          <a:xfrm>
            <a:off x="609600" y="4572000"/>
            <a:ext cx="53340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Aggregate count as customer_count</a:t>
            </a:r>
          </a:p>
        </p:txBody>
      </p:sp>
      <p:cxnSp>
        <p:nvCxnSpPr>
          <p:cNvPr id="8" name="Straight Connector 7">
            <a:extLst>
              <a:ext uri="{FF2B5EF4-FFF2-40B4-BE49-F238E27FC236}">
                <a16:creationId xmlns:a16="http://schemas.microsoft.com/office/drawing/2014/main" id="{55EFEEC1-57EF-F85F-5458-0750B7B1E0F9}"/>
              </a:ext>
            </a:extLst>
          </p:cNvPr>
          <p:cNvCxnSpPr/>
          <p:nvPr/>
        </p:nvCxnSpPr>
        <p:spPr>
          <a:xfrm>
            <a:off x="3276600" y="2730500"/>
            <a:ext cx="0" cy="508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E4FD05B9-45FE-AA33-3F1A-FC3E461A6CCC}"/>
              </a:ext>
            </a:extLst>
          </p:cNvPr>
          <p:cNvCxnSpPr/>
          <p:nvPr/>
        </p:nvCxnSpPr>
        <p:spPr>
          <a:xfrm>
            <a:off x="3276600" y="4064000"/>
            <a:ext cx="0" cy="508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FF1ADF0-7DEC-E599-C4BD-ACC5D3682220}"/>
              </a:ext>
            </a:extLst>
          </p:cNvPr>
          <p:cNvSpPr txBox="1"/>
          <p:nvPr/>
        </p:nvSpPr>
        <p:spPr>
          <a:xfrm>
            <a:off x="6731000" y="1905000"/>
            <a:ext cx="4826000" cy="800219"/>
          </a:xfrm>
          <a:prstGeom prst="rect">
            <a:avLst/>
          </a:prstGeom>
          <a:noFill/>
        </p:spPr>
        <p:txBody>
          <a:bodyPr vert="horz" wrap="square" lIns="0" tIns="0" rIns="0" bIns="0" rtlCol="0">
            <a:spAutoFit/>
          </a:bodyPr>
          <a:lstStyle/>
          <a:p>
            <a:r>
              <a:rPr lang="en-US" sz="2600" b="1">
                <a:solidFill>
                  <a:srgbClr val="087F6B"/>
                </a:solidFill>
                <a:latin typeface="Aptos" panose="020B0004020202020204" pitchFamily="34" charset="0"/>
              </a:rPr>
              <a:t>A constrained relational contract</a:t>
            </a:r>
          </a:p>
        </p:txBody>
      </p:sp>
      <p:sp>
        <p:nvSpPr>
          <p:cNvPr id="11" name="TextBox 10">
            <a:extLst>
              <a:ext uri="{FF2B5EF4-FFF2-40B4-BE49-F238E27FC236}">
                <a16:creationId xmlns:a16="http://schemas.microsoft.com/office/drawing/2014/main" id="{27ED1434-10CB-981E-7AFB-646E4735B09E}"/>
              </a:ext>
            </a:extLst>
          </p:cNvPr>
          <p:cNvSpPr txBox="1"/>
          <p:nvPr/>
        </p:nvSpPr>
        <p:spPr>
          <a:xfrm>
            <a:off x="6731000" y="3048000"/>
            <a:ext cx="4826000" cy="1769715"/>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Field references and typed literals
Explicit operator order
Supported functions and validation</a:t>
            </a:r>
          </a:p>
        </p:txBody>
      </p:sp>
      <p:sp>
        <p:nvSpPr>
          <p:cNvPr id="12" name="TextBox 11">
            <a:extLst>
              <a:ext uri="{FF2B5EF4-FFF2-40B4-BE49-F238E27FC236}">
                <a16:creationId xmlns:a16="http://schemas.microsoft.com/office/drawing/2014/main" id="{F0043729-2079-E2E4-4E4D-12546628B2DE}"/>
              </a:ext>
            </a:extLst>
          </p:cNvPr>
          <p:cNvSpPr txBox="1"/>
          <p:nvPr/>
        </p:nvSpPr>
        <p:spPr>
          <a:xfrm>
            <a:off x="609600" y="5778500"/>
            <a:ext cx="10972800" cy="338554"/>
          </a:xfrm>
          <a:prstGeom prst="rect">
            <a:avLst/>
          </a:prstGeom>
          <a:noFill/>
        </p:spPr>
        <p:txBody>
          <a:bodyPr vert="horz" wrap="square" lIns="0" tIns="0" rIns="0" bIns="0" rtlCol="0">
            <a:spAutoFit/>
          </a:bodyPr>
          <a:lstStyle/>
          <a:p>
            <a:r>
              <a:rPr lang="en-US" sz="2200" b="1">
                <a:solidFill>
                  <a:srgbClr val="087F6B"/>
                </a:solidFill>
                <a:latin typeface="Aptos" panose="020B0004020202020204" pitchFamily="34" charset="0"/>
              </a:rPr>
              <a:t>Same intent can target different backends. Golden still owns the compiler.</a:t>
            </a:r>
          </a:p>
        </p:txBody>
      </p:sp>
    </p:spTree>
    <p:extLst>
      <p:ext uri="{BB962C8B-B14F-4D97-AF65-F5344CB8AC3E}">
        <p14:creationId xmlns:p14="http://schemas.microsoft.com/office/powerpoint/2010/main" val="3954456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6DD65C-9CED-CC1C-6B8A-EB503681F892}"/>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4. Our typed API builds and validates the query</a:t>
            </a:r>
          </a:p>
        </p:txBody>
      </p:sp>
      <p:sp>
        <p:nvSpPr>
          <p:cNvPr id="3" name="TextBox 2">
            <a:extLst>
              <a:ext uri="{FF2B5EF4-FFF2-40B4-BE49-F238E27FC236}">
                <a16:creationId xmlns:a16="http://schemas.microsoft.com/office/drawing/2014/main" id="{2F85F337-A4E7-3BC4-F499-81D399D74DD3}"/>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0406E8AC-7760-4EC5-48E5-F6F3DF29866C}"/>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4</a:t>
            </a:r>
          </a:p>
        </p:txBody>
      </p:sp>
      <p:sp>
        <p:nvSpPr>
          <p:cNvPr id="5" name="TextBox 4">
            <a:extLst>
              <a:ext uri="{FF2B5EF4-FFF2-40B4-BE49-F238E27FC236}">
                <a16:creationId xmlns:a16="http://schemas.microsoft.com/office/drawing/2014/main" id="{35E10D81-FAC4-7921-C343-B95D85EF5242}"/>
              </a:ext>
            </a:extLst>
          </p:cNvPr>
          <p:cNvSpPr txBox="1"/>
          <p:nvPr/>
        </p:nvSpPr>
        <p:spPr>
          <a:xfrm>
            <a:off x="609600" y="1778000"/>
            <a:ext cx="6921500" cy="1938992"/>
          </a:xfrm>
          <a:prstGeom prst="rect">
            <a:avLst/>
          </a:prstGeom>
          <a:noFill/>
        </p:spPr>
        <p:txBody>
          <a:bodyPr vert="horz" wrap="square" lIns="0" tIns="0" rIns="0" bIns="0" rtlCol="0">
            <a:spAutoFit/>
          </a:bodyPr>
          <a:lstStyle/>
          <a:p>
            <a:r>
              <a:rPr lang="en-US">
                <a:solidFill>
                  <a:srgbClr val="142735"/>
                </a:solidFill>
                <a:latin typeface="Consolas" panose="020B0609020204030204" pitchFamily="49" charset="0"/>
              </a:rPr>
              <a:t>const c = source.table('customers');
const query = c
  .filter(c.columns.city.lower()
    .eq(literal('london').lower()))
  .aggregate({ customer_count: count() });
const result = await client.execute(query);</a:t>
            </a:r>
          </a:p>
        </p:txBody>
      </p:sp>
      <p:sp>
        <p:nvSpPr>
          <p:cNvPr id="6" name="TextBox 5">
            <a:extLst>
              <a:ext uri="{FF2B5EF4-FFF2-40B4-BE49-F238E27FC236}">
                <a16:creationId xmlns:a16="http://schemas.microsoft.com/office/drawing/2014/main" id="{3093BA30-AE74-34CE-55CF-A281169F9DD6}"/>
              </a:ext>
            </a:extLst>
          </p:cNvPr>
          <p:cNvSpPr txBox="1"/>
          <p:nvPr/>
        </p:nvSpPr>
        <p:spPr>
          <a:xfrm>
            <a:off x="7874000" y="1778000"/>
            <a:ext cx="3708400" cy="384721"/>
          </a:xfrm>
          <a:prstGeom prst="rect">
            <a:avLst/>
          </a:prstGeom>
          <a:noFill/>
        </p:spPr>
        <p:txBody>
          <a:bodyPr vert="horz" wrap="square" lIns="0" tIns="0" rIns="0" bIns="0" rtlCol="0">
            <a:spAutoFit/>
          </a:bodyPr>
          <a:lstStyle/>
          <a:p>
            <a:r>
              <a:rPr lang="en-US" sz="2500" b="1">
                <a:solidFill>
                  <a:srgbClr val="087F6B"/>
                </a:solidFill>
                <a:latin typeface="Aptos" panose="020B0004020202020204" pitchFamily="34" charset="0"/>
              </a:rPr>
              <a:t>Our constraints</a:t>
            </a:r>
          </a:p>
        </p:txBody>
      </p:sp>
      <p:sp>
        <p:nvSpPr>
          <p:cNvPr id="7" name="TextBox 6">
            <a:extLst>
              <a:ext uri="{FF2B5EF4-FFF2-40B4-BE49-F238E27FC236}">
                <a16:creationId xmlns:a16="http://schemas.microsoft.com/office/drawing/2014/main" id="{FDB2ED06-ACA8-3A8E-23D0-2D560286F0C6}"/>
              </a:ext>
            </a:extLst>
          </p:cNvPr>
          <p:cNvSpPr txBox="1"/>
          <p:nvPr/>
        </p:nvSpPr>
        <p:spPr>
          <a:xfrm>
            <a:off x="7874000" y="2603500"/>
            <a:ext cx="3708400" cy="1354217"/>
          </a:xfrm>
          <a:prstGeom prst="rect">
            <a:avLst/>
          </a:prstGeom>
          <a:noFill/>
        </p:spPr>
        <p:txBody>
          <a:bodyPr vert="horz" wrap="square" lIns="0" tIns="0" rIns="0" bIns="0" rtlCol="0">
            <a:spAutoFit/>
          </a:bodyPr>
          <a:lstStyle/>
          <a:p>
            <a:r>
              <a:rPr lang="en-US" sz="2200">
                <a:solidFill>
                  <a:srgbClr val="142735"/>
                </a:solidFill>
                <a:latin typeface="Aptos" panose="020B0004020202020204" pitchFamily="34" charset="0"/>
              </a:rPr>
              <a:t>lower(): string only
filter(): boolean only
Known column names
Runtime scope checks</a:t>
            </a:r>
          </a:p>
        </p:txBody>
      </p:sp>
      <p:sp>
        <p:nvSpPr>
          <p:cNvPr id="8" name="Rectangle 7">
            <a:extLst>
              <a:ext uri="{FF2B5EF4-FFF2-40B4-BE49-F238E27FC236}">
                <a16:creationId xmlns:a16="http://schemas.microsoft.com/office/drawing/2014/main" id="{C57F27CA-9EE4-B72A-FA47-CAA0DA92D67C}"/>
              </a:ext>
            </a:extLst>
          </p:cNvPr>
          <p:cNvSpPr/>
          <p:nvPr/>
        </p:nvSpPr>
        <p:spPr>
          <a:xfrm>
            <a:off x="609600" y="5016500"/>
            <a:ext cx="22225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Typed API</a:t>
            </a:r>
          </a:p>
        </p:txBody>
      </p:sp>
      <p:sp>
        <p:nvSpPr>
          <p:cNvPr id="9" name="Rectangle 8">
            <a:extLst>
              <a:ext uri="{FF2B5EF4-FFF2-40B4-BE49-F238E27FC236}">
                <a16:creationId xmlns:a16="http://schemas.microsoft.com/office/drawing/2014/main" id="{E7C6D7BB-E9E7-B577-19A4-F3AB8A62932A}"/>
              </a:ext>
            </a:extLst>
          </p:cNvPr>
          <p:cNvSpPr/>
          <p:nvPr/>
        </p:nvSpPr>
        <p:spPr>
          <a:xfrm>
            <a:off x="3365500" y="5016500"/>
            <a:ext cx="22225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Substrait</a:t>
            </a:r>
          </a:p>
        </p:txBody>
      </p:sp>
      <p:sp>
        <p:nvSpPr>
          <p:cNvPr id="10" name="Rectangle 9">
            <a:extLst>
              <a:ext uri="{FF2B5EF4-FFF2-40B4-BE49-F238E27FC236}">
                <a16:creationId xmlns:a16="http://schemas.microsoft.com/office/drawing/2014/main" id="{C147598B-DD9A-302E-0F4C-F10C74F0B78B}"/>
              </a:ext>
            </a:extLst>
          </p:cNvPr>
          <p:cNvSpPr/>
          <p:nvPr/>
        </p:nvSpPr>
        <p:spPr>
          <a:xfrm>
            <a:off x="6121400" y="5016500"/>
            <a:ext cx="27305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Golden lowering
and Kysely</a:t>
            </a:r>
          </a:p>
        </p:txBody>
      </p:sp>
      <p:sp>
        <p:nvSpPr>
          <p:cNvPr id="11" name="Rectangle 10">
            <a:extLst>
              <a:ext uri="{FF2B5EF4-FFF2-40B4-BE49-F238E27FC236}">
                <a16:creationId xmlns:a16="http://schemas.microsoft.com/office/drawing/2014/main" id="{BA788F85-1FB4-F96D-A29B-2C4A35D5FB6B}"/>
              </a:ext>
            </a:extLst>
          </p:cNvPr>
          <p:cNvSpPr/>
          <p:nvPr/>
        </p:nvSpPr>
        <p:spPr>
          <a:xfrm>
            <a:off x="9385300" y="5016500"/>
            <a:ext cx="2222500" cy="825500"/>
          </a:xfrm>
          <a:prstGeom prst="rect">
            <a:avLst/>
          </a:prstGeom>
          <a:solidFill>
            <a:srgbClr val="EDF4F2"/>
          </a:solidFill>
          <a:ln>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pPr algn="ctr"/>
            <a:r>
              <a:rPr lang="en-US" sz="2000">
                <a:solidFill>
                  <a:srgbClr val="142735"/>
                </a:solidFill>
                <a:latin typeface="Aptos" panose="020B0004020202020204" pitchFamily="34" charset="0"/>
              </a:rPr>
              <a:t>Bound SQL</a:t>
            </a:r>
          </a:p>
        </p:txBody>
      </p:sp>
      <p:cxnSp>
        <p:nvCxnSpPr>
          <p:cNvPr id="12" name="Straight Connector 11">
            <a:extLst>
              <a:ext uri="{FF2B5EF4-FFF2-40B4-BE49-F238E27FC236}">
                <a16:creationId xmlns:a16="http://schemas.microsoft.com/office/drawing/2014/main" id="{01D0A288-E28D-4A4B-90D3-684DDDB69F49}"/>
              </a:ext>
            </a:extLst>
          </p:cNvPr>
          <p:cNvCxnSpPr/>
          <p:nvPr/>
        </p:nvCxnSpPr>
        <p:spPr>
          <a:xfrm>
            <a:off x="2832100" y="5422900"/>
            <a:ext cx="5334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50A132F-9DD8-F688-05E5-3D52189EC913}"/>
              </a:ext>
            </a:extLst>
          </p:cNvPr>
          <p:cNvCxnSpPr/>
          <p:nvPr/>
        </p:nvCxnSpPr>
        <p:spPr>
          <a:xfrm>
            <a:off x="5588000" y="5422900"/>
            <a:ext cx="5334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0AAC202-EDE4-9A81-59EF-01A63255C704}"/>
              </a:ext>
            </a:extLst>
          </p:cNvPr>
          <p:cNvCxnSpPr/>
          <p:nvPr/>
        </p:nvCxnSpPr>
        <p:spPr>
          <a:xfrm>
            <a:off x="8851900" y="5422900"/>
            <a:ext cx="5334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3669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943</Words>
  <Application>Microsoft Office PowerPoint</Application>
  <PresentationFormat>Custom</PresentationFormat>
  <Paragraphs>46</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Po-wei Huang</dc:creator>
  <cp:lastModifiedBy>Po-wei Huang</cp:lastModifiedBy>
  <cp:revision>1</cp:revision>
  <dcterms:created xsi:type="dcterms:W3CDTF">2026-10-21T15:10:55Z</dcterms:created>
  <dcterms:modified xsi:type="dcterms:W3CDTF">2026-10-21T15:10:55Z</dcterms:modified>
</cp:coreProperties>
</file>