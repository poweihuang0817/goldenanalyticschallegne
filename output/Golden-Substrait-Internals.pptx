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37EDB-6A78-4111-A8A5-1246BB2AC587}"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9C616-244B-4F51-933F-8C5CB6570564}" type="slidenum">
              <a:rPr lang="en-US" smtClean="0"/>
              <a:t>‹#›</a:t>
            </a:fld>
            <a:endParaRPr lang="en-US"/>
          </a:p>
        </p:txBody>
      </p:sp>
    </p:spTree>
    <p:extLst>
      <p:ext uri="{BB962C8B-B14F-4D97-AF65-F5344CB8AC3E}">
        <p14:creationId xmlns:p14="http://schemas.microsoft.com/office/powerpoint/2010/main" val="1393797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Source-backed walkthrough: src/api.ts RuntimeTable stores relation: S.IRel, fields and source identity. table() constructs a ReadRel with namedTable and baseSchema. filter() creates a FilterRel around the previous relation and resolves the predicate against the relation scope. aggregate() creates AggregateRel with groupingExpressions, measures, functionReference, arguments, outputType, phase and invocation. Expr.lower/eq create scalarFunction objects; column references resolve to positional field indices. Functions use numeric anchors into extension declarations. toSubstrait() packages the existing relation into a v0.63 Plan, declares Golden function URI/anchors, assigns root output names, and calls toPlanJson. plan.ts checks known fields, protobuf shape and the supported Zod profile. The code excerpts on the slide are shortened from these methods, with helper variables retained. client.compile calls CompileService.compile(query.toSubstrait()). CompileService posts this JSON object with backend/catalog to a worker using structured cloning, without protobuf binary encoding. Worker calls compilePlanSync, which validates/normalizes input and dispatches plans with extensions to compileAnalytics. relational.ts resolves function anchors and recursively visits relations, checks catalog and types, chooses SQL blocks/capability rewrites and uses Kysely to render SQL and parameters. execute then sends those to the driver. encodePlan/decodePlan exist for binary serialization but are not the ordinary client compilation path. Substrait provides the data model; Golden implements supported semantics and SQL lowering.</a:t>
            </a:r>
          </a:p>
        </p:txBody>
      </p:sp>
      <p:sp>
        <p:nvSpPr>
          <p:cNvPr id="4" name="Slide Number Placeholder 3"/>
          <p:cNvSpPr>
            <a:spLocks noGrp="1"/>
          </p:cNvSpPr>
          <p:nvPr>
            <p:ph type="sldNum" sz="quarter" idx="5"/>
          </p:nvPr>
        </p:nvSpPr>
        <p:spPr/>
        <p:txBody>
          <a:bodyPr/>
          <a:lstStyle/>
          <a:p>
            <a:fld id="{85C9C616-244B-4F51-933F-8C5CB6570564}" type="slidenum">
              <a:rPr lang="en-US" smtClean="0"/>
              <a:t>1</a:t>
            </a:fld>
            <a:endParaRPr lang="en-US"/>
          </a:p>
        </p:txBody>
      </p:sp>
    </p:spTree>
    <p:extLst>
      <p:ext uri="{BB962C8B-B14F-4D97-AF65-F5344CB8AC3E}">
        <p14:creationId xmlns:p14="http://schemas.microsoft.com/office/powerpoint/2010/main" val="2376862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37952-6A06-B9DD-55FA-BC95EC7D20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468343-9A9A-E6A1-D1A8-C357C1119A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30F295A-CA9D-C542-FBDB-D3A3E3DD04A6}"/>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5" name="Footer Placeholder 4">
            <a:extLst>
              <a:ext uri="{FF2B5EF4-FFF2-40B4-BE49-F238E27FC236}">
                <a16:creationId xmlns:a16="http://schemas.microsoft.com/office/drawing/2014/main" id="{35C8DB46-6B62-9718-1251-056ACFD0F5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A35B7-985E-9176-669A-31C1D9BCBE22}"/>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464847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BEDF0-ACCA-E373-91A0-8DBD96EAF2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010A7-FF2B-AC66-04FC-91B1E71C04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D1E071-31A5-7E53-F52E-3DF44C247EB2}"/>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5" name="Footer Placeholder 4">
            <a:extLst>
              <a:ext uri="{FF2B5EF4-FFF2-40B4-BE49-F238E27FC236}">
                <a16:creationId xmlns:a16="http://schemas.microsoft.com/office/drawing/2014/main" id="{73CE9D44-1163-D719-D2D2-103E24428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B7823-1181-C395-DBD2-5D5F4862D0D1}"/>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56241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C6D5C-5C68-C4CC-1248-5A8DA06397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775C2B-05E6-8FBC-F628-859A0ED3787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FB78A2-FC8D-C626-979A-35CA788E977E}"/>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5" name="Footer Placeholder 4">
            <a:extLst>
              <a:ext uri="{FF2B5EF4-FFF2-40B4-BE49-F238E27FC236}">
                <a16:creationId xmlns:a16="http://schemas.microsoft.com/office/drawing/2014/main" id="{396DE322-D820-80A8-5FB9-7EC34794C7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AFCFFD-F427-B18E-28A3-31F1CDF4D4F3}"/>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106643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C8D3F-77BC-4268-CA43-CF932A93B1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CA4A5A-1745-0326-7109-266F41716F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AE19DC-699E-4B60-4E3A-FD11EE40E1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6EAAC3-DA51-4AEA-95FA-C952E023A19C}"/>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6" name="Footer Placeholder 5">
            <a:extLst>
              <a:ext uri="{FF2B5EF4-FFF2-40B4-BE49-F238E27FC236}">
                <a16:creationId xmlns:a16="http://schemas.microsoft.com/office/drawing/2014/main" id="{7BE5E2D8-75FD-BE2D-AE94-1BA6BAD6B4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8316C-2257-AAE7-BDE8-C554AD72B8DE}"/>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2561952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2ABE-9A97-8853-B942-8AF7295498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B870A7-9DF9-06A3-89C4-A0D832D7A4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F20D65-BDBF-0405-1852-3E640A2337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10BECC-2153-547E-3D7E-6C7A8DC683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C900CA-5492-A044-B67F-999E9BB65C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BD079C-64E5-D066-DB7D-18C1B4ED73D7}"/>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8" name="Footer Placeholder 7">
            <a:extLst>
              <a:ext uri="{FF2B5EF4-FFF2-40B4-BE49-F238E27FC236}">
                <a16:creationId xmlns:a16="http://schemas.microsoft.com/office/drawing/2014/main" id="{85416857-FE36-E4C5-314E-44E870A99E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21EC8F-F908-E3DA-C260-A5F4080DB3AB}"/>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1419478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C35E3-243A-CF72-CAE4-5F7941B53B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F412AA-50E9-34BF-C720-6584698362DE}"/>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4" name="Footer Placeholder 3">
            <a:extLst>
              <a:ext uri="{FF2B5EF4-FFF2-40B4-BE49-F238E27FC236}">
                <a16:creationId xmlns:a16="http://schemas.microsoft.com/office/drawing/2014/main" id="{FCD9019B-AC26-FB84-3763-1F44052F17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7807BB-B5F4-33F6-AA0C-DA3000AF3952}"/>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3295551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52444B-8A18-9D1C-8C02-CE8BA66087AA}"/>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3" name="Footer Placeholder 2">
            <a:extLst>
              <a:ext uri="{FF2B5EF4-FFF2-40B4-BE49-F238E27FC236}">
                <a16:creationId xmlns:a16="http://schemas.microsoft.com/office/drawing/2014/main" id="{A89EC776-A906-AE61-FDD3-018580EB24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DE56AB-8593-57A9-9EA4-31CBAB73A552}"/>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2260618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E0B5-6157-DC66-6A9E-E29223114F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37F428-E11D-16E6-2937-20D92815CE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D07465-C119-4043-5231-B1D8A90656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23C841-1B92-56B0-0C45-507CB55E2245}"/>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6" name="Footer Placeholder 5">
            <a:extLst>
              <a:ext uri="{FF2B5EF4-FFF2-40B4-BE49-F238E27FC236}">
                <a16:creationId xmlns:a16="http://schemas.microsoft.com/office/drawing/2014/main" id="{EED38DF3-56E8-99FB-E50B-42CAD3456E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153359-9607-32FF-066A-830A9E41D97F}"/>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352188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107FC-8F63-6CC8-2509-C8485BED2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0EDDFD-6FE5-5521-94D9-5B67C609868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C0CC4F-7173-88B5-AFB9-1EE80ACD8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A6B541-EA50-AABC-5747-2F661DAA6A8E}"/>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6" name="Footer Placeholder 5">
            <a:extLst>
              <a:ext uri="{FF2B5EF4-FFF2-40B4-BE49-F238E27FC236}">
                <a16:creationId xmlns:a16="http://schemas.microsoft.com/office/drawing/2014/main" id="{DE010DE8-F832-DE11-0686-AC68DC211C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5C57D1-18A4-2198-CAFD-5AB67A686822}"/>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3451743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81F05-E97F-F0EE-9FC6-1899D4C87A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AC9F01-AD98-6F4A-C22C-E282EF2B85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9A5DB-9DD0-F844-5F1E-4D8DA86A5B99}"/>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5" name="Footer Placeholder 4">
            <a:extLst>
              <a:ext uri="{FF2B5EF4-FFF2-40B4-BE49-F238E27FC236}">
                <a16:creationId xmlns:a16="http://schemas.microsoft.com/office/drawing/2014/main" id="{81BC1ECA-D23A-72E7-2563-4C449D8863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6C260-BE9A-84AF-E66E-3FE72B446331}"/>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3428872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B31842-3870-3679-3C75-EB0B49C275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20E87D-C07F-7CDD-7929-6EE3050C8C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2582A7-A070-7B09-2814-618DD02C60EA}"/>
              </a:ext>
            </a:extLst>
          </p:cNvPr>
          <p:cNvSpPr>
            <a:spLocks noGrp="1"/>
          </p:cNvSpPr>
          <p:nvPr>
            <p:ph type="dt" sz="half" idx="10"/>
          </p:nvPr>
        </p:nvSpPr>
        <p:spPr/>
        <p:txBody>
          <a:bodyPr/>
          <a:lstStyle/>
          <a:p>
            <a:fld id="{4ABDBFC8-8AB0-4381-A4AB-EC27446DFAA6}" type="datetimeFigureOut">
              <a:rPr lang="en-US" smtClean="0"/>
              <a:t>10/21/2026</a:t>
            </a:fld>
            <a:endParaRPr lang="en-US"/>
          </a:p>
        </p:txBody>
      </p:sp>
      <p:sp>
        <p:nvSpPr>
          <p:cNvPr id="5" name="Footer Placeholder 4">
            <a:extLst>
              <a:ext uri="{FF2B5EF4-FFF2-40B4-BE49-F238E27FC236}">
                <a16:creationId xmlns:a16="http://schemas.microsoft.com/office/drawing/2014/main" id="{EAB9B2A8-4659-9141-58BF-4C72D985D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AFAC1E-754F-208D-104B-7953552223A6}"/>
              </a:ext>
            </a:extLst>
          </p:cNvPr>
          <p:cNvSpPr>
            <a:spLocks noGrp="1"/>
          </p:cNvSpPr>
          <p:nvPr>
            <p:ph type="sldNum" sz="quarter" idx="12"/>
          </p:nvPr>
        </p:nvSpPr>
        <p:spPr/>
        <p:txBody>
          <a:bodyPr/>
          <a:lstStyle/>
          <a:p>
            <a:fld id="{633148E3-03DF-4A82-9F02-DD197026CC05}" type="slidenum">
              <a:rPr lang="en-US" smtClean="0"/>
              <a:t>‹#›</a:t>
            </a:fld>
            <a:endParaRPr lang="en-US"/>
          </a:p>
        </p:txBody>
      </p:sp>
    </p:spTree>
    <p:extLst>
      <p:ext uri="{BB962C8B-B14F-4D97-AF65-F5344CB8AC3E}">
        <p14:creationId xmlns:p14="http://schemas.microsoft.com/office/powerpoint/2010/main" val="848702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101386-1FE5-FECA-BA94-6B533B4F8E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50AAF-07FF-D810-6AE9-7FE328644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C12C5-F7C3-5DA0-4981-633FC3AE4D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ABDBFC8-8AB0-4381-A4AB-EC27446DFAA6}" type="datetimeFigureOut">
              <a:rPr lang="en-US" smtClean="0"/>
              <a:t>10/21/2026</a:t>
            </a:fld>
            <a:endParaRPr lang="en-US"/>
          </a:p>
        </p:txBody>
      </p:sp>
      <p:sp>
        <p:nvSpPr>
          <p:cNvPr id="5" name="Footer Placeholder 4">
            <a:extLst>
              <a:ext uri="{FF2B5EF4-FFF2-40B4-BE49-F238E27FC236}">
                <a16:creationId xmlns:a16="http://schemas.microsoft.com/office/drawing/2014/main" id="{A59D10D6-19C3-5490-D888-EFEC80747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2FEE94-326B-C0F3-79C3-9C7FE77052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33148E3-03DF-4A82-9F02-DD197026CC05}" type="slidenum">
              <a:rPr lang="en-US" smtClean="0"/>
              <a:t>‹#›</a:t>
            </a:fld>
            <a:endParaRPr lang="en-US"/>
          </a:p>
        </p:txBody>
      </p:sp>
    </p:spTree>
    <p:extLst>
      <p:ext uri="{BB962C8B-B14F-4D97-AF65-F5344CB8AC3E}">
        <p14:creationId xmlns:p14="http://schemas.microsoft.com/office/powerpoint/2010/main" val="3932761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FD7C38-E914-65D6-A175-6E018A1D5678}"/>
              </a:ext>
            </a:extLst>
          </p:cNvPr>
          <p:cNvSpPr txBox="1"/>
          <p:nvPr/>
        </p:nvSpPr>
        <p:spPr>
          <a:xfrm>
            <a:off x="609600" y="444500"/>
            <a:ext cx="10972800" cy="523220"/>
          </a:xfrm>
          <a:prstGeom prst="rect">
            <a:avLst/>
          </a:prstGeom>
          <a:noFill/>
        </p:spPr>
        <p:txBody>
          <a:bodyPr vert="horz" wrap="square" lIns="0" tIns="0" rIns="0" bIns="0" rtlCol="0">
            <a:spAutoFit/>
          </a:bodyPr>
          <a:lstStyle/>
          <a:p>
            <a:r>
              <a:rPr lang="en-US" sz="3400" b="1">
                <a:solidFill>
                  <a:srgbClr val="142735"/>
                </a:solidFill>
                <a:latin typeface="Aptos" panose="020B0004020202020204" pitchFamily="34" charset="0"/>
              </a:rPr>
              <a:t>How Golden uses Substrait in TypeScript</a:t>
            </a:r>
          </a:p>
        </p:txBody>
      </p:sp>
      <p:sp>
        <p:nvSpPr>
          <p:cNvPr id="3" name="TextBox 2">
            <a:extLst>
              <a:ext uri="{FF2B5EF4-FFF2-40B4-BE49-F238E27FC236}">
                <a16:creationId xmlns:a16="http://schemas.microsoft.com/office/drawing/2014/main" id="{E37CE40F-9172-0D85-AE7B-5E9248D3495F}"/>
              </a:ext>
            </a:extLst>
          </p:cNvPr>
          <p:cNvSpPr txBox="1"/>
          <p:nvPr/>
        </p:nvSpPr>
        <p:spPr>
          <a:xfrm>
            <a:off x="609600" y="6464300"/>
            <a:ext cx="10414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Po-wei Huang / Golden query prototype / October 2026</a:t>
            </a:r>
          </a:p>
        </p:txBody>
      </p:sp>
      <p:sp>
        <p:nvSpPr>
          <p:cNvPr id="4" name="TextBox 3">
            <a:extLst>
              <a:ext uri="{FF2B5EF4-FFF2-40B4-BE49-F238E27FC236}">
                <a16:creationId xmlns:a16="http://schemas.microsoft.com/office/drawing/2014/main" id="{B821FC65-771F-96C0-4EC2-AA51F848B76D}"/>
              </a:ext>
            </a:extLst>
          </p:cNvPr>
          <p:cNvSpPr txBox="1"/>
          <p:nvPr/>
        </p:nvSpPr>
        <p:spPr>
          <a:xfrm>
            <a:off x="11430000" y="6464300"/>
            <a:ext cx="381000" cy="169277"/>
          </a:xfrm>
          <a:prstGeom prst="rect">
            <a:avLst/>
          </a:prstGeom>
          <a:noFill/>
        </p:spPr>
        <p:txBody>
          <a:bodyPr vert="horz" wrap="square" lIns="0" tIns="0" rIns="0" bIns="0" rtlCol="0">
            <a:spAutoFit/>
          </a:bodyPr>
          <a:lstStyle/>
          <a:p>
            <a:r>
              <a:rPr lang="en-US" sz="1100">
                <a:solidFill>
                  <a:srgbClr val="526471"/>
                </a:solidFill>
                <a:latin typeface="Aptos" panose="020B0004020202020204" pitchFamily="34" charset="0"/>
              </a:rPr>
              <a:t>1</a:t>
            </a:r>
          </a:p>
        </p:txBody>
      </p:sp>
      <p:sp>
        <p:nvSpPr>
          <p:cNvPr id="5" name="TextBox 4">
            <a:extLst>
              <a:ext uri="{FF2B5EF4-FFF2-40B4-BE49-F238E27FC236}">
                <a16:creationId xmlns:a16="http://schemas.microsoft.com/office/drawing/2014/main" id="{C586B72E-7C36-16E8-B60F-EBFBF4E86C73}"/>
              </a:ext>
            </a:extLst>
          </p:cNvPr>
          <p:cNvSpPr txBox="1"/>
          <p:nvPr/>
        </p:nvSpPr>
        <p:spPr>
          <a:xfrm>
            <a:off x="609600" y="1511300"/>
            <a:ext cx="10972800" cy="400110"/>
          </a:xfrm>
          <a:prstGeom prst="rect">
            <a:avLst/>
          </a:prstGeom>
          <a:noFill/>
        </p:spPr>
        <p:txBody>
          <a:bodyPr vert="horz" wrap="square" lIns="0" tIns="0" rIns="0" bIns="0" rtlCol="0">
            <a:spAutoFit/>
          </a:bodyPr>
          <a:lstStyle/>
          <a:p>
            <a:r>
              <a:rPr lang="en-US" sz="2600" b="1">
                <a:solidFill>
                  <a:srgbClr val="087F6B"/>
                </a:solidFill>
                <a:latin typeface="Aptos" panose="020B0004020202020204" pitchFamily="34" charset="0"/>
              </a:rPr>
              <a:t>API operations build Substrait objects before compile() runs</a:t>
            </a:r>
          </a:p>
        </p:txBody>
      </p:sp>
      <p:sp>
        <p:nvSpPr>
          <p:cNvPr id="6" name="TextBox 5">
            <a:extLst>
              <a:ext uri="{FF2B5EF4-FFF2-40B4-BE49-F238E27FC236}">
                <a16:creationId xmlns:a16="http://schemas.microsoft.com/office/drawing/2014/main" id="{C2788F75-0FE1-6B2B-EF22-A07C7B5FB940}"/>
              </a:ext>
            </a:extLst>
          </p:cNvPr>
          <p:cNvSpPr txBox="1"/>
          <p:nvPr/>
        </p:nvSpPr>
        <p:spPr>
          <a:xfrm>
            <a:off x="609600" y="2336800"/>
            <a:ext cx="55245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1. filter() wraps the current relation</a:t>
            </a:r>
          </a:p>
        </p:txBody>
      </p:sp>
      <p:sp>
        <p:nvSpPr>
          <p:cNvPr id="7" name="TextBox 6">
            <a:extLst>
              <a:ext uri="{FF2B5EF4-FFF2-40B4-BE49-F238E27FC236}">
                <a16:creationId xmlns:a16="http://schemas.microsoft.com/office/drawing/2014/main" id="{778A702C-FE98-E967-BA6C-FCFA94DB4335}"/>
              </a:ext>
            </a:extLst>
          </p:cNvPr>
          <p:cNvSpPr txBox="1"/>
          <p:nvPr/>
        </p:nvSpPr>
        <p:spPr>
          <a:xfrm>
            <a:off x="609600" y="2984500"/>
            <a:ext cx="5588000" cy="1831271"/>
          </a:xfrm>
          <a:prstGeom prst="rect">
            <a:avLst/>
          </a:prstGeom>
          <a:noFill/>
        </p:spPr>
        <p:txBody>
          <a:bodyPr vert="horz" wrap="square" lIns="0" tIns="0" rIns="0" bIns="0" rtlCol="0">
            <a:spAutoFit/>
          </a:bodyPr>
          <a:lstStyle/>
          <a:p>
            <a:r>
              <a:rPr lang="en-US" sz="1700">
                <a:solidFill>
                  <a:srgbClr val="142735"/>
                </a:solidFill>
                <a:latin typeface="Consolas" panose="020B0609020204030204" pitchFamily="49" charset="0"/>
              </a:rPr>
              <a:t>// Inside RuntimeTable.filter()
new RuntimeTable({
  filter: {
    input: this.relation,
    condition: expr.resolve(this.scope())
  }
}, this.fields, this.source);</a:t>
            </a:r>
          </a:p>
        </p:txBody>
      </p:sp>
      <p:sp>
        <p:nvSpPr>
          <p:cNvPr id="8" name="TextBox 7">
            <a:extLst>
              <a:ext uri="{FF2B5EF4-FFF2-40B4-BE49-F238E27FC236}">
                <a16:creationId xmlns:a16="http://schemas.microsoft.com/office/drawing/2014/main" id="{B2B77B59-1476-46B7-B557-6C0F370B9FAA}"/>
              </a:ext>
            </a:extLst>
          </p:cNvPr>
          <p:cNvSpPr txBox="1"/>
          <p:nvPr/>
        </p:nvSpPr>
        <p:spPr>
          <a:xfrm>
            <a:off x="6731000" y="2336800"/>
            <a:ext cx="4851400" cy="353943"/>
          </a:xfrm>
          <a:prstGeom prst="rect">
            <a:avLst/>
          </a:prstGeom>
          <a:noFill/>
        </p:spPr>
        <p:txBody>
          <a:bodyPr vert="horz" wrap="square" lIns="0" tIns="0" rIns="0" bIns="0" rtlCol="0">
            <a:spAutoFit/>
          </a:bodyPr>
          <a:lstStyle/>
          <a:p>
            <a:r>
              <a:rPr lang="en-US" sz="2300" b="1">
                <a:solidFill>
                  <a:srgbClr val="087F6B"/>
                </a:solidFill>
                <a:latin typeface="Aptos" panose="020B0004020202020204" pitchFamily="34" charset="0"/>
              </a:rPr>
              <a:t>2. toSubstrait() packages the tree</a:t>
            </a:r>
          </a:p>
        </p:txBody>
      </p:sp>
      <p:sp>
        <p:nvSpPr>
          <p:cNvPr id="9" name="TextBox 8">
            <a:extLst>
              <a:ext uri="{FF2B5EF4-FFF2-40B4-BE49-F238E27FC236}">
                <a16:creationId xmlns:a16="http://schemas.microsoft.com/office/drawing/2014/main" id="{9BC5E2BF-E6F9-9B75-3E0F-F1090E5BDF92}"/>
              </a:ext>
            </a:extLst>
          </p:cNvPr>
          <p:cNvSpPr txBox="1"/>
          <p:nvPr/>
        </p:nvSpPr>
        <p:spPr>
          <a:xfrm>
            <a:off x="6731000" y="2984500"/>
            <a:ext cx="4851400" cy="2462213"/>
          </a:xfrm>
          <a:prstGeom prst="rect">
            <a:avLst/>
          </a:prstGeom>
          <a:noFill/>
        </p:spPr>
        <p:txBody>
          <a:bodyPr vert="horz" wrap="square" lIns="0" tIns="0" rIns="0" bIns="0" rtlCol="0">
            <a:spAutoFit/>
          </a:bodyPr>
          <a:lstStyle/>
          <a:p>
            <a:r>
              <a:rPr lang="en-US" sz="1600">
                <a:solidFill>
                  <a:srgbClr val="142735"/>
                </a:solidFill>
                <a:latin typeface="Consolas" panose="020B0609020204030204" pitchFamily="49" charset="0"/>
              </a:rPr>
              <a:t>return toPlanJson({
  version: { majorNumber: 0,
    minorNumber: 63, patchNumber: 0 },
  extensionUris: [/* Golden URI */],
  extensions: [/* function anchors */],
  relations: [{ root: {
    input: this.relation,
    names: this.fields.map(f =&gt; f.name)
  } }]
});</a:t>
            </a:r>
          </a:p>
        </p:txBody>
      </p:sp>
      <p:sp>
        <p:nvSpPr>
          <p:cNvPr id="10" name="TextBox 9">
            <a:extLst>
              <a:ext uri="{FF2B5EF4-FFF2-40B4-BE49-F238E27FC236}">
                <a16:creationId xmlns:a16="http://schemas.microsoft.com/office/drawing/2014/main" id="{07B5E91C-D141-7C71-91DA-5A5DB3804694}"/>
              </a:ext>
            </a:extLst>
          </p:cNvPr>
          <p:cNvSpPr txBox="1"/>
          <p:nvPr/>
        </p:nvSpPr>
        <p:spPr>
          <a:xfrm>
            <a:off x="609600" y="5803900"/>
            <a:ext cx="10972800" cy="338554"/>
          </a:xfrm>
          <a:prstGeom prst="rect">
            <a:avLst/>
          </a:prstGeom>
          <a:noFill/>
        </p:spPr>
        <p:txBody>
          <a:bodyPr vert="horz" wrap="square" lIns="0" tIns="0" rIns="0" bIns="0" rtlCol="0">
            <a:spAutoFit/>
          </a:bodyPr>
          <a:lstStyle/>
          <a:p>
            <a:r>
              <a:rPr lang="en-US" sz="2200" b="1">
                <a:solidFill>
                  <a:srgbClr val="087F6B"/>
                </a:solidFill>
                <a:latin typeface="Aptos" panose="020B0004020202020204" pitchFamily="34" charset="0"/>
              </a:rPr>
              <a:t>Validated JSON goes to the worker. Golden lowers it through Kysely to SQL.</a:t>
            </a:r>
          </a:p>
        </p:txBody>
      </p:sp>
    </p:spTree>
    <p:extLst>
      <p:ext uri="{BB962C8B-B14F-4D97-AF65-F5344CB8AC3E}">
        <p14:creationId xmlns:p14="http://schemas.microsoft.com/office/powerpoint/2010/main" val="2286657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451</Words>
  <Application>Microsoft Office PowerPoint</Application>
  <PresentationFormat>Custom</PresentationFormat>
  <Paragraphs>11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Consolas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Po-wei Huang</dc:creator>
  <cp:lastModifiedBy>Po-wei Huang</cp:lastModifiedBy>
  <cp:revision>1</cp:revision>
  <dcterms:created xsi:type="dcterms:W3CDTF">2026-10-21T16:20:23Z</dcterms:created>
  <dcterms:modified xsi:type="dcterms:W3CDTF">2026-10-21T16:20:23Z</dcterms:modified>
</cp:coreProperties>
</file>