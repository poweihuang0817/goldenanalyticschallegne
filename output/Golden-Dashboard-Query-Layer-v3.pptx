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3"/>
  </p:notesMasterIdLst>
  <p:sldIdLst>
    <p:sldId id="256" r:id="rId2"/>
    <p:sldId id="257" r:id="rId3"/>
    <p:sldId id="258" r:id="rId4"/>
    <p:sldId id="259" r:id="rId5"/>
    <p:sldId id="260" r:id="rId6"/>
    <p:sldId id="261" r:id="rId7"/>
    <p:sldId id="262" r:id="rId8"/>
    <p:sldId id="263" r:id="rId9"/>
    <p:sldId id="264" r:id="rId10"/>
    <p:sldId id="265" r:id="rId11"/>
    <p:sldId id="266" r:id="rId1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0" d="100"/>
          <a:sy n="70" d="100"/>
        </p:scale>
        <p:origin x="512" y="5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AFCC348-2213-409F-A8A5-43D22966A603}" type="datetimeFigureOut">
              <a:rPr lang="en-US" smtClean="0"/>
              <a:t>10/20/2026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DBA8A94-B685-452D-ACDF-44BDF233DA5E}" type="slidenum">
              <a:rPr lang="en-US" smtClean="0"/>
              <a:t>‹#›</a:t>
            </a:fld>
            <a:endParaRPr lang="en-US"/>
          </a:p>
        </p:txBody>
      </p:sp>
    </p:spTree>
    <p:extLst>
      <p:ext uri="{BB962C8B-B14F-4D97-AF65-F5344CB8AC3E}">
        <p14:creationId xmlns:p14="http://schemas.microsoft.com/office/powerpoint/2010/main" val="98686682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Opening: Claude already built a useful dashboard and concise BigQuery SQL. My proposed contribution is to make analytical behavior reusable and testable as users change filters and views. This is a product hypothesis, not a claim that Golden is already better overall. Evidence: downloaded northwind-dashboard-handoff/handoff/queries.sql; Golden PR64 d5c5cad and PR65 436e5fd.</a:t>
            </a:r>
          </a:p>
        </p:txBody>
      </p:sp>
      <p:sp>
        <p:nvSpPr>
          <p:cNvPr id="4" name="Slide Number Placeholder 3"/>
          <p:cNvSpPr>
            <a:spLocks noGrp="1"/>
          </p:cNvSpPr>
          <p:nvPr>
            <p:ph type="sldNum" sz="quarter" idx="5"/>
          </p:nvPr>
        </p:nvSpPr>
        <p:spPr/>
        <p:txBody>
          <a:bodyPr/>
          <a:lstStyle/>
          <a:p>
            <a:fld id="{CDBA8A94-B685-452D-ACDF-44BDF233DA5E}" type="slidenum">
              <a:rPr lang="en-US" smtClean="0"/>
              <a:t>1</a:t>
            </a:fld>
            <a:endParaRPr lang="en-US"/>
          </a:p>
        </p:txBody>
      </p:sp>
    </p:spTree>
    <p:extLst>
      <p:ext uri="{BB962C8B-B14F-4D97-AF65-F5344CB8AC3E}">
        <p14:creationId xmlns:p14="http://schemas.microsoft.com/office/powerpoint/2010/main" val="353551695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The exported dashboard has nine datasets, optional date/country inputs, product/category charts and native BigQuery SQL. Fixed SQL can already use parameters without another LLM call. We should not claim that Claude must regenerate SQL whenever a filter changes. The opportunity is broader structural changes and consistent contracts across datasets and backends. Source: downloaded queries.sql, SHA256 47EA9532CC94CE3CDECEA912483062871FE8545D037C05F6C56778302A8CB0C0.</a:t>
            </a:r>
          </a:p>
        </p:txBody>
      </p:sp>
      <p:sp>
        <p:nvSpPr>
          <p:cNvPr id="4" name="Slide Number Placeholder 3"/>
          <p:cNvSpPr>
            <a:spLocks noGrp="1"/>
          </p:cNvSpPr>
          <p:nvPr>
            <p:ph type="sldNum" sz="quarter" idx="5"/>
          </p:nvPr>
        </p:nvSpPr>
        <p:spPr/>
        <p:txBody>
          <a:bodyPr/>
          <a:lstStyle/>
          <a:p>
            <a:fld id="{CDBA8A94-B685-452D-ACDF-44BDF233DA5E}" type="slidenum">
              <a:rPr lang="en-US" smtClean="0"/>
              <a:t>2</a:t>
            </a:fld>
            <a:endParaRPr lang="en-US"/>
          </a:p>
        </p:txBody>
      </p:sp>
    </p:spTree>
    <p:extLst>
      <p:ext uri="{BB962C8B-B14F-4D97-AF65-F5344CB8AC3E}">
        <p14:creationId xmlns:p14="http://schemas.microsoft.com/office/powerpoint/2010/main" val="330959994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Explain the actual export behavior: by_country and p75_country deliberately ignore the selected country but use date filters. KPI, monthly and top-customer datasets use country and date. Proposed Golden orchestration would store these policies explicitly and compose queries, rather than rely on duplicated query text. This orchestration is not implemented. Source: downloaded queries.sql datasets 1-4 and 8.</a:t>
            </a:r>
          </a:p>
        </p:txBody>
      </p:sp>
      <p:sp>
        <p:nvSpPr>
          <p:cNvPr id="4" name="Slide Number Placeholder 3"/>
          <p:cNvSpPr>
            <a:spLocks noGrp="1"/>
          </p:cNvSpPr>
          <p:nvPr>
            <p:ph type="sldNum" sz="quarter" idx="5"/>
          </p:nvPr>
        </p:nvSpPr>
        <p:spPr/>
        <p:txBody>
          <a:bodyPr/>
          <a:lstStyle/>
          <a:p>
            <a:fld id="{CDBA8A94-B685-452D-ACDF-44BDF233DA5E}" type="slidenum">
              <a:rPr lang="en-US" smtClean="0"/>
              <a:t>3</a:t>
            </a:fld>
            <a:endParaRPr lang="en-US"/>
          </a:p>
        </p:txBody>
      </p:sp>
    </p:spTree>
    <p:extLst>
      <p:ext uri="{BB962C8B-B14F-4D97-AF65-F5344CB8AC3E}">
        <p14:creationId xmlns:p14="http://schemas.microsoft.com/office/powerpoint/2010/main" val="269077868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Proposed reuse: define pricedOrders once with exactly one row per order, including customer, date and discounted merchandise value. Different queries reuse the definition, then apply their own filters and grouping. This does not imply one database scan, caching, or federation. Existing Golden has Table/Expr composition; full date/month dashboard coverage is pending. Sources: src/queries.ts, docs/DASHBOARD-QUERY-COVERAGE.md in PR65.</a:t>
            </a:r>
          </a:p>
        </p:txBody>
      </p:sp>
      <p:sp>
        <p:nvSpPr>
          <p:cNvPr id="4" name="Slide Number Placeholder 3"/>
          <p:cNvSpPr>
            <a:spLocks noGrp="1"/>
          </p:cNvSpPr>
          <p:nvPr>
            <p:ph type="sldNum" sz="quarter" idx="5"/>
          </p:nvPr>
        </p:nvSpPr>
        <p:spPr/>
        <p:txBody>
          <a:bodyPr/>
          <a:lstStyle/>
          <a:p>
            <a:fld id="{CDBA8A94-B685-452D-ACDF-44BDF233DA5E}" type="slidenum">
              <a:rPr lang="en-US" smtClean="0"/>
              <a:t>4</a:t>
            </a:fld>
            <a:endParaRPr lang="en-US"/>
          </a:p>
        </p:txBody>
      </p:sp>
    </p:spTree>
    <p:extLst>
      <p:ext uri="{BB962C8B-B14F-4D97-AF65-F5344CB8AC3E}">
        <p14:creationId xmlns:p14="http://schemas.microsoft.com/office/powerpoint/2010/main" val="89847980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Semantic definitions resolve customer versus shipping country, revenue grain, join relationships and filter scope. The relational IR represents the chosen operations but does not decide business intent. The compiler implements backend-specific lowering. This capability is not exclusive to Substrait. Its standardized wire representation is an additional potential benefit, but external engine interoperability is unproven here. Sources: docs/ARCHITECTURE.md; PR64 capabilities.ts and relational.ts.</a:t>
            </a:r>
          </a:p>
        </p:txBody>
      </p:sp>
      <p:sp>
        <p:nvSpPr>
          <p:cNvPr id="4" name="Slide Number Placeholder 3"/>
          <p:cNvSpPr>
            <a:spLocks noGrp="1"/>
          </p:cNvSpPr>
          <p:nvPr>
            <p:ph type="sldNum" sz="quarter" idx="5"/>
          </p:nvPr>
        </p:nvSpPr>
        <p:spPr/>
        <p:txBody>
          <a:bodyPr/>
          <a:lstStyle/>
          <a:p>
            <a:fld id="{CDBA8A94-B685-452D-ACDF-44BDF233DA5E}" type="slidenum">
              <a:rPr lang="en-US" smtClean="0"/>
              <a:t>5</a:t>
            </a:fld>
            <a:endParaRPr lang="en-US"/>
          </a:p>
        </p:txBody>
      </p:sp>
    </p:spTree>
    <p:extLst>
      <p:ext uri="{BB962C8B-B14F-4D97-AF65-F5344CB8AC3E}">
        <p14:creationId xmlns:p14="http://schemas.microsoft.com/office/powerpoint/2010/main" val="29202810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Hand-calculated fixture now exists in test/bigquery-integration.test.ts at d5c5cad. One order has freight 10 and three lines of value 100. Correct ratio is 10/300 = 0.0333333333. Joining details and summing freight produces 30/300 = 0.1. Both SQL statements execute. Independent fixtures catch this semantic error. Testing one production dataset or asking a second LLM is insufficient by itself.</a:t>
            </a:r>
          </a:p>
        </p:txBody>
      </p:sp>
      <p:sp>
        <p:nvSpPr>
          <p:cNvPr id="4" name="Slide Number Placeholder 3"/>
          <p:cNvSpPr>
            <a:spLocks noGrp="1"/>
          </p:cNvSpPr>
          <p:nvPr>
            <p:ph type="sldNum" sz="quarter" idx="5"/>
          </p:nvPr>
        </p:nvSpPr>
        <p:spPr/>
        <p:txBody>
          <a:bodyPr/>
          <a:lstStyle/>
          <a:p>
            <a:fld id="{CDBA8A94-B685-452D-ACDF-44BDF233DA5E}" type="slidenum">
              <a:rPr lang="en-US" smtClean="0"/>
              <a:t>6</a:t>
            </a:fld>
            <a:endParaRPr lang="en-US"/>
          </a:p>
        </p:txBody>
      </p:sp>
    </p:spTree>
    <p:extLst>
      <p:ext uri="{BB962C8B-B14F-4D97-AF65-F5344CB8AC3E}">
        <p14:creationId xmlns:p14="http://schemas.microsoft.com/office/powerpoint/2010/main" val="156150422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FLOAT64 uses binary floating-point approximations. The number 0.75 itself is exactly representable in binary, so do not say the fraction is inaccurate. In the inspected BigQuery query, its type promotes decimal percentile computation to FLOAT64. Some decimal inputs/intermediate results then become approximate. Observed USA P75: Golden exact 2477.5750000000; dashboard rounded output 2477.57. A typed NUMERIC fraction gave 2477.58. This difference matters according to the product precision contract. Decimal is bounded, and strict per-operation decimal(38,10) is a Golden choice, not a universal Substrait requirement. Sources: prior live read-only comparison in this session; docs/BIGQUERY.md.</a:t>
            </a:r>
          </a:p>
        </p:txBody>
      </p:sp>
      <p:sp>
        <p:nvSpPr>
          <p:cNvPr id="4" name="Slide Number Placeholder 3"/>
          <p:cNvSpPr>
            <a:spLocks noGrp="1"/>
          </p:cNvSpPr>
          <p:nvPr>
            <p:ph type="sldNum" sz="quarter" idx="5"/>
          </p:nvPr>
        </p:nvSpPr>
        <p:spPr/>
        <p:txBody>
          <a:bodyPr/>
          <a:lstStyle/>
          <a:p>
            <a:fld id="{CDBA8A94-B685-452D-ACDF-44BDF233DA5E}" type="slidenum">
              <a:rPr lang="en-US" smtClean="0"/>
              <a:t>7</a:t>
            </a:fld>
            <a:endParaRPr lang="en-US"/>
          </a:p>
        </p:txBody>
      </p:sp>
    </p:spTree>
    <p:extLst>
      <p:ext uri="{BB962C8B-B14F-4D97-AF65-F5344CB8AC3E}">
        <p14:creationId xmlns:p14="http://schemas.microsoft.com/office/powerpoint/2010/main" val="207014775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Measured generated SQL character counts, not tokens or comparable end-to-end dashboard SQL. Changes at d5c5cad remove proven redundant integer and COALESCE decimal guards without relaxing the contract. P75 before this cleanup already used native percentile. Two uncached Northwind runs retained bytes scanned and comparable slot usage, but are not a speed benchmark. A shorter scalar-subquery attempt increased slot usage and was rejected. Source: docs/BIGQUERY.md in PR64 d5c5cad.</a:t>
            </a:r>
          </a:p>
        </p:txBody>
      </p:sp>
      <p:sp>
        <p:nvSpPr>
          <p:cNvPr id="4" name="Slide Number Placeholder 3"/>
          <p:cNvSpPr>
            <a:spLocks noGrp="1"/>
          </p:cNvSpPr>
          <p:nvPr>
            <p:ph type="sldNum" sz="quarter" idx="5"/>
          </p:nvPr>
        </p:nvSpPr>
        <p:spPr/>
        <p:txBody>
          <a:bodyPr/>
          <a:lstStyle/>
          <a:p>
            <a:fld id="{CDBA8A94-B685-452D-ACDF-44BDF233DA5E}" type="slidenum">
              <a:rPr lang="en-US" smtClean="0"/>
              <a:t>8</a:t>
            </a:fld>
            <a:endParaRPr lang="en-US"/>
          </a:p>
        </p:txBody>
      </p:sp>
    </p:spTree>
    <p:extLst>
      <p:ext uri="{BB962C8B-B14F-4D97-AF65-F5344CB8AC3E}">
        <p14:creationId xmlns:p14="http://schemas.microsoft.com/office/powerpoint/2010/main" val="127899688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Closing: I would compare both approaches on the same nine datasets, declared populations, filter changes and edge cases. Current evidence: typed composition, three existing backends and BigQuery in open PR64, capability-selected native percentile, independent fanout test. Proposed work: DATE predicates, month grouping, date min/max, catalog expansion, percentile plus count, explicit dataset filter policies. Success means fewer semantic regressions with acceptable query cost and iteration effort, not merely owning an IR. PR65 contains the coverage plan. No full dashboard portability or token savings has been demonstrated.</a:t>
            </a:r>
          </a:p>
        </p:txBody>
      </p:sp>
      <p:sp>
        <p:nvSpPr>
          <p:cNvPr id="4" name="Slide Number Placeholder 3"/>
          <p:cNvSpPr>
            <a:spLocks noGrp="1"/>
          </p:cNvSpPr>
          <p:nvPr>
            <p:ph type="sldNum" sz="quarter" idx="5"/>
          </p:nvPr>
        </p:nvSpPr>
        <p:spPr/>
        <p:txBody>
          <a:bodyPr/>
          <a:lstStyle/>
          <a:p>
            <a:fld id="{CDBA8A94-B685-452D-ACDF-44BDF233DA5E}" type="slidenum">
              <a:rPr lang="en-US" smtClean="0"/>
              <a:t>9</a:t>
            </a:fld>
            <a:endParaRPr lang="en-US"/>
          </a:p>
        </p:txBody>
      </p:sp>
    </p:spTree>
    <p:extLst>
      <p:ext uri="{BB962C8B-B14F-4D97-AF65-F5344CB8AC3E}">
        <p14:creationId xmlns:p14="http://schemas.microsoft.com/office/powerpoint/2010/main" val="145895066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This is the existing recentOrdersQuery example, expanded for readability. source.table identifies a relation, select names output columns, orderBy establishes a deterministic order and limit chooses N rows. Equal dates use order_id as a tie-breaker. Calling this helper constructs a query; execution requires await client.execute(query). Object projection supports renaming and computed expressions. A future same-name select shorthand could improve ergonomics but is not implemented. Source: src/queries.ts and src/api.ts. No API redesign is needed to explain this example.</a:t>
            </a:r>
          </a:p>
        </p:txBody>
      </p:sp>
      <p:sp>
        <p:nvSpPr>
          <p:cNvPr id="4" name="Slide Number Placeholder 3"/>
          <p:cNvSpPr>
            <a:spLocks noGrp="1"/>
          </p:cNvSpPr>
          <p:nvPr>
            <p:ph type="sldNum" sz="quarter" idx="5"/>
          </p:nvPr>
        </p:nvSpPr>
        <p:spPr/>
        <p:txBody>
          <a:bodyPr/>
          <a:lstStyle/>
          <a:p>
            <a:fld id="{CDBA8A94-B685-452D-ACDF-44BDF233DA5E}" type="slidenum">
              <a:rPr lang="en-US" smtClean="0"/>
              <a:t>10</a:t>
            </a:fld>
            <a:endParaRPr lang="en-US"/>
          </a:p>
        </p:txBody>
      </p:sp>
    </p:spTree>
    <p:extLst>
      <p:ext uri="{BB962C8B-B14F-4D97-AF65-F5344CB8AC3E}">
        <p14:creationId xmlns:p14="http://schemas.microsoft.com/office/powerpoint/2010/main" val="381804570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Exact final aggregation excerpt from downloaded queries.sql, dataset p75_country. The preceding ov/o CTEs calculate discounted order value, join customers and apply dates. They are omitted for readability. The export ignores the selected country on purpose. BigQuery inferred FLOAT64 for percentile_cont(NUMERIC value, 0.75) in our live probe. 0.75 itself is exactly representable; the issue is type promotion of the computation. A typed NUMERIC fraction gave the expected decimal tie rounding. Golden uses BIGNUMERIC for its larger decimal domain. This excerpt does not claim equal populations or result contracts between the full exported query and Golden.</a:t>
            </a:r>
          </a:p>
        </p:txBody>
      </p:sp>
      <p:sp>
        <p:nvSpPr>
          <p:cNvPr id="4" name="Slide Number Placeholder 3"/>
          <p:cNvSpPr>
            <a:spLocks noGrp="1"/>
          </p:cNvSpPr>
          <p:nvPr>
            <p:ph type="sldNum" sz="quarter" idx="5"/>
          </p:nvPr>
        </p:nvSpPr>
        <p:spPr/>
        <p:txBody>
          <a:bodyPr/>
          <a:lstStyle/>
          <a:p>
            <a:fld id="{CDBA8A94-B685-452D-ACDF-44BDF233DA5E}" type="slidenum">
              <a:rPr lang="en-US" smtClean="0"/>
              <a:t>11</a:t>
            </a:fld>
            <a:endParaRPr lang="en-US"/>
          </a:p>
        </p:txBody>
      </p:sp>
    </p:spTree>
    <p:extLst>
      <p:ext uri="{BB962C8B-B14F-4D97-AF65-F5344CB8AC3E}">
        <p14:creationId xmlns:p14="http://schemas.microsoft.com/office/powerpoint/2010/main" val="419456010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DD5E37-2D5C-C14F-C5F8-FBDB7E9842B9}"/>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2E26E022-F318-0DA5-09DC-5928DA744A1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4062F5FC-CB46-8604-2D39-5825F038490A}"/>
              </a:ext>
            </a:extLst>
          </p:cNvPr>
          <p:cNvSpPr>
            <a:spLocks noGrp="1"/>
          </p:cNvSpPr>
          <p:nvPr>
            <p:ph type="dt" sz="half" idx="10"/>
          </p:nvPr>
        </p:nvSpPr>
        <p:spPr/>
        <p:txBody>
          <a:bodyPr/>
          <a:lstStyle/>
          <a:p>
            <a:fld id="{9293D05A-3688-4C63-9B2B-FBD736B8D13E}" type="datetimeFigureOut">
              <a:rPr lang="en-US" smtClean="0"/>
              <a:t>10/20/2026</a:t>
            </a:fld>
            <a:endParaRPr lang="en-US"/>
          </a:p>
        </p:txBody>
      </p:sp>
      <p:sp>
        <p:nvSpPr>
          <p:cNvPr id="5" name="Footer Placeholder 4">
            <a:extLst>
              <a:ext uri="{FF2B5EF4-FFF2-40B4-BE49-F238E27FC236}">
                <a16:creationId xmlns:a16="http://schemas.microsoft.com/office/drawing/2014/main" id="{66D1B658-3794-B154-C43F-665C51C20B5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92311F0-1E7F-D404-88BC-78852D6D3F75}"/>
              </a:ext>
            </a:extLst>
          </p:cNvPr>
          <p:cNvSpPr>
            <a:spLocks noGrp="1"/>
          </p:cNvSpPr>
          <p:nvPr>
            <p:ph type="sldNum" sz="quarter" idx="12"/>
          </p:nvPr>
        </p:nvSpPr>
        <p:spPr/>
        <p:txBody>
          <a:bodyPr/>
          <a:lstStyle/>
          <a:p>
            <a:fld id="{B471B1EB-87EB-4C8E-9875-B85ED1B382DC}" type="slidenum">
              <a:rPr lang="en-US" smtClean="0"/>
              <a:t>‹#›</a:t>
            </a:fld>
            <a:endParaRPr lang="en-US"/>
          </a:p>
        </p:txBody>
      </p:sp>
    </p:spTree>
    <p:extLst>
      <p:ext uri="{BB962C8B-B14F-4D97-AF65-F5344CB8AC3E}">
        <p14:creationId xmlns:p14="http://schemas.microsoft.com/office/powerpoint/2010/main" val="153776717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517DFF-4D1B-C732-F55F-F69A244A8363}"/>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93F9B9CA-F5D7-3648-DD4D-1E77DDA49BF0}"/>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1CC3E0A-9CF6-CA77-00E8-E299B7F332AB}"/>
              </a:ext>
            </a:extLst>
          </p:cNvPr>
          <p:cNvSpPr>
            <a:spLocks noGrp="1"/>
          </p:cNvSpPr>
          <p:nvPr>
            <p:ph type="dt" sz="half" idx="10"/>
          </p:nvPr>
        </p:nvSpPr>
        <p:spPr/>
        <p:txBody>
          <a:bodyPr/>
          <a:lstStyle/>
          <a:p>
            <a:fld id="{9293D05A-3688-4C63-9B2B-FBD736B8D13E}" type="datetimeFigureOut">
              <a:rPr lang="en-US" smtClean="0"/>
              <a:t>10/20/2026</a:t>
            </a:fld>
            <a:endParaRPr lang="en-US"/>
          </a:p>
        </p:txBody>
      </p:sp>
      <p:sp>
        <p:nvSpPr>
          <p:cNvPr id="5" name="Footer Placeholder 4">
            <a:extLst>
              <a:ext uri="{FF2B5EF4-FFF2-40B4-BE49-F238E27FC236}">
                <a16:creationId xmlns:a16="http://schemas.microsoft.com/office/drawing/2014/main" id="{1EE34DCD-32FA-EF70-D564-DFF1D3F7030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EA0F2AA-6E43-DB3C-4B39-1A102C28D711}"/>
              </a:ext>
            </a:extLst>
          </p:cNvPr>
          <p:cNvSpPr>
            <a:spLocks noGrp="1"/>
          </p:cNvSpPr>
          <p:nvPr>
            <p:ph type="sldNum" sz="quarter" idx="12"/>
          </p:nvPr>
        </p:nvSpPr>
        <p:spPr/>
        <p:txBody>
          <a:bodyPr/>
          <a:lstStyle/>
          <a:p>
            <a:fld id="{B471B1EB-87EB-4C8E-9875-B85ED1B382DC}" type="slidenum">
              <a:rPr lang="en-US" smtClean="0"/>
              <a:t>‹#›</a:t>
            </a:fld>
            <a:endParaRPr lang="en-US"/>
          </a:p>
        </p:txBody>
      </p:sp>
    </p:spTree>
    <p:extLst>
      <p:ext uri="{BB962C8B-B14F-4D97-AF65-F5344CB8AC3E}">
        <p14:creationId xmlns:p14="http://schemas.microsoft.com/office/powerpoint/2010/main" val="214557706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2D112A-DB04-95B5-3883-3DCF639A458D}"/>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3285B482-633B-5AE5-32FF-CBE758EBCF52}"/>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A073B43E-7761-885F-078E-91370496A7A5}"/>
              </a:ext>
            </a:extLst>
          </p:cNvPr>
          <p:cNvSpPr>
            <a:spLocks noGrp="1"/>
          </p:cNvSpPr>
          <p:nvPr>
            <p:ph type="dt" sz="half" idx="10"/>
          </p:nvPr>
        </p:nvSpPr>
        <p:spPr/>
        <p:txBody>
          <a:bodyPr/>
          <a:lstStyle/>
          <a:p>
            <a:fld id="{9293D05A-3688-4C63-9B2B-FBD736B8D13E}" type="datetimeFigureOut">
              <a:rPr lang="en-US" smtClean="0"/>
              <a:t>10/20/2026</a:t>
            </a:fld>
            <a:endParaRPr lang="en-US"/>
          </a:p>
        </p:txBody>
      </p:sp>
      <p:sp>
        <p:nvSpPr>
          <p:cNvPr id="5" name="Footer Placeholder 4">
            <a:extLst>
              <a:ext uri="{FF2B5EF4-FFF2-40B4-BE49-F238E27FC236}">
                <a16:creationId xmlns:a16="http://schemas.microsoft.com/office/drawing/2014/main" id="{4352155B-EF67-BC8C-D96B-4F682FE68C3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76D3787-0374-AC64-D81F-CBB135DD208E}"/>
              </a:ext>
            </a:extLst>
          </p:cNvPr>
          <p:cNvSpPr>
            <a:spLocks noGrp="1"/>
          </p:cNvSpPr>
          <p:nvPr>
            <p:ph type="sldNum" sz="quarter" idx="12"/>
          </p:nvPr>
        </p:nvSpPr>
        <p:spPr/>
        <p:txBody>
          <a:bodyPr/>
          <a:lstStyle/>
          <a:p>
            <a:fld id="{B471B1EB-87EB-4C8E-9875-B85ED1B382DC}" type="slidenum">
              <a:rPr lang="en-US" smtClean="0"/>
              <a:t>‹#›</a:t>
            </a:fld>
            <a:endParaRPr lang="en-US"/>
          </a:p>
        </p:txBody>
      </p:sp>
    </p:spTree>
    <p:extLst>
      <p:ext uri="{BB962C8B-B14F-4D97-AF65-F5344CB8AC3E}">
        <p14:creationId xmlns:p14="http://schemas.microsoft.com/office/powerpoint/2010/main" val="318709788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1C7C9A-67DE-2EA1-802A-72E7E8B38EFE}"/>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431B63BC-2FC8-6ADB-6AD2-41341160E5EE}"/>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1D9728A3-19D0-4799-4E13-46E0167CE43C}"/>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2A4A5616-52EB-6894-157E-7094048A0047}"/>
              </a:ext>
            </a:extLst>
          </p:cNvPr>
          <p:cNvSpPr>
            <a:spLocks noGrp="1"/>
          </p:cNvSpPr>
          <p:nvPr>
            <p:ph type="dt" sz="half" idx="10"/>
          </p:nvPr>
        </p:nvSpPr>
        <p:spPr/>
        <p:txBody>
          <a:bodyPr/>
          <a:lstStyle/>
          <a:p>
            <a:fld id="{9293D05A-3688-4C63-9B2B-FBD736B8D13E}" type="datetimeFigureOut">
              <a:rPr lang="en-US" smtClean="0"/>
              <a:t>10/20/2026</a:t>
            </a:fld>
            <a:endParaRPr lang="en-US"/>
          </a:p>
        </p:txBody>
      </p:sp>
      <p:sp>
        <p:nvSpPr>
          <p:cNvPr id="6" name="Footer Placeholder 5">
            <a:extLst>
              <a:ext uri="{FF2B5EF4-FFF2-40B4-BE49-F238E27FC236}">
                <a16:creationId xmlns:a16="http://schemas.microsoft.com/office/drawing/2014/main" id="{9114E2CB-BE7A-38E4-F73E-5A812D7EF0B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B63DECC-8834-9A4A-6510-ABFA06549AB0}"/>
              </a:ext>
            </a:extLst>
          </p:cNvPr>
          <p:cNvSpPr>
            <a:spLocks noGrp="1"/>
          </p:cNvSpPr>
          <p:nvPr>
            <p:ph type="sldNum" sz="quarter" idx="12"/>
          </p:nvPr>
        </p:nvSpPr>
        <p:spPr/>
        <p:txBody>
          <a:bodyPr/>
          <a:lstStyle/>
          <a:p>
            <a:fld id="{B471B1EB-87EB-4C8E-9875-B85ED1B382DC}" type="slidenum">
              <a:rPr lang="en-US" smtClean="0"/>
              <a:t>‹#›</a:t>
            </a:fld>
            <a:endParaRPr lang="en-US"/>
          </a:p>
        </p:txBody>
      </p:sp>
    </p:spTree>
    <p:extLst>
      <p:ext uri="{BB962C8B-B14F-4D97-AF65-F5344CB8AC3E}">
        <p14:creationId xmlns:p14="http://schemas.microsoft.com/office/powerpoint/2010/main" val="219094321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8CF089-56D0-512C-862D-5DEAE37D4B67}"/>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582E492F-8DC3-6994-F018-87FE29E5B1F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E5CA6564-D1FD-9821-2766-5C7AF2767B01}"/>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F389591A-5589-CE8A-25CF-3696363CDE8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BC84A3F5-25BA-5014-77D3-4A15DA170561}"/>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C72C0D72-7ED4-D61D-1BE8-8F32B96458F3}"/>
              </a:ext>
            </a:extLst>
          </p:cNvPr>
          <p:cNvSpPr>
            <a:spLocks noGrp="1"/>
          </p:cNvSpPr>
          <p:nvPr>
            <p:ph type="dt" sz="half" idx="10"/>
          </p:nvPr>
        </p:nvSpPr>
        <p:spPr/>
        <p:txBody>
          <a:bodyPr/>
          <a:lstStyle/>
          <a:p>
            <a:fld id="{9293D05A-3688-4C63-9B2B-FBD736B8D13E}" type="datetimeFigureOut">
              <a:rPr lang="en-US" smtClean="0"/>
              <a:t>10/20/2026</a:t>
            </a:fld>
            <a:endParaRPr lang="en-US"/>
          </a:p>
        </p:txBody>
      </p:sp>
      <p:sp>
        <p:nvSpPr>
          <p:cNvPr id="8" name="Footer Placeholder 7">
            <a:extLst>
              <a:ext uri="{FF2B5EF4-FFF2-40B4-BE49-F238E27FC236}">
                <a16:creationId xmlns:a16="http://schemas.microsoft.com/office/drawing/2014/main" id="{FDEFEB78-CADA-4254-31BB-187F657CE731}"/>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C72B2E3F-F288-8BB1-A221-985E5E33ABE7}"/>
              </a:ext>
            </a:extLst>
          </p:cNvPr>
          <p:cNvSpPr>
            <a:spLocks noGrp="1"/>
          </p:cNvSpPr>
          <p:nvPr>
            <p:ph type="sldNum" sz="quarter" idx="12"/>
          </p:nvPr>
        </p:nvSpPr>
        <p:spPr/>
        <p:txBody>
          <a:bodyPr/>
          <a:lstStyle/>
          <a:p>
            <a:fld id="{B471B1EB-87EB-4C8E-9875-B85ED1B382DC}" type="slidenum">
              <a:rPr lang="en-US" smtClean="0"/>
              <a:t>‹#›</a:t>
            </a:fld>
            <a:endParaRPr lang="en-US"/>
          </a:p>
        </p:txBody>
      </p:sp>
    </p:spTree>
    <p:extLst>
      <p:ext uri="{BB962C8B-B14F-4D97-AF65-F5344CB8AC3E}">
        <p14:creationId xmlns:p14="http://schemas.microsoft.com/office/powerpoint/2010/main" val="236340709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F377A5-DA38-7930-23FC-76EB9E3048F8}"/>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B342E122-14BB-B0AB-91E9-982E1ABD5E96}"/>
              </a:ext>
            </a:extLst>
          </p:cNvPr>
          <p:cNvSpPr>
            <a:spLocks noGrp="1"/>
          </p:cNvSpPr>
          <p:nvPr>
            <p:ph type="dt" sz="half" idx="10"/>
          </p:nvPr>
        </p:nvSpPr>
        <p:spPr/>
        <p:txBody>
          <a:bodyPr/>
          <a:lstStyle/>
          <a:p>
            <a:fld id="{9293D05A-3688-4C63-9B2B-FBD736B8D13E}" type="datetimeFigureOut">
              <a:rPr lang="en-US" smtClean="0"/>
              <a:t>10/20/2026</a:t>
            </a:fld>
            <a:endParaRPr lang="en-US"/>
          </a:p>
        </p:txBody>
      </p:sp>
      <p:sp>
        <p:nvSpPr>
          <p:cNvPr id="4" name="Footer Placeholder 3">
            <a:extLst>
              <a:ext uri="{FF2B5EF4-FFF2-40B4-BE49-F238E27FC236}">
                <a16:creationId xmlns:a16="http://schemas.microsoft.com/office/drawing/2014/main" id="{3F0A6463-2509-E97A-166D-524DEB09A435}"/>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BBCA6D49-91BF-C929-0E31-87BCDD3BB9BE}"/>
              </a:ext>
            </a:extLst>
          </p:cNvPr>
          <p:cNvSpPr>
            <a:spLocks noGrp="1"/>
          </p:cNvSpPr>
          <p:nvPr>
            <p:ph type="sldNum" sz="quarter" idx="12"/>
          </p:nvPr>
        </p:nvSpPr>
        <p:spPr/>
        <p:txBody>
          <a:bodyPr/>
          <a:lstStyle/>
          <a:p>
            <a:fld id="{B471B1EB-87EB-4C8E-9875-B85ED1B382DC}" type="slidenum">
              <a:rPr lang="en-US" smtClean="0"/>
              <a:t>‹#›</a:t>
            </a:fld>
            <a:endParaRPr lang="en-US"/>
          </a:p>
        </p:txBody>
      </p:sp>
    </p:spTree>
    <p:extLst>
      <p:ext uri="{BB962C8B-B14F-4D97-AF65-F5344CB8AC3E}">
        <p14:creationId xmlns:p14="http://schemas.microsoft.com/office/powerpoint/2010/main" val="322320373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A2AAEDE-4624-18BA-3E8C-433036D63A42}"/>
              </a:ext>
            </a:extLst>
          </p:cNvPr>
          <p:cNvSpPr>
            <a:spLocks noGrp="1"/>
          </p:cNvSpPr>
          <p:nvPr>
            <p:ph type="dt" sz="half" idx="10"/>
          </p:nvPr>
        </p:nvSpPr>
        <p:spPr/>
        <p:txBody>
          <a:bodyPr/>
          <a:lstStyle/>
          <a:p>
            <a:fld id="{9293D05A-3688-4C63-9B2B-FBD736B8D13E}" type="datetimeFigureOut">
              <a:rPr lang="en-US" smtClean="0"/>
              <a:t>10/20/2026</a:t>
            </a:fld>
            <a:endParaRPr lang="en-US"/>
          </a:p>
        </p:txBody>
      </p:sp>
      <p:sp>
        <p:nvSpPr>
          <p:cNvPr id="3" name="Footer Placeholder 2">
            <a:extLst>
              <a:ext uri="{FF2B5EF4-FFF2-40B4-BE49-F238E27FC236}">
                <a16:creationId xmlns:a16="http://schemas.microsoft.com/office/drawing/2014/main" id="{EF98B9D0-4F4F-70C7-70FF-A66B87CD4F10}"/>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8CDE456B-C51F-9FE1-C2A0-1FE858019826}"/>
              </a:ext>
            </a:extLst>
          </p:cNvPr>
          <p:cNvSpPr>
            <a:spLocks noGrp="1"/>
          </p:cNvSpPr>
          <p:nvPr>
            <p:ph type="sldNum" sz="quarter" idx="12"/>
          </p:nvPr>
        </p:nvSpPr>
        <p:spPr/>
        <p:txBody>
          <a:bodyPr/>
          <a:lstStyle/>
          <a:p>
            <a:fld id="{B471B1EB-87EB-4C8E-9875-B85ED1B382DC}" type="slidenum">
              <a:rPr lang="en-US" smtClean="0"/>
              <a:t>‹#›</a:t>
            </a:fld>
            <a:endParaRPr lang="en-US"/>
          </a:p>
        </p:txBody>
      </p:sp>
    </p:spTree>
    <p:extLst>
      <p:ext uri="{BB962C8B-B14F-4D97-AF65-F5344CB8AC3E}">
        <p14:creationId xmlns:p14="http://schemas.microsoft.com/office/powerpoint/2010/main" val="281785978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FBFC8B-0B90-28AD-B935-F9B1FBEBF9F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9F3E269C-52A9-6BF1-FF53-606BAC3FF420}"/>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2080DAFA-26E1-55A6-2F06-4C1BD0BBA50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34A1D09-63B6-2F8A-D598-9F457A69142F}"/>
              </a:ext>
            </a:extLst>
          </p:cNvPr>
          <p:cNvSpPr>
            <a:spLocks noGrp="1"/>
          </p:cNvSpPr>
          <p:nvPr>
            <p:ph type="dt" sz="half" idx="10"/>
          </p:nvPr>
        </p:nvSpPr>
        <p:spPr/>
        <p:txBody>
          <a:bodyPr/>
          <a:lstStyle/>
          <a:p>
            <a:fld id="{9293D05A-3688-4C63-9B2B-FBD736B8D13E}" type="datetimeFigureOut">
              <a:rPr lang="en-US" smtClean="0"/>
              <a:t>10/20/2026</a:t>
            </a:fld>
            <a:endParaRPr lang="en-US"/>
          </a:p>
        </p:txBody>
      </p:sp>
      <p:sp>
        <p:nvSpPr>
          <p:cNvPr id="6" name="Footer Placeholder 5">
            <a:extLst>
              <a:ext uri="{FF2B5EF4-FFF2-40B4-BE49-F238E27FC236}">
                <a16:creationId xmlns:a16="http://schemas.microsoft.com/office/drawing/2014/main" id="{2D29AF49-CA12-4D33-CF8A-097E4E2B851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F811856-FA14-A816-811A-49E190F1C8AF}"/>
              </a:ext>
            </a:extLst>
          </p:cNvPr>
          <p:cNvSpPr>
            <a:spLocks noGrp="1"/>
          </p:cNvSpPr>
          <p:nvPr>
            <p:ph type="sldNum" sz="quarter" idx="12"/>
          </p:nvPr>
        </p:nvSpPr>
        <p:spPr/>
        <p:txBody>
          <a:bodyPr/>
          <a:lstStyle/>
          <a:p>
            <a:fld id="{B471B1EB-87EB-4C8E-9875-B85ED1B382DC}" type="slidenum">
              <a:rPr lang="en-US" smtClean="0"/>
              <a:t>‹#›</a:t>
            </a:fld>
            <a:endParaRPr lang="en-US"/>
          </a:p>
        </p:txBody>
      </p:sp>
    </p:spTree>
    <p:extLst>
      <p:ext uri="{BB962C8B-B14F-4D97-AF65-F5344CB8AC3E}">
        <p14:creationId xmlns:p14="http://schemas.microsoft.com/office/powerpoint/2010/main" val="399265031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E49C17-685B-C51D-224E-820F264A8D5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05264AF1-8596-EC66-D0EC-3EB3C5AD3925}"/>
              </a:ext>
            </a:extLst>
          </p:cNvPr>
          <p:cNvSpPr>
            <a:spLocks noGrp="1" noChangeAspect="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80644D52-6726-6E4B-1A68-DDB71341722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3860882-C5BE-73CE-8DD2-A270748773C8}"/>
              </a:ext>
            </a:extLst>
          </p:cNvPr>
          <p:cNvSpPr>
            <a:spLocks noGrp="1"/>
          </p:cNvSpPr>
          <p:nvPr>
            <p:ph type="dt" sz="half" idx="10"/>
          </p:nvPr>
        </p:nvSpPr>
        <p:spPr/>
        <p:txBody>
          <a:bodyPr/>
          <a:lstStyle/>
          <a:p>
            <a:fld id="{9293D05A-3688-4C63-9B2B-FBD736B8D13E}" type="datetimeFigureOut">
              <a:rPr lang="en-US" smtClean="0"/>
              <a:t>10/20/2026</a:t>
            </a:fld>
            <a:endParaRPr lang="en-US"/>
          </a:p>
        </p:txBody>
      </p:sp>
      <p:sp>
        <p:nvSpPr>
          <p:cNvPr id="6" name="Footer Placeholder 5">
            <a:extLst>
              <a:ext uri="{FF2B5EF4-FFF2-40B4-BE49-F238E27FC236}">
                <a16:creationId xmlns:a16="http://schemas.microsoft.com/office/drawing/2014/main" id="{603E0AA5-6C2F-BCB8-AA75-570E13F2BFC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D09C3A0-8C81-E00A-271F-01CB8691BF42}"/>
              </a:ext>
            </a:extLst>
          </p:cNvPr>
          <p:cNvSpPr>
            <a:spLocks noGrp="1"/>
          </p:cNvSpPr>
          <p:nvPr>
            <p:ph type="sldNum" sz="quarter" idx="12"/>
          </p:nvPr>
        </p:nvSpPr>
        <p:spPr/>
        <p:txBody>
          <a:bodyPr/>
          <a:lstStyle/>
          <a:p>
            <a:fld id="{B471B1EB-87EB-4C8E-9875-B85ED1B382DC}" type="slidenum">
              <a:rPr lang="en-US" smtClean="0"/>
              <a:t>‹#›</a:t>
            </a:fld>
            <a:endParaRPr lang="en-US"/>
          </a:p>
        </p:txBody>
      </p:sp>
    </p:spTree>
    <p:extLst>
      <p:ext uri="{BB962C8B-B14F-4D97-AF65-F5344CB8AC3E}">
        <p14:creationId xmlns:p14="http://schemas.microsoft.com/office/powerpoint/2010/main" val="242921098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9D822C-75C0-3757-8554-6F390AAAAC3E}"/>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6502D9C0-1C5F-17D7-5EB5-EF28F8D60A82}"/>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9610C7F-B503-899B-7F07-CAF2FC9B4819}"/>
              </a:ext>
            </a:extLst>
          </p:cNvPr>
          <p:cNvSpPr>
            <a:spLocks noGrp="1"/>
          </p:cNvSpPr>
          <p:nvPr>
            <p:ph type="dt" sz="half" idx="10"/>
          </p:nvPr>
        </p:nvSpPr>
        <p:spPr/>
        <p:txBody>
          <a:bodyPr/>
          <a:lstStyle/>
          <a:p>
            <a:fld id="{9293D05A-3688-4C63-9B2B-FBD736B8D13E}" type="datetimeFigureOut">
              <a:rPr lang="en-US" smtClean="0"/>
              <a:t>10/20/2026</a:t>
            </a:fld>
            <a:endParaRPr lang="en-US"/>
          </a:p>
        </p:txBody>
      </p:sp>
      <p:sp>
        <p:nvSpPr>
          <p:cNvPr id="5" name="Footer Placeholder 4">
            <a:extLst>
              <a:ext uri="{FF2B5EF4-FFF2-40B4-BE49-F238E27FC236}">
                <a16:creationId xmlns:a16="http://schemas.microsoft.com/office/drawing/2014/main" id="{DDB50788-A983-4B25-6BF7-5F221381D93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56ADA9B-6862-98DE-5781-819E0E710018}"/>
              </a:ext>
            </a:extLst>
          </p:cNvPr>
          <p:cNvSpPr>
            <a:spLocks noGrp="1"/>
          </p:cNvSpPr>
          <p:nvPr>
            <p:ph type="sldNum" sz="quarter" idx="12"/>
          </p:nvPr>
        </p:nvSpPr>
        <p:spPr/>
        <p:txBody>
          <a:bodyPr/>
          <a:lstStyle/>
          <a:p>
            <a:fld id="{B471B1EB-87EB-4C8E-9875-B85ED1B382DC}" type="slidenum">
              <a:rPr lang="en-US" smtClean="0"/>
              <a:t>‹#›</a:t>
            </a:fld>
            <a:endParaRPr lang="en-US"/>
          </a:p>
        </p:txBody>
      </p:sp>
    </p:spTree>
    <p:extLst>
      <p:ext uri="{BB962C8B-B14F-4D97-AF65-F5344CB8AC3E}">
        <p14:creationId xmlns:p14="http://schemas.microsoft.com/office/powerpoint/2010/main" val="414660598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D25975C5-3A99-3775-7168-273A93C1C89A}"/>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35EA9BD9-280B-1D21-6675-145874E0B392}"/>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EA8C093-4916-B645-89E0-D1C77BC1FB0C}"/>
              </a:ext>
            </a:extLst>
          </p:cNvPr>
          <p:cNvSpPr>
            <a:spLocks noGrp="1"/>
          </p:cNvSpPr>
          <p:nvPr>
            <p:ph type="dt" sz="half" idx="10"/>
          </p:nvPr>
        </p:nvSpPr>
        <p:spPr/>
        <p:txBody>
          <a:bodyPr/>
          <a:lstStyle/>
          <a:p>
            <a:fld id="{9293D05A-3688-4C63-9B2B-FBD736B8D13E}" type="datetimeFigureOut">
              <a:rPr lang="en-US" smtClean="0"/>
              <a:t>10/20/2026</a:t>
            </a:fld>
            <a:endParaRPr lang="en-US"/>
          </a:p>
        </p:txBody>
      </p:sp>
      <p:sp>
        <p:nvSpPr>
          <p:cNvPr id="5" name="Footer Placeholder 4">
            <a:extLst>
              <a:ext uri="{FF2B5EF4-FFF2-40B4-BE49-F238E27FC236}">
                <a16:creationId xmlns:a16="http://schemas.microsoft.com/office/drawing/2014/main" id="{1A529ECB-7B89-4814-6961-1B4716CA07A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6E0ADB4-E790-604B-4E89-2198F666AA11}"/>
              </a:ext>
            </a:extLst>
          </p:cNvPr>
          <p:cNvSpPr>
            <a:spLocks noGrp="1"/>
          </p:cNvSpPr>
          <p:nvPr>
            <p:ph type="sldNum" sz="quarter" idx="12"/>
          </p:nvPr>
        </p:nvSpPr>
        <p:spPr/>
        <p:txBody>
          <a:bodyPr/>
          <a:lstStyle/>
          <a:p>
            <a:fld id="{B471B1EB-87EB-4C8E-9875-B85ED1B382DC}" type="slidenum">
              <a:rPr lang="en-US" smtClean="0"/>
              <a:t>‹#›</a:t>
            </a:fld>
            <a:endParaRPr lang="en-US"/>
          </a:p>
        </p:txBody>
      </p:sp>
    </p:spTree>
    <p:extLst>
      <p:ext uri="{BB962C8B-B14F-4D97-AF65-F5344CB8AC3E}">
        <p14:creationId xmlns:p14="http://schemas.microsoft.com/office/powerpoint/2010/main" val="238655932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2F698BC1-D25C-71C1-BC36-F510CE27A48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1DEAE6EC-D993-4A05-5689-C973E33BC43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5D327C4-137D-2C6E-13D1-FF4E3D9284F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9293D05A-3688-4C63-9B2B-FBD736B8D13E}" type="datetimeFigureOut">
              <a:rPr lang="en-US" smtClean="0"/>
              <a:t>10/20/2026</a:t>
            </a:fld>
            <a:endParaRPr lang="en-US"/>
          </a:p>
        </p:txBody>
      </p:sp>
      <p:sp>
        <p:nvSpPr>
          <p:cNvPr id="5" name="Footer Placeholder 4">
            <a:extLst>
              <a:ext uri="{FF2B5EF4-FFF2-40B4-BE49-F238E27FC236}">
                <a16:creationId xmlns:a16="http://schemas.microsoft.com/office/drawing/2014/main" id="{5E7DE066-B020-D646-1BA2-1552B6CEB84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066B11C3-3FAC-3180-07F8-275FB4E8745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B471B1EB-87EB-4C8E-9875-B85ED1B382DC}" type="slidenum">
              <a:rPr lang="en-US" smtClean="0"/>
              <a:t>‹#›</a:t>
            </a:fld>
            <a:endParaRPr lang="en-US"/>
          </a:p>
        </p:txBody>
      </p:sp>
    </p:spTree>
    <p:extLst>
      <p:ext uri="{BB962C8B-B14F-4D97-AF65-F5344CB8AC3E}">
        <p14:creationId xmlns:p14="http://schemas.microsoft.com/office/powerpoint/2010/main" val="215497396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ED77762-B4DC-EF0A-06E4-18760EF584DF}"/>
              </a:ext>
            </a:extLst>
          </p:cNvPr>
          <p:cNvSpPr txBox="1"/>
          <p:nvPr/>
        </p:nvSpPr>
        <p:spPr>
          <a:xfrm>
            <a:off x="609600" y="444500"/>
            <a:ext cx="10972800" cy="523220"/>
          </a:xfrm>
          <a:prstGeom prst="rect">
            <a:avLst/>
          </a:prstGeom>
          <a:noFill/>
        </p:spPr>
        <p:txBody>
          <a:bodyPr vert="horz" wrap="square" lIns="0" tIns="0" rIns="0" bIns="0" rtlCol="0">
            <a:spAutoFit/>
          </a:bodyPr>
          <a:lstStyle/>
          <a:p>
            <a:r>
              <a:rPr lang="en-US" sz="3400" b="1">
                <a:solidFill>
                  <a:srgbClr val="142735"/>
                </a:solidFill>
                <a:latin typeface="Aptos" panose="020B0004020202020204" pitchFamily="34" charset="0"/>
              </a:rPr>
              <a:t>A query layer for evolving dashboards</a:t>
            </a:r>
          </a:p>
        </p:txBody>
      </p:sp>
      <p:sp>
        <p:nvSpPr>
          <p:cNvPr id="3" name="TextBox 2">
            <a:extLst>
              <a:ext uri="{FF2B5EF4-FFF2-40B4-BE49-F238E27FC236}">
                <a16:creationId xmlns:a16="http://schemas.microsoft.com/office/drawing/2014/main" id="{61BCA0A1-E82C-C123-FA3E-6239233A8822}"/>
              </a:ext>
            </a:extLst>
          </p:cNvPr>
          <p:cNvSpPr txBox="1"/>
          <p:nvPr/>
        </p:nvSpPr>
        <p:spPr>
          <a:xfrm>
            <a:off x="609600" y="6464300"/>
            <a:ext cx="10414000" cy="169277"/>
          </a:xfrm>
          <a:prstGeom prst="rect">
            <a:avLst/>
          </a:prstGeom>
          <a:noFill/>
        </p:spPr>
        <p:txBody>
          <a:bodyPr vert="horz" wrap="square" lIns="0" tIns="0" rIns="0" bIns="0" rtlCol="0">
            <a:spAutoFit/>
          </a:bodyPr>
          <a:lstStyle/>
          <a:p>
            <a:r>
              <a:rPr lang="en-US" sz="1100">
                <a:solidFill>
                  <a:srgbClr val="526471"/>
                </a:solidFill>
                <a:latin typeface="Aptos" panose="020B0004020202020204" pitchFamily="34" charset="0"/>
              </a:rPr>
              <a:t>Po-wei Huang / Golden query prototype / October 2026</a:t>
            </a:r>
          </a:p>
        </p:txBody>
      </p:sp>
      <p:sp>
        <p:nvSpPr>
          <p:cNvPr id="4" name="TextBox 3">
            <a:extLst>
              <a:ext uri="{FF2B5EF4-FFF2-40B4-BE49-F238E27FC236}">
                <a16:creationId xmlns:a16="http://schemas.microsoft.com/office/drawing/2014/main" id="{FD0C17CF-4B93-60A5-E224-8CA421649D76}"/>
              </a:ext>
            </a:extLst>
          </p:cNvPr>
          <p:cNvSpPr txBox="1"/>
          <p:nvPr/>
        </p:nvSpPr>
        <p:spPr>
          <a:xfrm>
            <a:off x="11430000" y="6464300"/>
            <a:ext cx="381000" cy="169277"/>
          </a:xfrm>
          <a:prstGeom prst="rect">
            <a:avLst/>
          </a:prstGeom>
          <a:noFill/>
        </p:spPr>
        <p:txBody>
          <a:bodyPr vert="horz" wrap="square" lIns="0" tIns="0" rIns="0" bIns="0" rtlCol="0">
            <a:spAutoFit/>
          </a:bodyPr>
          <a:lstStyle/>
          <a:p>
            <a:r>
              <a:rPr lang="en-US" sz="1100">
                <a:solidFill>
                  <a:srgbClr val="526471"/>
                </a:solidFill>
                <a:latin typeface="Aptos" panose="020B0004020202020204" pitchFamily="34" charset="0"/>
              </a:rPr>
              <a:t>1</a:t>
            </a:r>
          </a:p>
        </p:txBody>
      </p:sp>
      <p:sp>
        <p:nvSpPr>
          <p:cNvPr id="5" name="TextBox 4">
            <a:extLst>
              <a:ext uri="{FF2B5EF4-FFF2-40B4-BE49-F238E27FC236}">
                <a16:creationId xmlns:a16="http://schemas.microsoft.com/office/drawing/2014/main" id="{EC0CCA06-6D82-FFDB-FD85-C15AD71BC8B8}"/>
              </a:ext>
            </a:extLst>
          </p:cNvPr>
          <p:cNvSpPr txBox="1"/>
          <p:nvPr/>
        </p:nvSpPr>
        <p:spPr>
          <a:xfrm>
            <a:off x="609600" y="2095500"/>
            <a:ext cx="10795000" cy="1292662"/>
          </a:xfrm>
          <a:prstGeom prst="rect">
            <a:avLst/>
          </a:prstGeom>
          <a:noFill/>
        </p:spPr>
        <p:txBody>
          <a:bodyPr vert="horz" wrap="square" lIns="0" tIns="0" rIns="0" bIns="0" rtlCol="0">
            <a:spAutoFit/>
          </a:bodyPr>
          <a:lstStyle/>
          <a:p>
            <a:r>
              <a:rPr lang="en-US" sz="4200" b="1">
                <a:solidFill>
                  <a:srgbClr val="142735"/>
                </a:solidFill>
                <a:latin typeface="Aptos" panose="020B0004020202020204" pitchFamily="34" charset="0"/>
              </a:rPr>
              <a:t>My opportunity: reliable changes to analytical queries</a:t>
            </a:r>
          </a:p>
        </p:txBody>
      </p:sp>
      <p:sp>
        <p:nvSpPr>
          <p:cNvPr id="6" name="TextBox 5">
            <a:extLst>
              <a:ext uri="{FF2B5EF4-FFF2-40B4-BE49-F238E27FC236}">
                <a16:creationId xmlns:a16="http://schemas.microsoft.com/office/drawing/2014/main" id="{590F4762-7D05-3315-85E8-AACDB92C39CD}"/>
              </a:ext>
            </a:extLst>
          </p:cNvPr>
          <p:cNvSpPr txBox="1"/>
          <p:nvPr/>
        </p:nvSpPr>
        <p:spPr>
          <a:xfrm>
            <a:off x="609600" y="4254500"/>
            <a:ext cx="10668000" cy="830997"/>
          </a:xfrm>
          <a:prstGeom prst="rect">
            <a:avLst/>
          </a:prstGeom>
          <a:noFill/>
        </p:spPr>
        <p:txBody>
          <a:bodyPr vert="horz" wrap="square" lIns="0" tIns="0" rIns="0" bIns="0" rtlCol="0">
            <a:spAutoFit/>
          </a:bodyPr>
          <a:lstStyle/>
          <a:p>
            <a:r>
              <a:rPr lang="en-US" sz="2700">
                <a:solidFill>
                  <a:srgbClr val="526471"/>
                </a:solidFill>
                <a:latin typeface="Aptos" panose="020B0004020202020204" pitchFamily="34" charset="0"/>
              </a:rPr>
              <a:t>Claude creates the dashboard experience. Golden can provide reusable query definitions and verified execution.</a:t>
            </a:r>
          </a:p>
        </p:txBody>
      </p:sp>
    </p:spTree>
    <p:extLst>
      <p:ext uri="{BB962C8B-B14F-4D97-AF65-F5344CB8AC3E}">
        <p14:creationId xmlns:p14="http://schemas.microsoft.com/office/powerpoint/2010/main" val="312578953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3AF9A22F-EA09-CB1C-1253-3A0AAC18E2A5}"/>
              </a:ext>
            </a:extLst>
          </p:cNvPr>
          <p:cNvSpPr txBox="1"/>
          <p:nvPr/>
        </p:nvSpPr>
        <p:spPr>
          <a:xfrm>
            <a:off x="609600" y="444500"/>
            <a:ext cx="10972800" cy="523220"/>
          </a:xfrm>
          <a:prstGeom prst="rect">
            <a:avLst/>
          </a:prstGeom>
          <a:noFill/>
        </p:spPr>
        <p:txBody>
          <a:bodyPr vert="horz" wrap="square" lIns="0" tIns="0" rIns="0" bIns="0" rtlCol="0">
            <a:spAutoFit/>
          </a:bodyPr>
          <a:lstStyle/>
          <a:p>
            <a:r>
              <a:rPr lang="en-US" sz="3400" b="1">
                <a:solidFill>
                  <a:srgbClr val="142735"/>
                </a:solidFill>
                <a:latin typeface="Aptos" panose="020B0004020202020204" pitchFamily="34" charset="0"/>
              </a:rPr>
              <a:t>What Claude already does well</a:t>
            </a:r>
          </a:p>
        </p:txBody>
      </p:sp>
      <p:sp>
        <p:nvSpPr>
          <p:cNvPr id="3" name="TextBox 2">
            <a:extLst>
              <a:ext uri="{FF2B5EF4-FFF2-40B4-BE49-F238E27FC236}">
                <a16:creationId xmlns:a16="http://schemas.microsoft.com/office/drawing/2014/main" id="{11960CCC-49D7-D398-C7AF-1011976436F6}"/>
              </a:ext>
            </a:extLst>
          </p:cNvPr>
          <p:cNvSpPr txBox="1"/>
          <p:nvPr/>
        </p:nvSpPr>
        <p:spPr>
          <a:xfrm>
            <a:off x="609600" y="6464300"/>
            <a:ext cx="10414000" cy="169277"/>
          </a:xfrm>
          <a:prstGeom prst="rect">
            <a:avLst/>
          </a:prstGeom>
          <a:noFill/>
        </p:spPr>
        <p:txBody>
          <a:bodyPr vert="horz" wrap="square" lIns="0" tIns="0" rIns="0" bIns="0" rtlCol="0">
            <a:spAutoFit/>
          </a:bodyPr>
          <a:lstStyle/>
          <a:p>
            <a:r>
              <a:rPr lang="en-US" sz="1100">
                <a:solidFill>
                  <a:srgbClr val="526471"/>
                </a:solidFill>
                <a:latin typeface="Aptos" panose="020B0004020202020204" pitchFamily="34" charset="0"/>
              </a:rPr>
              <a:t>Po-wei Huang / Golden query prototype / October 2026</a:t>
            </a:r>
          </a:p>
        </p:txBody>
      </p:sp>
      <p:sp>
        <p:nvSpPr>
          <p:cNvPr id="4" name="TextBox 3">
            <a:extLst>
              <a:ext uri="{FF2B5EF4-FFF2-40B4-BE49-F238E27FC236}">
                <a16:creationId xmlns:a16="http://schemas.microsoft.com/office/drawing/2014/main" id="{A55D129E-71B6-4325-E532-F15088EE4E79}"/>
              </a:ext>
            </a:extLst>
          </p:cNvPr>
          <p:cNvSpPr txBox="1"/>
          <p:nvPr/>
        </p:nvSpPr>
        <p:spPr>
          <a:xfrm>
            <a:off x="11430000" y="6464300"/>
            <a:ext cx="381000" cy="169277"/>
          </a:xfrm>
          <a:prstGeom prst="rect">
            <a:avLst/>
          </a:prstGeom>
          <a:noFill/>
        </p:spPr>
        <p:txBody>
          <a:bodyPr vert="horz" wrap="square" lIns="0" tIns="0" rIns="0" bIns="0" rtlCol="0">
            <a:spAutoFit/>
          </a:bodyPr>
          <a:lstStyle/>
          <a:p>
            <a:r>
              <a:rPr lang="en-US" sz="1100">
                <a:solidFill>
                  <a:srgbClr val="526471"/>
                </a:solidFill>
                <a:latin typeface="Aptos" panose="020B0004020202020204" pitchFamily="34" charset="0"/>
              </a:rPr>
              <a:t>2</a:t>
            </a:r>
          </a:p>
        </p:txBody>
      </p:sp>
      <p:sp>
        <p:nvSpPr>
          <p:cNvPr id="5" name="TextBox 4">
            <a:extLst>
              <a:ext uri="{FF2B5EF4-FFF2-40B4-BE49-F238E27FC236}">
                <a16:creationId xmlns:a16="http://schemas.microsoft.com/office/drawing/2014/main" id="{6AB222ED-6C8E-2283-8E99-CD7F3C365ECE}"/>
              </a:ext>
            </a:extLst>
          </p:cNvPr>
          <p:cNvSpPr txBox="1"/>
          <p:nvPr/>
        </p:nvSpPr>
        <p:spPr>
          <a:xfrm>
            <a:off x="609600" y="1841500"/>
            <a:ext cx="3111500" cy="369332"/>
          </a:xfrm>
          <a:prstGeom prst="rect">
            <a:avLst/>
          </a:prstGeom>
          <a:noFill/>
        </p:spPr>
        <p:txBody>
          <a:bodyPr vert="horz" wrap="square" lIns="0" tIns="0" rIns="0" bIns="0" rtlCol="0">
            <a:spAutoFit/>
          </a:bodyPr>
          <a:lstStyle/>
          <a:p>
            <a:r>
              <a:rPr lang="en-US" sz="2400" b="1">
                <a:solidFill>
                  <a:srgbClr val="087F6B"/>
                </a:solidFill>
                <a:latin typeface="Aptos" panose="020B0004020202020204" pitchFamily="34" charset="0"/>
              </a:rPr>
              <a:t>Observed strengths</a:t>
            </a:r>
          </a:p>
        </p:txBody>
      </p:sp>
      <p:sp>
        <p:nvSpPr>
          <p:cNvPr id="6" name="TextBox 5">
            <a:extLst>
              <a:ext uri="{FF2B5EF4-FFF2-40B4-BE49-F238E27FC236}">
                <a16:creationId xmlns:a16="http://schemas.microsoft.com/office/drawing/2014/main" id="{5F419231-4612-9545-FA99-E462A3E3A028}"/>
              </a:ext>
            </a:extLst>
          </p:cNvPr>
          <p:cNvSpPr txBox="1"/>
          <p:nvPr/>
        </p:nvSpPr>
        <p:spPr>
          <a:xfrm>
            <a:off x="4127500" y="1841500"/>
            <a:ext cx="7366000" cy="707886"/>
          </a:xfrm>
          <a:prstGeom prst="rect">
            <a:avLst/>
          </a:prstGeom>
          <a:noFill/>
        </p:spPr>
        <p:txBody>
          <a:bodyPr vert="horz" wrap="square" lIns="0" tIns="0" rIns="0" bIns="0" rtlCol="0">
            <a:spAutoFit/>
          </a:bodyPr>
          <a:lstStyle/>
          <a:p>
            <a:r>
              <a:rPr lang="en-US" sz="2300">
                <a:solidFill>
                  <a:srgbClr val="142735"/>
                </a:solidFill>
                <a:latin typeface="Aptos" panose="020B0004020202020204" pitchFamily="34" charset="0"/>
              </a:rPr>
              <a:t>Nine datasets, shared filter patterns and concise native BigQuery queries.</a:t>
            </a:r>
          </a:p>
        </p:txBody>
      </p:sp>
      <p:sp>
        <p:nvSpPr>
          <p:cNvPr id="7" name="TextBox 6">
            <a:extLst>
              <a:ext uri="{FF2B5EF4-FFF2-40B4-BE49-F238E27FC236}">
                <a16:creationId xmlns:a16="http://schemas.microsoft.com/office/drawing/2014/main" id="{62BE4035-80B9-A089-DFA3-837CB6E75598}"/>
              </a:ext>
            </a:extLst>
          </p:cNvPr>
          <p:cNvSpPr txBox="1"/>
          <p:nvPr/>
        </p:nvSpPr>
        <p:spPr>
          <a:xfrm>
            <a:off x="609600" y="3302000"/>
            <a:ext cx="3111500" cy="369332"/>
          </a:xfrm>
          <a:prstGeom prst="rect">
            <a:avLst/>
          </a:prstGeom>
          <a:noFill/>
        </p:spPr>
        <p:txBody>
          <a:bodyPr vert="horz" wrap="square" lIns="0" tIns="0" rIns="0" bIns="0" rtlCol="0">
            <a:spAutoFit/>
          </a:bodyPr>
          <a:lstStyle/>
          <a:p>
            <a:r>
              <a:rPr lang="en-US" sz="2400" b="1">
                <a:solidFill>
                  <a:srgbClr val="087F6B"/>
                </a:solidFill>
                <a:latin typeface="Aptos" panose="020B0004020202020204" pitchFamily="34" charset="0"/>
              </a:rPr>
              <a:t>My proposed addition</a:t>
            </a:r>
          </a:p>
        </p:txBody>
      </p:sp>
      <p:sp>
        <p:nvSpPr>
          <p:cNvPr id="8" name="TextBox 7">
            <a:extLst>
              <a:ext uri="{FF2B5EF4-FFF2-40B4-BE49-F238E27FC236}">
                <a16:creationId xmlns:a16="http://schemas.microsoft.com/office/drawing/2014/main" id="{2E6E7E40-FFF9-2181-BEC8-4123B8A138BA}"/>
              </a:ext>
            </a:extLst>
          </p:cNvPr>
          <p:cNvSpPr txBox="1"/>
          <p:nvPr/>
        </p:nvSpPr>
        <p:spPr>
          <a:xfrm>
            <a:off x="4127500" y="3302000"/>
            <a:ext cx="7366000" cy="707886"/>
          </a:xfrm>
          <a:prstGeom prst="rect">
            <a:avLst/>
          </a:prstGeom>
          <a:noFill/>
        </p:spPr>
        <p:txBody>
          <a:bodyPr vert="horz" wrap="square" lIns="0" tIns="0" rIns="0" bIns="0" rtlCol="0">
            <a:spAutoFit/>
          </a:bodyPr>
          <a:lstStyle/>
          <a:p>
            <a:r>
              <a:rPr lang="en-US" sz="2300">
                <a:solidFill>
                  <a:srgbClr val="142735"/>
                </a:solidFill>
                <a:latin typeface="Aptos" panose="020B0004020202020204" pitchFamily="34" charset="0"/>
              </a:rPr>
              <a:t>Reusable analytical definitions, explicit filter scope and tests for structural changes.</a:t>
            </a:r>
          </a:p>
        </p:txBody>
      </p:sp>
      <p:sp>
        <p:nvSpPr>
          <p:cNvPr id="9" name="TextBox 8">
            <a:extLst>
              <a:ext uri="{FF2B5EF4-FFF2-40B4-BE49-F238E27FC236}">
                <a16:creationId xmlns:a16="http://schemas.microsoft.com/office/drawing/2014/main" id="{5CB44F8C-7AF5-C1F7-F3F6-85A56E19345F}"/>
              </a:ext>
            </a:extLst>
          </p:cNvPr>
          <p:cNvSpPr txBox="1"/>
          <p:nvPr/>
        </p:nvSpPr>
        <p:spPr>
          <a:xfrm>
            <a:off x="609600" y="5080000"/>
            <a:ext cx="10972800" cy="400110"/>
          </a:xfrm>
          <a:prstGeom prst="rect">
            <a:avLst/>
          </a:prstGeom>
          <a:noFill/>
        </p:spPr>
        <p:txBody>
          <a:bodyPr vert="horz" wrap="square" lIns="0" tIns="0" rIns="0" bIns="0" rtlCol="0">
            <a:spAutoFit/>
          </a:bodyPr>
          <a:lstStyle/>
          <a:p>
            <a:r>
              <a:rPr lang="en-US" sz="2600" b="1">
                <a:solidFill>
                  <a:srgbClr val="087F6B"/>
                </a:solidFill>
                <a:latin typeface="Aptos" panose="020B0004020202020204" pitchFamily="34" charset="0"/>
              </a:rPr>
              <a:t>A fixed dashboard may already work well with parameterized SQL.</a:t>
            </a:r>
          </a:p>
        </p:txBody>
      </p:sp>
    </p:spTree>
    <p:extLst>
      <p:ext uri="{BB962C8B-B14F-4D97-AF65-F5344CB8AC3E}">
        <p14:creationId xmlns:p14="http://schemas.microsoft.com/office/powerpoint/2010/main" val="185724143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0517BED-6C4C-AEA2-17AD-6E34E0FD3EBB}"/>
              </a:ext>
            </a:extLst>
          </p:cNvPr>
          <p:cNvSpPr txBox="1"/>
          <p:nvPr/>
        </p:nvSpPr>
        <p:spPr>
          <a:xfrm>
            <a:off x="609600" y="444500"/>
            <a:ext cx="10972800" cy="523220"/>
          </a:xfrm>
          <a:prstGeom prst="rect">
            <a:avLst/>
          </a:prstGeom>
          <a:noFill/>
        </p:spPr>
        <p:txBody>
          <a:bodyPr vert="horz" wrap="square" lIns="0" tIns="0" rIns="0" bIns="0" rtlCol="0">
            <a:spAutoFit/>
          </a:bodyPr>
          <a:lstStyle/>
          <a:p>
            <a:r>
              <a:rPr lang="nb-NO" sz="3400" b="1">
                <a:solidFill>
                  <a:srgbClr val="142735"/>
                </a:solidFill>
                <a:latin typeface="Aptos" panose="020B0004020202020204" pitchFamily="34" charset="0"/>
              </a:rPr>
              <a:t>One filter, different dataset behavior</a:t>
            </a:r>
            <a:endParaRPr lang="en-US" sz="3400" b="1">
              <a:solidFill>
                <a:srgbClr val="142735"/>
              </a:solidFill>
              <a:latin typeface="Aptos" panose="020B0004020202020204" pitchFamily="34" charset="0"/>
            </a:endParaRPr>
          </a:p>
        </p:txBody>
      </p:sp>
      <p:sp>
        <p:nvSpPr>
          <p:cNvPr id="3" name="TextBox 2">
            <a:extLst>
              <a:ext uri="{FF2B5EF4-FFF2-40B4-BE49-F238E27FC236}">
                <a16:creationId xmlns:a16="http://schemas.microsoft.com/office/drawing/2014/main" id="{45948118-67FD-87A0-85E9-0AD76EC262A0}"/>
              </a:ext>
            </a:extLst>
          </p:cNvPr>
          <p:cNvSpPr txBox="1"/>
          <p:nvPr/>
        </p:nvSpPr>
        <p:spPr>
          <a:xfrm>
            <a:off x="609600" y="6464300"/>
            <a:ext cx="10414000" cy="169277"/>
          </a:xfrm>
          <a:prstGeom prst="rect">
            <a:avLst/>
          </a:prstGeom>
          <a:noFill/>
        </p:spPr>
        <p:txBody>
          <a:bodyPr vert="horz" wrap="square" lIns="0" tIns="0" rIns="0" bIns="0" rtlCol="0">
            <a:spAutoFit/>
          </a:bodyPr>
          <a:lstStyle/>
          <a:p>
            <a:r>
              <a:rPr lang="en-US" sz="1100">
                <a:solidFill>
                  <a:srgbClr val="526471"/>
                </a:solidFill>
                <a:latin typeface="Aptos" panose="020B0004020202020204" pitchFamily="34" charset="0"/>
              </a:rPr>
              <a:t>Po-wei Huang / Golden query prototype / October 2026</a:t>
            </a:r>
          </a:p>
        </p:txBody>
      </p:sp>
      <p:sp>
        <p:nvSpPr>
          <p:cNvPr id="4" name="TextBox 3">
            <a:extLst>
              <a:ext uri="{FF2B5EF4-FFF2-40B4-BE49-F238E27FC236}">
                <a16:creationId xmlns:a16="http://schemas.microsoft.com/office/drawing/2014/main" id="{EC3793FE-9AE5-4349-470C-251D30C9117F}"/>
              </a:ext>
            </a:extLst>
          </p:cNvPr>
          <p:cNvSpPr txBox="1"/>
          <p:nvPr/>
        </p:nvSpPr>
        <p:spPr>
          <a:xfrm>
            <a:off x="11430000" y="6464300"/>
            <a:ext cx="381000" cy="169277"/>
          </a:xfrm>
          <a:prstGeom prst="rect">
            <a:avLst/>
          </a:prstGeom>
          <a:noFill/>
        </p:spPr>
        <p:txBody>
          <a:bodyPr vert="horz" wrap="square" lIns="0" tIns="0" rIns="0" bIns="0" rtlCol="0">
            <a:spAutoFit/>
          </a:bodyPr>
          <a:lstStyle/>
          <a:p>
            <a:r>
              <a:rPr lang="en-US" sz="1100">
                <a:solidFill>
                  <a:srgbClr val="526471"/>
                </a:solidFill>
                <a:latin typeface="Aptos" panose="020B0004020202020204" pitchFamily="34" charset="0"/>
              </a:rPr>
              <a:t>3</a:t>
            </a:r>
          </a:p>
        </p:txBody>
      </p:sp>
      <p:graphicFrame>
        <p:nvGraphicFramePr>
          <p:cNvPr id="5" name="Table 4">
            <a:extLst>
              <a:ext uri="{FF2B5EF4-FFF2-40B4-BE49-F238E27FC236}">
                <a16:creationId xmlns:a16="http://schemas.microsoft.com/office/drawing/2014/main" id="{18E6B06B-360B-F51F-D679-C9029D866FA3}"/>
              </a:ext>
            </a:extLst>
          </p:cNvPr>
          <p:cNvGraphicFramePr>
            <a:graphicFrameLocks noGrp="1"/>
          </p:cNvGraphicFramePr>
          <p:nvPr>
            <p:extLst>
              <p:ext uri="{D42A27DB-BD31-4B8C-83A1-F6EECF244321}">
                <p14:modId xmlns:p14="http://schemas.microsoft.com/office/powerpoint/2010/main" val="1452966675"/>
              </p:ext>
            </p:extLst>
          </p:nvPr>
        </p:nvGraphicFramePr>
        <p:xfrm>
          <a:off x="609600" y="1714500"/>
          <a:ext cx="10972800" cy="3556000"/>
        </p:xfrm>
        <a:graphic>
          <a:graphicData uri="http://schemas.openxmlformats.org/drawingml/2006/table">
            <a:tbl>
              <a:tblPr firstRow="1" bandRow="1">
                <a:tableStyleId>{5C22544A-7EE6-4342-B048-85BDC9FD1C3A}</a:tableStyleId>
              </a:tblPr>
              <a:tblGrid>
                <a:gridCol w="3657600">
                  <a:extLst>
                    <a:ext uri="{9D8B030D-6E8A-4147-A177-3AD203B41FA5}">
                      <a16:colId xmlns:a16="http://schemas.microsoft.com/office/drawing/2014/main" val="1170787325"/>
                    </a:ext>
                  </a:extLst>
                </a:gridCol>
                <a:gridCol w="3657600">
                  <a:extLst>
                    <a:ext uri="{9D8B030D-6E8A-4147-A177-3AD203B41FA5}">
                      <a16:colId xmlns:a16="http://schemas.microsoft.com/office/drawing/2014/main" val="4207354036"/>
                    </a:ext>
                  </a:extLst>
                </a:gridCol>
                <a:gridCol w="3657600">
                  <a:extLst>
                    <a:ext uri="{9D8B030D-6E8A-4147-A177-3AD203B41FA5}">
                      <a16:colId xmlns:a16="http://schemas.microsoft.com/office/drawing/2014/main" val="3659950798"/>
                    </a:ext>
                  </a:extLst>
                </a:gridCol>
              </a:tblGrid>
              <a:tr h="711200">
                <a:tc>
                  <a:txBody>
                    <a:bodyPr/>
                    <a:lstStyle/>
                    <a:p>
                      <a:r>
                        <a:rPr lang="en-US" sz="2000">
                          <a:solidFill>
                            <a:srgbClr val="FFFFFF"/>
                          </a:solidFill>
                          <a:latin typeface="Aptos" panose="020B0004020202020204" pitchFamily="34" charset="0"/>
                        </a:rPr>
                        <a:t>Dataset</a:t>
                      </a:r>
                    </a:p>
                  </a:txBody>
                  <a:tcPr>
                    <a:solidFill>
                      <a:srgbClr val="087F6B"/>
                    </a:solidFill>
                  </a:tcPr>
                </a:tc>
                <a:tc>
                  <a:txBody>
                    <a:bodyPr/>
                    <a:lstStyle/>
                    <a:p>
                      <a:r>
                        <a:rPr lang="en-US" sz="2000">
                          <a:solidFill>
                            <a:srgbClr val="FFFFFF"/>
                          </a:solidFill>
                          <a:latin typeface="Aptos" panose="020B0004020202020204" pitchFamily="34" charset="0"/>
                        </a:rPr>
                        <a:t>Date selection</a:t>
                      </a:r>
                    </a:p>
                  </a:txBody>
                  <a:tcPr>
                    <a:solidFill>
                      <a:srgbClr val="087F6B"/>
                    </a:solidFill>
                  </a:tcPr>
                </a:tc>
                <a:tc>
                  <a:txBody>
                    <a:bodyPr/>
                    <a:lstStyle/>
                    <a:p>
                      <a:r>
                        <a:rPr lang="en-US" sz="2000">
                          <a:solidFill>
                            <a:srgbClr val="FFFFFF"/>
                          </a:solidFill>
                          <a:latin typeface="Aptos" panose="020B0004020202020204" pitchFamily="34" charset="0"/>
                        </a:rPr>
                        <a:t>Country selection</a:t>
                      </a:r>
                    </a:p>
                  </a:txBody>
                  <a:tcPr>
                    <a:solidFill>
                      <a:srgbClr val="087F6B"/>
                    </a:solidFill>
                  </a:tcPr>
                </a:tc>
                <a:extLst>
                  <a:ext uri="{0D108BD9-81ED-4DB2-BD59-A6C34878D82A}">
                    <a16:rowId xmlns:a16="http://schemas.microsoft.com/office/drawing/2014/main" val="778942437"/>
                  </a:ext>
                </a:extLst>
              </a:tr>
              <a:tr h="711200">
                <a:tc>
                  <a:txBody>
                    <a:bodyPr/>
                    <a:lstStyle/>
                    <a:p>
                      <a:r>
                        <a:rPr lang="en-US" sz="2000">
                          <a:solidFill>
                            <a:srgbClr val="142735"/>
                          </a:solidFill>
                          <a:latin typeface="Aptos" panose="020B0004020202020204" pitchFamily="34" charset="0"/>
                        </a:rPr>
                        <a:t>Revenue KPI</a:t>
                      </a:r>
                    </a:p>
                  </a:txBody>
                  <a:tcPr>
                    <a:solidFill>
                      <a:srgbClr val="F2F6F5"/>
                    </a:solidFill>
                  </a:tcPr>
                </a:tc>
                <a:tc>
                  <a:txBody>
                    <a:bodyPr/>
                    <a:lstStyle/>
                    <a:p>
                      <a:r>
                        <a:rPr lang="en-US" sz="2000">
                          <a:solidFill>
                            <a:srgbClr val="142735"/>
                          </a:solidFill>
                          <a:latin typeface="Aptos" panose="020B0004020202020204" pitchFamily="34" charset="0"/>
                        </a:rPr>
                        <a:t>Apply</a:t>
                      </a:r>
                    </a:p>
                  </a:txBody>
                  <a:tcPr>
                    <a:solidFill>
                      <a:srgbClr val="F2F6F5"/>
                    </a:solidFill>
                  </a:tcPr>
                </a:tc>
                <a:tc>
                  <a:txBody>
                    <a:bodyPr/>
                    <a:lstStyle/>
                    <a:p>
                      <a:r>
                        <a:rPr lang="en-US" sz="2000">
                          <a:solidFill>
                            <a:srgbClr val="142735"/>
                          </a:solidFill>
                          <a:latin typeface="Aptos" panose="020B0004020202020204" pitchFamily="34" charset="0"/>
                        </a:rPr>
                        <a:t>Apply</a:t>
                      </a:r>
                    </a:p>
                  </a:txBody>
                  <a:tcPr>
                    <a:solidFill>
                      <a:srgbClr val="F2F6F5"/>
                    </a:solidFill>
                  </a:tcPr>
                </a:tc>
                <a:extLst>
                  <a:ext uri="{0D108BD9-81ED-4DB2-BD59-A6C34878D82A}">
                    <a16:rowId xmlns:a16="http://schemas.microsoft.com/office/drawing/2014/main" val="1277439943"/>
                  </a:ext>
                </a:extLst>
              </a:tr>
              <a:tr h="711200">
                <a:tc>
                  <a:txBody>
                    <a:bodyPr/>
                    <a:lstStyle/>
                    <a:p>
                      <a:r>
                        <a:rPr lang="en-US" sz="2000">
                          <a:solidFill>
                            <a:srgbClr val="142735"/>
                          </a:solidFill>
                          <a:latin typeface="Aptos" panose="020B0004020202020204" pitchFamily="34" charset="0"/>
                        </a:rPr>
                        <a:t>Monthly revenue</a:t>
                      </a:r>
                    </a:p>
                  </a:txBody>
                  <a:tcPr>
                    <a:solidFill>
                      <a:srgbClr val="F2F6F5"/>
                    </a:solidFill>
                  </a:tcPr>
                </a:tc>
                <a:tc>
                  <a:txBody>
                    <a:bodyPr/>
                    <a:lstStyle/>
                    <a:p>
                      <a:r>
                        <a:rPr lang="en-US" sz="2000">
                          <a:solidFill>
                            <a:srgbClr val="142735"/>
                          </a:solidFill>
                          <a:latin typeface="Aptos" panose="020B0004020202020204" pitchFamily="34" charset="0"/>
                        </a:rPr>
                        <a:t>Apply</a:t>
                      </a:r>
                    </a:p>
                  </a:txBody>
                  <a:tcPr>
                    <a:solidFill>
                      <a:srgbClr val="F2F6F5"/>
                    </a:solidFill>
                  </a:tcPr>
                </a:tc>
                <a:tc>
                  <a:txBody>
                    <a:bodyPr/>
                    <a:lstStyle/>
                    <a:p>
                      <a:r>
                        <a:rPr lang="en-US" sz="2000">
                          <a:solidFill>
                            <a:srgbClr val="142735"/>
                          </a:solidFill>
                          <a:latin typeface="Aptos" panose="020B0004020202020204" pitchFamily="34" charset="0"/>
                        </a:rPr>
                        <a:t>Apply</a:t>
                      </a:r>
                    </a:p>
                  </a:txBody>
                  <a:tcPr>
                    <a:solidFill>
                      <a:srgbClr val="F2F6F5"/>
                    </a:solidFill>
                  </a:tcPr>
                </a:tc>
                <a:extLst>
                  <a:ext uri="{0D108BD9-81ED-4DB2-BD59-A6C34878D82A}">
                    <a16:rowId xmlns:a16="http://schemas.microsoft.com/office/drawing/2014/main" val="2728697440"/>
                  </a:ext>
                </a:extLst>
              </a:tr>
              <a:tr h="711200">
                <a:tc>
                  <a:txBody>
                    <a:bodyPr/>
                    <a:lstStyle/>
                    <a:p>
                      <a:r>
                        <a:rPr lang="en-US" sz="2000">
                          <a:solidFill>
                            <a:srgbClr val="142735"/>
                          </a:solidFill>
                          <a:latin typeface="Aptos" panose="020B0004020202020204" pitchFamily="34" charset="0"/>
                        </a:rPr>
                        <a:t>Country comparison</a:t>
                      </a:r>
                    </a:p>
                  </a:txBody>
                  <a:tcPr>
                    <a:solidFill>
                      <a:srgbClr val="F2F6F5"/>
                    </a:solidFill>
                  </a:tcPr>
                </a:tc>
                <a:tc>
                  <a:txBody>
                    <a:bodyPr/>
                    <a:lstStyle/>
                    <a:p>
                      <a:r>
                        <a:rPr lang="en-US" sz="2000">
                          <a:solidFill>
                            <a:srgbClr val="142735"/>
                          </a:solidFill>
                          <a:latin typeface="Aptos" panose="020B0004020202020204" pitchFamily="34" charset="0"/>
                        </a:rPr>
                        <a:t>Apply</a:t>
                      </a:r>
                    </a:p>
                  </a:txBody>
                  <a:tcPr>
                    <a:solidFill>
                      <a:srgbClr val="F2F6F5"/>
                    </a:solidFill>
                  </a:tcPr>
                </a:tc>
                <a:tc>
                  <a:txBody>
                    <a:bodyPr/>
                    <a:lstStyle/>
                    <a:p>
                      <a:r>
                        <a:rPr lang="en-US" sz="2000">
                          <a:solidFill>
                            <a:srgbClr val="142735"/>
                          </a:solidFill>
                          <a:latin typeface="Aptos" panose="020B0004020202020204" pitchFamily="34" charset="0"/>
                        </a:rPr>
                        <a:t>Ignore</a:t>
                      </a:r>
                    </a:p>
                  </a:txBody>
                  <a:tcPr>
                    <a:solidFill>
                      <a:srgbClr val="F2F6F5"/>
                    </a:solidFill>
                  </a:tcPr>
                </a:tc>
                <a:extLst>
                  <a:ext uri="{0D108BD9-81ED-4DB2-BD59-A6C34878D82A}">
                    <a16:rowId xmlns:a16="http://schemas.microsoft.com/office/drawing/2014/main" val="2485691762"/>
                  </a:ext>
                </a:extLst>
              </a:tr>
              <a:tr h="711200">
                <a:tc>
                  <a:txBody>
                    <a:bodyPr/>
                    <a:lstStyle/>
                    <a:p>
                      <a:r>
                        <a:rPr lang="en-US" sz="2000">
                          <a:solidFill>
                            <a:srgbClr val="142735"/>
                          </a:solidFill>
                          <a:latin typeface="Aptos" panose="020B0004020202020204" pitchFamily="34" charset="0"/>
                        </a:rPr>
                        <a:t>Country P75</a:t>
                      </a:r>
                    </a:p>
                  </a:txBody>
                  <a:tcPr>
                    <a:solidFill>
                      <a:srgbClr val="F2F6F5"/>
                    </a:solidFill>
                  </a:tcPr>
                </a:tc>
                <a:tc>
                  <a:txBody>
                    <a:bodyPr/>
                    <a:lstStyle/>
                    <a:p>
                      <a:r>
                        <a:rPr lang="en-US" sz="2000">
                          <a:solidFill>
                            <a:srgbClr val="142735"/>
                          </a:solidFill>
                          <a:latin typeface="Aptos" panose="020B0004020202020204" pitchFamily="34" charset="0"/>
                        </a:rPr>
                        <a:t>Apply</a:t>
                      </a:r>
                    </a:p>
                  </a:txBody>
                  <a:tcPr>
                    <a:solidFill>
                      <a:srgbClr val="F2F6F5"/>
                    </a:solidFill>
                  </a:tcPr>
                </a:tc>
                <a:tc>
                  <a:txBody>
                    <a:bodyPr/>
                    <a:lstStyle/>
                    <a:p>
                      <a:r>
                        <a:rPr lang="en-US" sz="2000">
                          <a:solidFill>
                            <a:srgbClr val="142735"/>
                          </a:solidFill>
                          <a:latin typeface="Aptos" panose="020B0004020202020204" pitchFamily="34" charset="0"/>
                        </a:rPr>
                        <a:t>Ignore</a:t>
                      </a:r>
                    </a:p>
                  </a:txBody>
                  <a:tcPr>
                    <a:solidFill>
                      <a:srgbClr val="F2F6F5"/>
                    </a:solidFill>
                  </a:tcPr>
                </a:tc>
                <a:extLst>
                  <a:ext uri="{0D108BD9-81ED-4DB2-BD59-A6C34878D82A}">
                    <a16:rowId xmlns:a16="http://schemas.microsoft.com/office/drawing/2014/main" val="3576327001"/>
                  </a:ext>
                </a:extLst>
              </a:tr>
            </a:tbl>
          </a:graphicData>
        </a:graphic>
      </p:graphicFrame>
      <p:sp>
        <p:nvSpPr>
          <p:cNvPr id="6" name="TextBox 5">
            <a:extLst>
              <a:ext uri="{FF2B5EF4-FFF2-40B4-BE49-F238E27FC236}">
                <a16:creationId xmlns:a16="http://schemas.microsoft.com/office/drawing/2014/main" id="{91A7A887-088B-91F4-7B3D-A477599FB17B}"/>
              </a:ext>
            </a:extLst>
          </p:cNvPr>
          <p:cNvSpPr txBox="1"/>
          <p:nvPr/>
        </p:nvSpPr>
        <p:spPr>
          <a:xfrm>
            <a:off x="609600" y="5651500"/>
            <a:ext cx="10972800" cy="369332"/>
          </a:xfrm>
          <a:prstGeom prst="rect">
            <a:avLst/>
          </a:prstGeom>
          <a:noFill/>
        </p:spPr>
        <p:txBody>
          <a:bodyPr vert="horz" wrap="square" lIns="0" tIns="0" rIns="0" bIns="0" rtlCol="0">
            <a:spAutoFit/>
          </a:bodyPr>
          <a:lstStyle/>
          <a:p>
            <a:r>
              <a:rPr lang="en-US" sz="2400" b="1">
                <a:solidFill>
                  <a:srgbClr val="087F6B"/>
                </a:solidFill>
                <a:latin typeface="Aptos" panose="020B0004020202020204" pitchFamily="34" charset="0"/>
              </a:rPr>
              <a:t>The semantic layer decides scope. The query layer preserves it.</a:t>
            </a:r>
          </a:p>
        </p:txBody>
      </p:sp>
    </p:spTree>
    <p:extLst>
      <p:ext uri="{BB962C8B-B14F-4D97-AF65-F5344CB8AC3E}">
        <p14:creationId xmlns:p14="http://schemas.microsoft.com/office/powerpoint/2010/main" val="74303498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86EC46B3-3D1C-7AC6-5679-8F861B68FE34}"/>
              </a:ext>
            </a:extLst>
          </p:cNvPr>
          <p:cNvSpPr txBox="1"/>
          <p:nvPr/>
        </p:nvSpPr>
        <p:spPr>
          <a:xfrm>
            <a:off x="609600" y="444500"/>
            <a:ext cx="10972800" cy="523220"/>
          </a:xfrm>
          <a:prstGeom prst="rect">
            <a:avLst/>
          </a:prstGeom>
          <a:noFill/>
        </p:spPr>
        <p:txBody>
          <a:bodyPr vert="horz" wrap="square" lIns="0" tIns="0" rIns="0" bIns="0" rtlCol="0">
            <a:spAutoFit/>
          </a:bodyPr>
          <a:lstStyle/>
          <a:p>
            <a:r>
              <a:rPr lang="en-US" sz="3400" b="1">
                <a:solidFill>
                  <a:srgbClr val="142735"/>
                </a:solidFill>
                <a:latin typeface="Aptos" panose="020B0004020202020204" pitchFamily="34" charset="0"/>
              </a:rPr>
              <a:t>Reusable query definitions</a:t>
            </a:r>
          </a:p>
        </p:txBody>
      </p:sp>
      <p:sp>
        <p:nvSpPr>
          <p:cNvPr id="3" name="TextBox 2">
            <a:extLst>
              <a:ext uri="{FF2B5EF4-FFF2-40B4-BE49-F238E27FC236}">
                <a16:creationId xmlns:a16="http://schemas.microsoft.com/office/drawing/2014/main" id="{C32A4EFE-BD23-104A-B288-FF6AAA5AF215}"/>
              </a:ext>
            </a:extLst>
          </p:cNvPr>
          <p:cNvSpPr txBox="1"/>
          <p:nvPr/>
        </p:nvSpPr>
        <p:spPr>
          <a:xfrm>
            <a:off x="609600" y="6464300"/>
            <a:ext cx="10414000" cy="169277"/>
          </a:xfrm>
          <a:prstGeom prst="rect">
            <a:avLst/>
          </a:prstGeom>
          <a:noFill/>
        </p:spPr>
        <p:txBody>
          <a:bodyPr vert="horz" wrap="square" lIns="0" tIns="0" rIns="0" bIns="0" rtlCol="0">
            <a:spAutoFit/>
          </a:bodyPr>
          <a:lstStyle/>
          <a:p>
            <a:r>
              <a:rPr lang="en-US" sz="1100">
                <a:solidFill>
                  <a:srgbClr val="526471"/>
                </a:solidFill>
                <a:latin typeface="Aptos" panose="020B0004020202020204" pitchFamily="34" charset="0"/>
              </a:rPr>
              <a:t>Po-wei Huang / Golden query prototype / October 2026</a:t>
            </a:r>
          </a:p>
        </p:txBody>
      </p:sp>
      <p:sp>
        <p:nvSpPr>
          <p:cNvPr id="4" name="TextBox 3">
            <a:extLst>
              <a:ext uri="{FF2B5EF4-FFF2-40B4-BE49-F238E27FC236}">
                <a16:creationId xmlns:a16="http://schemas.microsoft.com/office/drawing/2014/main" id="{755DAD1A-C6FD-BB91-601D-1057107E7A9E}"/>
              </a:ext>
            </a:extLst>
          </p:cNvPr>
          <p:cNvSpPr txBox="1"/>
          <p:nvPr/>
        </p:nvSpPr>
        <p:spPr>
          <a:xfrm>
            <a:off x="11430000" y="6464300"/>
            <a:ext cx="381000" cy="169277"/>
          </a:xfrm>
          <a:prstGeom prst="rect">
            <a:avLst/>
          </a:prstGeom>
          <a:noFill/>
        </p:spPr>
        <p:txBody>
          <a:bodyPr vert="horz" wrap="square" lIns="0" tIns="0" rIns="0" bIns="0" rtlCol="0">
            <a:spAutoFit/>
          </a:bodyPr>
          <a:lstStyle/>
          <a:p>
            <a:r>
              <a:rPr lang="en-US" sz="1100">
                <a:solidFill>
                  <a:srgbClr val="526471"/>
                </a:solidFill>
                <a:latin typeface="Aptos" panose="020B0004020202020204" pitchFamily="34" charset="0"/>
              </a:rPr>
              <a:t>4</a:t>
            </a:r>
          </a:p>
        </p:txBody>
      </p:sp>
      <p:sp>
        <p:nvSpPr>
          <p:cNvPr id="5" name="TextBox 4">
            <a:extLst>
              <a:ext uri="{FF2B5EF4-FFF2-40B4-BE49-F238E27FC236}">
                <a16:creationId xmlns:a16="http://schemas.microsoft.com/office/drawing/2014/main" id="{19D459E7-022F-75AF-F5AC-C3B8B8F24944}"/>
              </a:ext>
            </a:extLst>
          </p:cNvPr>
          <p:cNvSpPr txBox="1"/>
          <p:nvPr/>
        </p:nvSpPr>
        <p:spPr>
          <a:xfrm>
            <a:off x="609600" y="1714500"/>
            <a:ext cx="3111500" cy="369332"/>
          </a:xfrm>
          <a:prstGeom prst="rect">
            <a:avLst/>
          </a:prstGeom>
          <a:noFill/>
        </p:spPr>
        <p:txBody>
          <a:bodyPr vert="horz" wrap="square" lIns="0" tIns="0" rIns="0" bIns="0" rtlCol="0">
            <a:spAutoFit/>
          </a:bodyPr>
          <a:lstStyle/>
          <a:p>
            <a:r>
              <a:rPr lang="en-US" sz="2400" b="1">
                <a:solidFill>
                  <a:srgbClr val="087F6B"/>
                </a:solidFill>
                <a:latin typeface="Aptos" panose="020B0004020202020204" pitchFamily="34" charset="0"/>
              </a:rPr>
              <a:t>Common relation</a:t>
            </a:r>
          </a:p>
        </p:txBody>
      </p:sp>
      <p:sp>
        <p:nvSpPr>
          <p:cNvPr id="6" name="TextBox 5">
            <a:extLst>
              <a:ext uri="{FF2B5EF4-FFF2-40B4-BE49-F238E27FC236}">
                <a16:creationId xmlns:a16="http://schemas.microsoft.com/office/drawing/2014/main" id="{F4384BAD-DD60-55B1-AFD8-766504C6FE3B}"/>
              </a:ext>
            </a:extLst>
          </p:cNvPr>
          <p:cNvSpPr txBox="1"/>
          <p:nvPr/>
        </p:nvSpPr>
        <p:spPr>
          <a:xfrm>
            <a:off x="4127500" y="1714500"/>
            <a:ext cx="7366000" cy="707886"/>
          </a:xfrm>
          <a:prstGeom prst="rect">
            <a:avLst/>
          </a:prstGeom>
          <a:noFill/>
        </p:spPr>
        <p:txBody>
          <a:bodyPr vert="horz" wrap="square" lIns="0" tIns="0" rIns="0" bIns="0" rtlCol="0">
            <a:spAutoFit/>
          </a:bodyPr>
          <a:lstStyle/>
          <a:p>
            <a:r>
              <a:rPr lang="en-US" sz="2300">
                <a:solidFill>
                  <a:srgbClr val="142735"/>
                </a:solidFill>
                <a:latin typeface="Aptos" panose="020B0004020202020204" pitchFamily="34" charset="0"/>
              </a:rPr>
              <a:t>pricedOrders: one row per order, with order value and customer identity.</a:t>
            </a:r>
          </a:p>
        </p:txBody>
      </p:sp>
      <p:sp>
        <p:nvSpPr>
          <p:cNvPr id="7" name="TextBox 6">
            <a:extLst>
              <a:ext uri="{FF2B5EF4-FFF2-40B4-BE49-F238E27FC236}">
                <a16:creationId xmlns:a16="http://schemas.microsoft.com/office/drawing/2014/main" id="{55E08A21-19F8-AD37-19C9-4D32B31AB18C}"/>
              </a:ext>
            </a:extLst>
          </p:cNvPr>
          <p:cNvSpPr txBox="1"/>
          <p:nvPr/>
        </p:nvSpPr>
        <p:spPr>
          <a:xfrm>
            <a:off x="609600" y="3175000"/>
            <a:ext cx="3111500" cy="369332"/>
          </a:xfrm>
          <a:prstGeom prst="rect">
            <a:avLst/>
          </a:prstGeom>
          <a:noFill/>
        </p:spPr>
        <p:txBody>
          <a:bodyPr vert="horz" wrap="square" lIns="0" tIns="0" rIns="0" bIns="0" rtlCol="0">
            <a:spAutoFit/>
          </a:bodyPr>
          <a:lstStyle/>
          <a:p>
            <a:r>
              <a:rPr lang="en-US" sz="2400" b="1">
                <a:solidFill>
                  <a:srgbClr val="087F6B"/>
                </a:solidFill>
                <a:latin typeface="Aptos" panose="020B0004020202020204" pitchFamily="34" charset="0"/>
              </a:rPr>
              <a:t>Different views</a:t>
            </a:r>
          </a:p>
        </p:txBody>
      </p:sp>
      <p:sp>
        <p:nvSpPr>
          <p:cNvPr id="8" name="TextBox 7">
            <a:extLst>
              <a:ext uri="{FF2B5EF4-FFF2-40B4-BE49-F238E27FC236}">
                <a16:creationId xmlns:a16="http://schemas.microsoft.com/office/drawing/2014/main" id="{2FA1E9BC-1B42-F448-7E76-4BD02D5C2C58}"/>
              </a:ext>
            </a:extLst>
          </p:cNvPr>
          <p:cNvSpPr txBox="1"/>
          <p:nvPr/>
        </p:nvSpPr>
        <p:spPr>
          <a:xfrm>
            <a:off x="4127500" y="3175000"/>
            <a:ext cx="7366000" cy="707886"/>
          </a:xfrm>
          <a:prstGeom prst="rect">
            <a:avLst/>
          </a:prstGeom>
          <a:noFill/>
        </p:spPr>
        <p:txBody>
          <a:bodyPr vert="horz" wrap="square" lIns="0" tIns="0" rIns="0" bIns="0" rtlCol="0">
            <a:spAutoFit/>
          </a:bodyPr>
          <a:lstStyle/>
          <a:p>
            <a:r>
              <a:rPr lang="en-US" sz="2300">
                <a:solidFill>
                  <a:srgbClr val="142735"/>
                </a:solidFill>
                <a:latin typeface="Aptos" panose="020B0004020202020204" pitchFamily="34" charset="0"/>
              </a:rPr>
              <a:t>Group by month, rank customers, or calculate country P75 from the same definition.</a:t>
            </a:r>
          </a:p>
        </p:txBody>
      </p:sp>
      <p:sp>
        <p:nvSpPr>
          <p:cNvPr id="9" name="TextBox 8">
            <a:extLst>
              <a:ext uri="{FF2B5EF4-FFF2-40B4-BE49-F238E27FC236}">
                <a16:creationId xmlns:a16="http://schemas.microsoft.com/office/drawing/2014/main" id="{B2192551-3A93-441D-2F5B-94DB62F366F0}"/>
              </a:ext>
            </a:extLst>
          </p:cNvPr>
          <p:cNvSpPr txBox="1"/>
          <p:nvPr/>
        </p:nvSpPr>
        <p:spPr>
          <a:xfrm>
            <a:off x="609600" y="4635500"/>
            <a:ext cx="3111500" cy="369332"/>
          </a:xfrm>
          <a:prstGeom prst="rect">
            <a:avLst/>
          </a:prstGeom>
          <a:noFill/>
        </p:spPr>
        <p:txBody>
          <a:bodyPr vert="horz" wrap="square" lIns="0" tIns="0" rIns="0" bIns="0" rtlCol="0">
            <a:spAutoFit/>
          </a:bodyPr>
          <a:lstStyle/>
          <a:p>
            <a:r>
              <a:rPr lang="en-US" sz="2400" b="1">
                <a:solidFill>
                  <a:srgbClr val="087F6B"/>
                </a:solidFill>
                <a:latin typeface="Aptos" panose="020B0004020202020204" pitchFamily="34" charset="0"/>
              </a:rPr>
              <a:t>Controlled changes</a:t>
            </a:r>
          </a:p>
        </p:txBody>
      </p:sp>
      <p:sp>
        <p:nvSpPr>
          <p:cNvPr id="10" name="TextBox 9">
            <a:extLst>
              <a:ext uri="{FF2B5EF4-FFF2-40B4-BE49-F238E27FC236}">
                <a16:creationId xmlns:a16="http://schemas.microsoft.com/office/drawing/2014/main" id="{D3A59CC7-4B35-B1B3-0C85-1A33551BDED0}"/>
              </a:ext>
            </a:extLst>
          </p:cNvPr>
          <p:cNvSpPr txBox="1"/>
          <p:nvPr/>
        </p:nvSpPr>
        <p:spPr>
          <a:xfrm>
            <a:off x="4127500" y="4635500"/>
            <a:ext cx="7366000" cy="1061829"/>
          </a:xfrm>
          <a:prstGeom prst="rect">
            <a:avLst/>
          </a:prstGeom>
          <a:noFill/>
        </p:spPr>
        <p:txBody>
          <a:bodyPr vert="horz" wrap="square" lIns="0" tIns="0" rIns="0" bIns="0" rtlCol="0">
            <a:spAutoFit/>
          </a:bodyPr>
          <a:lstStyle/>
          <a:p>
            <a:r>
              <a:rPr lang="en-US" sz="2300">
                <a:solidFill>
                  <a:srgbClr val="142735"/>
                </a:solidFill>
                <a:latin typeface="Aptos" panose="020B0004020202020204" pitchFamily="34" charset="0"/>
              </a:rPr>
              <a:t>Filter before Top 10 for the top customers in Germany. Filter after Top 10 for German customers in the global top ten.</a:t>
            </a:r>
          </a:p>
        </p:txBody>
      </p:sp>
    </p:spTree>
    <p:extLst>
      <p:ext uri="{BB962C8B-B14F-4D97-AF65-F5344CB8AC3E}">
        <p14:creationId xmlns:p14="http://schemas.microsoft.com/office/powerpoint/2010/main" val="53846299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8505897B-DBAC-0862-1435-2A239498A90C}"/>
              </a:ext>
            </a:extLst>
          </p:cNvPr>
          <p:cNvSpPr txBox="1"/>
          <p:nvPr/>
        </p:nvSpPr>
        <p:spPr>
          <a:xfrm>
            <a:off x="609600" y="444500"/>
            <a:ext cx="10972800" cy="523220"/>
          </a:xfrm>
          <a:prstGeom prst="rect">
            <a:avLst/>
          </a:prstGeom>
          <a:noFill/>
        </p:spPr>
        <p:txBody>
          <a:bodyPr vert="horz" wrap="square" lIns="0" tIns="0" rIns="0" bIns="0" rtlCol="0">
            <a:spAutoFit/>
          </a:bodyPr>
          <a:lstStyle/>
          <a:p>
            <a:r>
              <a:rPr lang="en-US" sz="3400" b="1">
                <a:solidFill>
                  <a:srgbClr val="142735"/>
                </a:solidFill>
                <a:latin typeface="Aptos" panose="020B0004020202020204" pitchFamily="34" charset="0"/>
              </a:rPr>
              <a:t>Responsibilities across the stack</a:t>
            </a:r>
          </a:p>
        </p:txBody>
      </p:sp>
      <p:sp>
        <p:nvSpPr>
          <p:cNvPr id="3" name="TextBox 2">
            <a:extLst>
              <a:ext uri="{FF2B5EF4-FFF2-40B4-BE49-F238E27FC236}">
                <a16:creationId xmlns:a16="http://schemas.microsoft.com/office/drawing/2014/main" id="{1C1E43DC-9066-9A10-B9A9-44A3D8D839F3}"/>
              </a:ext>
            </a:extLst>
          </p:cNvPr>
          <p:cNvSpPr txBox="1"/>
          <p:nvPr/>
        </p:nvSpPr>
        <p:spPr>
          <a:xfrm>
            <a:off x="609600" y="6464300"/>
            <a:ext cx="10414000" cy="169277"/>
          </a:xfrm>
          <a:prstGeom prst="rect">
            <a:avLst/>
          </a:prstGeom>
          <a:noFill/>
        </p:spPr>
        <p:txBody>
          <a:bodyPr vert="horz" wrap="square" lIns="0" tIns="0" rIns="0" bIns="0" rtlCol="0">
            <a:spAutoFit/>
          </a:bodyPr>
          <a:lstStyle/>
          <a:p>
            <a:r>
              <a:rPr lang="en-US" sz="1100">
                <a:solidFill>
                  <a:srgbClr val="526471"/>
                </a:solidFill>
                <a:latin typeface="Aptos" panose="020B0004020202020204" pitchFamily="34" charset="0"/>
              </a:rPr>
              <a:t>Po-wei Huang / Golden query prototype / October 2026</a:t>
            </a:r>
          </a:p>
        </p:txBody>
      </p:sp>
      <p:sp>
        <p:nvSpPr>
          <p:cNvPr id="4" name="TextBox 3">
            <a:extLst>
              <a:ext uri="{FF2B5EF4-FFF2-40B4-BE49-F238E27FC236}">
                <a16:creationId xmlns:a16="http://schemas.microsoft.com/office/drawing/2014/main" id="{1EE861C1-3ACA-D0AA-D486-79965BD99F98}"/>
              </a:ext>
            </a:extLst>
          </p:cNvPr>
          <p:cNvSpPr txBox="1"/>
          <p:nvPr/>
        </p:nvSpPr>
        <p:spPr>
          <a:xfrm>
            <a:off x="11430000" y="6464300"/>
            <a:ext cx="381000" cy="169277"/>
          </a:xfrm>
          <a:prstGeom prst="rect">
            <a:avLst/>
          </a:prstGeom>
          <a:noFill/>
        </p:spPr>
        <p:txBody>
          <a:bodyPr vert="horz" wrap="square" lIns="0" tIns="0" rIns="0" bIns="0" rtlCol="0">
            <a:spAutoFit/>
          </a:bodyPr>
          <a:lstStyle/>
          <a:p>
            <a:r>
              <a:rPr lang="en-US" sz="1100">
                <a:solidFill>
                  <a:srgbClr val="526471"/>
                </a:solidFill>
                <a:latin typeface="Aptos" panose="020B0004020202020204" pitchFamily="34" charset="0"/>
              </a:rPr>
              <a:t>5</a:t>
            </a:r>
          </a:p>
        </p:txBody>
      </p:sp>
      <p:graphicFrame>
        <p:nvGraphicFramePr>
          <p:cNvPr id="5" name="Table 4">
            <a:extLst>
              <a:ext uri="{FF2B5EF4-FFF2-40B4-BE49-F238E27FC236}">
                <a16:creationId xmlns:a16="http://schemas.microsoft.com/office/drawing/2014/main" id="{D98F1E2A-FADC-186D-0F77-D7FB6E380C66}"/>
              </a:ext>
            </a:extLst>
          </p:cNvPr>
          <p:cNvGraphicFramePr>
            <a:graphicFrameLocks noGrp="1"/>
          </p:cNvGraphicFramePr>
          <p:nvPr>
            <p:extLst>
              <p:ext uri="{D42A27DB-BD31-4B8C-83A1-F6EECF244321}">
                <p14:modId xmlns:p14="http://schemas.microsoft.com/office/powerpoint/2010/main" val="65201331"/>
              </p:ext>
            </p:extLst>
          </p:nvPr>
        </p:nvGraphicFramePr>
        <p:xfrm>
          <a:off x="609600" y="1778000"/>
          <a:ext cx="10972800" cy="3683000"/>
        </p:xfrm>
        <a:graphic>
          <a:graphicData uri="http://schemas.openxmlformats.org/drawingml/2006/table">
            <a:tbl>
              <a:tblPr firstRow="1" bandRow="1">
                <a:tableStyleId>{5C22544A-7EE6-4342-B048-85BDC9FD1C3A}</a:tableStyleId>
              </a:tblPr>
              <a:tblGrid>
                <a:gridCol w="5486400">
                  <a:extLst>
                    <a:ext uri="{9D8B030D-6E8A-4147-A177-3AD203B41FA5}">
                      <a16:colId xmlns:a16="http://schemas.microsoft.com/office/drawing/2014/main" val="1981439037"/>
                    </a:ext>
                  </a:extLst>
                </a:gridCol>
                <a:gridCol w="5486400">
                  <a:extLst>
                    <a:ext uri="{9D8B030D-6E8A-4147-A177-3AD203B41FA5}">
                      <a16:colId xmlns:a16="http://schemas.microsoft.com/office/drawing/2014/main" val="240490922"/>
                    </a:ext>
                  </a:extLst>
                </a:gridCol>
              </a:tblGrid>
              <a:tr h="736600">
                <a:tc>
                  <a:txBody>
                    <a:bodyPr/>
                    <a:lstStyle/>
                    <a:p>
                      <a:r>
                        <a:rPr lang="en-US" sz="2000">
                          <a:solidFill>
                            <a:srgbClr val="FFFFFF"/>
                          </a:solidFill>
                          <a:latin typeface="Aptos" panose="020B0004020202020204" pitchFamily="34" charset="0"/>
                        </a:rPr>
                        <a:t>Layer</a:t>
                      </a:r>
                    </a:p>
                  </a:txBody>
                  <a:tcPr>
                    <a:solidFill>
                      <a:srgbClr val="087F6B"/>
                    </a:solidFill>
                  </a:tcPr>
                </a:tc>
                <a:tc>
                  <a:txBody>
                    <a:bodyPr/>
                    <a:lstStyle/>
                    <a:p>
                      <a:r>
                        <a:rPr lang="en-US" sz="2000">
                          <a:solidFill>
                            <a:srgbClr val="FFFFFF"/>
                          </a:solidFill>
                          <a:latin typeface="Aptos" panose="020B0004020202020204" pitchFamily="34" charset="0"/>
                        </a:rPr>
                        <a:t>Responsibility</a:t>
                      </a:r>
                    </a:p>
                  </a:txBody>
                  <a:tcPr>
                    <a:solidFill>
                      <a:srgbClr val="087F6B"/>
                    </a:solidFill>
                  </a:tcPr>
                </a:tc>
                <a:extLst>
                  <a:ext uri="{0D108BD9-81ED-4DB2-BD59-A6C34878D82A}">
                    <a16:rowId xmlns:a16="http://schemas.microsoft.com/office/drawing/2014/main" val="2714728861"/>
                  </a:ext>
                </a:extLst>
              </a:tr>
              <a:tr h="736600">
                <a:tc>
                  <a:txBody>
                    <a:bodyPr/>
                    <a:lstStyle/>
                    <a:p>
                      <a:r>
                        <a:rPr lang="en-US" sz="2000">
                          <a:solidFill>
                            <a:srgbClr val="142735"/>
                          </a:solidFill>
                          <a:latin typeface="Aptos" panose="020B0004020202020204" pitchFamily="34" charset="0"/>
                        </a:rPr>
                        <a:t>LLM and semantic model</a:t>
                      </a:r>
                    </a:p>
                  </a:txBody>
                  <a:tcPr>
                    <a:solidFill>
                      <a:srgbClr val="F2F6F5"/>
                    </a:solidFill>
                  </a:tcPr>
                </a:tc>
                <a:tc>
                  <a:txBody>
                    <a:bodyPr/>
                    <a:lstStyle/>
                    <a:p>
                      <a:r>
                        <a:rPr lang="en-US" sz="2000">
                          <a:solidFill>
                            <a:srgbClr val="142735"/>
                          </a:solidFill>
                          <a:latin typeface="Aptos" panose="020B0004020202020204" pitchFamily="34" charset="0"/>
                        </a:rPr>
                        <a:t>Choose metrics, dimensions and filter scope</a:t>
                      </a:r>
                    </a:p>
                  </a:txBody>
                  <a:tcPr>
                    <a:solidFill>
                      <a:srgbClr val="F2F6F5"/>
                    </a:solidFill>
                  </a:tcPr>
                </a:tc>
                <a:extLst>
                  <a:ext uri="{0D108BD9-81ED-4DB2-BD59-A6C34878D82A}">
                    <a16:rowId xmlns:a16="http://schemas.microsoft.com/office/drawing/2014/main" val="2381757019"/>
                  </a:ext>
                </a:extLst>
              </a:tr>
              <a:tr h="736600">
                <a:tc>
                  <a:txBody>
                    <a:bodyPr/>
                    <a:lstStyle/>
                    <a:p>
                      <a:r>
                        <a:rPr lang="en-US" sz="2000">
                          <a:solidFill>
                            <a:srgbClr val="142735"/>
                          </a:solidFill>
                          <a:latin typeface="Aptos" panose="020B0004020202020204" pitchFamily="34" charset="0"/>
                        </a:rPr>
                        <a:t>Typed API and relational IR</a:t>
                      </a:r>
                    </a:p>
                  </a:txBody>
                  <a:tcPr>
                    <a:solidFill>
                      <a:srgbClr val="F2F6F5"/>
                    </a:solidFill>
                  </a:tcPr>
                </a:tc>
                <a:tc>
                  <a:txBody>
                    <a:bodyPr/>
                    <a:lstStyle/>
                    <a:p>
                      <a:r>
                        <a:rPr lang="en-US" sz="2000">
                          <a:solidFill>
                            <a:srgbClr val="142735"/>
                          </a:solidFill>
                          <a:latin typeface="Aptos" panose="020B0004020202020204" pitchFamily="34" charset="0"/>
                        </a:rPr>
                        <a:t>Represent and validate query composition</a:t>
                      </a:r>
                    </a:p>
                  </a:txBody>
                  <a:tcPr>
                    <a:solidFill>
                      <a:srgbClr val="F2F6F5"/>
                    </a:solidFill>
                  </a:tcPr>
                </a:tc>
                <a:extLst>
                  <a:ext uri="{0D108BD9-81ED-4DB2-BD59-A6C34878D82A}">
                    <a16:rowId xmlns:a16="http://schemas.microsoft.com/office/drawing/2014/main" val="1123313950"/>
                  </a:ext>
                </a:extLst>
              </a:tr>
              <a:tr h="736600">
                <a:tc>
                  <a:txBody>
                    <a:bodyPr/>
                    <a:lstStyle/>
                    <a:p>
                      <a:r>
                        <a:rPr lang="en-US" sz="2000">
                          <a:solidFill>
                            <a:srgbClr val="142735"/>
                          </a:solidFill>
                          <a:latin typeface="Aptos" panose="020B0004020202020204" pitchFamily="34" charset="0"/>
                        </a:rPr>
                        <a:t>Compiler and capabilities</a:t>
                      </a:r>
                    </a:p>
                  </a:txBody>
                  <a:tcPr>
                    <a:solidFill>
                      <a:srgbClr val="F2F6F5"/>
                    </a:solidFill>
                  </a:tcPr>
                </a:tc>
                <a:tc>
                  <a:txBody>
                    <a:bodyPr/>
                    <a:lstStyle/>
                    <a:p>
                      <a:r>
                        <a:rPr lang="en-US" sz="2000">
                          <a:solidFill>
                            <a:srgbClr val="142735"/>
                          </a:solidFill>
                          <a:latin typeface="Aptos" panose="020B0004020202020204" pitchFamily="34" charset="0"/>
                        </a:rPr>
                        <a:t>Choose native SQL or a supported rewrite</a:t>
                      </a:r>
                    </a:p>
                  </a:txBody>
                  <a:tcPr>
                    <a:solidFill>
                      <a:srgbClr val="F2F6F5"/>
                    </a:solidFill>
                  </a:tcPr>
                </a:tc>
                <a:extLst>
                  <a:ext uri="{0D108BD9-81ED-4DB2-BD59-A6C34878D82A}">
                    <a16:rowId xmlns:a16="http://schemas.microsoft.com/office/drawing/2014/main" val="851010518"/>
                  </a:ext>
                </a:extLst>
              </a:tr>
              <a:tr h="736600">
                <a:tc>
                  <a:txBody>
                    <a:bodyPr/>
                    <a:lstStyle/>
                    <a:p>
                      <a:r>
                        <a:rPr lang="en-US" sz="2000">
                          <a:solidFill>
                            <a:srgbClr val="142735"/>
                          </a:solidFill>
                          <a:latin typeface="Aptos" panose="020B0004020202020204" pitchFamily="34" charset="0"/>
                        </a:rPr>
                        <a:t>Database and visual service</a:t>
                      </a:r>
                    </a:p>
                  </a:txBody>
                  <a:tcPr>
                    <a:solidFill>
                      <a:srgbClr val="F2F6F5"/>
                    </a:solidFill>
                  </a:tcPr>
                </a:tc>
                <a:tc>
                  <a:txBody>
                    <a:bodyPr/>
                    <a:lstStyle/>
                    <a:p>
                      <a:r>
                        <a:rPr lang="en-US" sz="2000">
                          <a:solidFill>
                            <a:srgbClr val="142735"/>
                          </a:solidFill>
                          <a:latin typeface="Aptos" panose="020B0004020202020204" pitchFamily="34" charset="0"/>
                        </a:rPr>
                        <a:t>Execute queries and render the results</a:t>
                      </a:r>
                    </a:p>
                  </a:txBody>
                  <a:tcPr>
                    <a:solidFill>
                      <a:srgbClr val="F2F6F5"/>
                    </a:solidFill>
                  </a:tcPr>
                </a:tc>
                <a:extLst>
                  <a:ext uri="{0D108BD9-81ED-4DB2-BD59-A6C34878D82A}">
                    <a16:rowId xmlns:a16="http://schemas.microsoft.com/office/drawing/2014/main" val="3617745567"/>
                  </a:ext>
                </a:extLst>
              </a:tr>
            </a:tbl>
          </a:graphicData>
        </a:graphic>
      </p:graphicFrame>
      <p:sp>
        <p:nvSpPr>
          <p:cNvPr id="6" name="TextBox 5">
            <a:extLst>
              <a:ext uri="{FF2B5EF4-FFF2-40B4-BE49-F238E27FC236}">
                <a16:creationId xmlns:a16="http://schemas.microsoft.com/office/drawing/2014/main" id="{A44E62C2-8FCB-A64F-F0EA-C57A5A6DF371}"/>
              </a:ext>
            </a:extLst>
          </p:cNvPr>
          <p:cNvSpPr txBox="1"/>
          <p:nvPr/>
        </p:nvSpPr>
        <p:spPr>
          <a:xfrm>
            <a:off x="609600" y="5715000"/>
            <a:ext cx="10972800" cy="307777"/>
          </a:xfrm>
          <a:prstGeom prst="rect">
            <a:avLst/>
          </a:prstGeom>
          <a:noFill/>
        </p:spPr>
        <p:txBody>
          <a:bodyPr vert="horz" wrap="square" lIns="0" tIns="0" rIns="0" bIns="0" rtlCol="0">
            <a:spAutoFit/>
          </a:bodyPr>
          <a:lstStyle/>
          <a:p>
            <a:r>
              <a:rPr lang="en-US" sz="2000">
                <a:solidFill>
                  <a:srgbClr val="526471"/>
                </a:solidFill>
                <a:latin typeface="Aptos" panose="020B0004020202020204" pitchFamily="34" charset="0"/>
              </a:rPr>
              <a:t>Current IR: constrained Substrait. Full semantic modeling remains proposed.</a:t>
            </a:r>
          </a:p>
        </p:txBody>
      </p:sp>
    </p:spTree>
    <p:extLst>
      <p:ext uri="{BB962C8B-B14F-4D97-AF65-F5344CB8AC3E}">
        <p14:creationId xmlns:p14="http://schemas.microsoft.com/office/powerpoint/2010/main" val="214366862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E6F92DB7-C81E-1FDE-BD4B-649446376C1D}"/>
              </a:ext>
            </a:extLst>
          </p:cNvPr>
          <p:cNvSpPr txBox="1"/>
          <p:nvPr/>
        </p:nvSpPr>
        <p:spPr>
          <a:xfrm>
            <a:off x="609600" y="444500"/>
            <a:ext cx="10972800" cy="523220"/>
          </a:xfrm>
          <a:prstGeom prst="rect">
            <a:avLst/>
          </a:prstGeom>
          <a:noFill/>
        </p:spPr>
        <p:txBody>
          <a:bodyPr vert="horz" wrap="square" lIns="0" tIns="0" rIns="0" bIns="0" rtlCol="0">
            <a:spAutoFit/>
          </a:bodyPr>
          <a:lstStyle/>
          <a:p>
            <a:r>
              <a:rPr lang="en-US" sz="3400" b="1">
                <a:solidFill>
                  <a:srgbClr val="142735"/>
                </a:solidFill>
                <a:latin typeface="Aptos" panose="020B0004020202020204" pitchFamily="34" charset="0"/>
              </a:rPr>
              <a:t>Verification beyond executable SQL</a:t>
            </a:r>
          </a:p>
        </p:txBody>
      </p:sp>
      <p:sp>
        <p:nvSpPr>
          <p:cNvPr id="3" name="TextBox 2">
            <a:extLst>
              <a:ext uri="{FF2B5EF4-FFF2-40B4-BE49-F238E27FC236}">
                <a16:creationId xmlns:a16="http://schemas.microsoft.com/office/drawing/2014/main" id="{410B1128-AFA9-2997-965F-A9CD8DE924ED}"/>
              </a:ext>
            </a:extLst>
          </p:cNvPr>
          <p:cNvSpPr txBox="1"/>
          <p:nvPr/>
        </p:nvSpPr>
        <p:spPr>
          <a:xfrm>
            <a:off x="609600" y="6464300"/>
            <a:ext cx="10414000" cy="169277"/>
          </a:xfrm>
          <a:prstGeom prst="rect">
            <a:avLst/>
          </a:prstGeom>
          <a:noFill/>
        </p:spPr>
        <p:txBody>
          <a:bodyPr vert="horz" wrap="square" lIns="0" tIns="0" rIns="0" bIns="0" rtlCol="0">
            <a:spAutoFit/>
          </a:bodyPr>
          <a:lstStyle/>
          <a:p>
            <a:r>
              <a:rPr lang="en-US" sz="1100">
                <a:solidFill>
                  <a:srgbClr val="526471"/>
                </a:solidFill>
                <a:latin typeface="Aptos" panose="020B0004020202020204" pitchFamily="34" charset="0"/>
              </a:rPr>
              <a:t>Po-wei Huang / Golden query prototype / October 2026</a:t>
            </a:r>
          </a:p>
        </p:txBody>
      </p:sp>
      <p:sp>
        <p:nvSpPr>
          <p:cNvPr id="4" name="TextBox 3">
            <a:extLst>
              <a:ext uri="{FF2B5EF4-FFF2-40B4-BE49-F238E27FC236}">
                <a16:creationId xmlns:a16="http://schemas.microsoft.com/office/drawing/2014/main" id="{60B973C6-2243-D5E1-C997-AE9E12385DDE}"/>
              </a:ext>
            </a:extLst>
          </p:cNvPr>
          <p:cNvSpPr txBox="1"/>
          <p:nvPr/>
        </p:nvSpPr>
        <p:spPr>
          <a:xfrm>
            <a:off x="11430000" y="6464300"/>
            <a:ext cx="381000" cy="169277"/>
          </a:xfrm>
          <a:prstGeom prst="rect">
            <a:avLst/>
          </a:prstGeom>
          <a:noFill/>
        </p:spPr>
        <p:txBody>
          <a:bodyPr vert="horz" wrap="square" lIns="0" tIns="0" rIns="0" bIns="0" rtlCol="0">
            <a:spAutoFit/>
          </a:bodyPr>
          <a:lstStyle/>
          <a:p>
            <a:r>
              <a:rPr lang="en-US" sz="1100">
                <a:solidFill>
                  <a:srgbClr val="526471"/>
                </a:solidFill>
                <a:latin typeface="Aptos" panose="020B0004020202020204" pitchFamily="34" charset="0"/>
              </a:rPr>
              <a:t>6</a:t>
            </a:r>
          </a:p>
        </p:txBody>
      </p:sp>
      <p:sp>
        <p:nvSpPr>
          <p:cNvPr id="5" name="TextBox 4">
            <a:extLst>
              <a:ext uri="{FF2B5EF4-FFF2-40B4-BE49-F238E27FC236}">
                <a16:creationId xmlns:a16="http://schemas.microsoft.com/office/drawing/2014/main" id="{C90AA105-1166-2127-4150-5AD1E91F57ED}"/>
              </a:ext>
            </a:extLst>
          </p:cNvPr>
          <p:cNvSpPr txBox="1"/>
          <p:nvPr/>
        </p:nvSpPr>
        <p:spPr>
          <a:xfrm>
            <a:off x="609600" y="1778000"/>
            <a:ext cx="10972800" cy="415498"/>
          </a:xfrm>
          <a:prstGeom prst="rect">
            <a:avLst/>
          </a:prstGeom>
          <a:noFill/>
        </p:spPr>
        <p:txBody>
          <a:bodyPr vert="horz" wrap="square" lIns="0" tIns="0" rIns="0" bIns="0" rtlCol="0">
            <a:spAutoFit/>
          </a:bodyPr>
          <a:lstStyle/>
          <a:p>
            <a:r>
              <a:rPr lang="en-US" sz="2700" b="1">
                <a:solidFill>
                  <a:srgbClr val="142735"/>
                </a:solidFill>
                <a:latin typeface="Aptos" panose="020B0004020202020204" pitchFamily="34" charset="0"/>
              </a:rPr>
              <a:t>One order. Freight $10. Three lines worth $100 each.</a:t>
            </a:r>
          </a:p>
        </p:txBody>
      </p:sp>
      <p:graphicFrame>
        <p:nvGraphicFramePr>
          <p:cNvPr id="6" name="Table 5">
            <a:extLst>
              <a:ext uri="{FF2B5EF4-FFF2-40B4-BE49-F238E27FC236}">
                <a16:creationId xmlns:a16="http://schemas.microsoft.com/office/drawing/2014/main" id="{D9EE6583-2619-D788-A1A2-E0EF151FC972}"/>
              </a:ext>
            </a:extLst>
          </p:cNvPr>
          <p:cNvGraphicFramePr>
            <a:graphicFrameLocks noGrp="1"/>
          </p:cNvGraphicFramePr>
          <p:nvPr>
            <p:extLst>
              <p:ext uri="{D42A27DB-BD31-4B8C-83A1-F6EECF244321}">
                <p14:modId xmlns:p14="http://schemas.microsoft.com/office/powerpoint/2010/main" val="154363300"/>
              </p:ext>
            </p:extLst>
          </p:nvPr>
        </p:nvGraphicFramePr>
        <p:xfrm>
          <a:off x="609600" y="2857500"/>
          <a:ext cx="10972800" cy="2222500"/>
        </p:xfrm>
        <a:graphic>
          <a:graphicData uri="http://schemas.openxmlformats.org/drawingml/2006/table">
            <a:tbl>
              <a:tblPr firstRow="1" bandRow="1">
                <a:tableStyleId>{5C22544A-7EE6-4342-B048-85BDC9FD1C3A}</a:tableStyleId>
              </a:tblPr>
              <a:tblGrid>
                <a:gridCol w="5486400">
                  <a:extLst>
                    <a:ext uri="{9D8B030D-6E8A-4147-A177-3AD203B41FA5}">
                      <a16:colId xmlns:a16="http://schemas.microsoft.com/office/drawing/2014/main" val="3111908524"/>
                    </a:ext>
                  </a:extLst>
                </a:gridCol>
                <a:gridCol w="5486400">
                  <a:extLst>
                    <a:ext uri="{9D8B030D-6E8A-4147-A177-3AD203B41FA5}">
                      <a16:colId xmlns:a16="http://schemas.microsoft.com/office/drawing/2014/main" val="3885372378"/>
                    </a:ext>
                  </a:extLst>
                </a:gridCol>
              </a:tblGrid>
              <a:tr h="740833">
                <a:tc>
                  <a:txBody>
                    <a:bodyPr/>
                    <a:lstStyle/>
                    <a:p>
                      <a:r>
                        <a:rPr lang="en-US" sz="2000">
                          <a:solidFill>
                            <a:srgbClr val="FFFFFF"/>
                          </a:solidFill>
                          <a:latin typeface="Aptos" panose="020B0004020202020204" pitchFamily="34" charset="0"/>
                        </a:rPr>
                        <a:t>Calculation</a:t>
                      </a:r>
                    </a:p>
                  </a:txBody>
                  <a:tcPr>
                    <a:solidFill>
                      <a:srgbClr val="087F6B"/>
                    </a:solidFill>
                  </a:tcPr>
                </a:tc>
                <a:tc>
                  <a:txBody>
                    <a:bodyPr/>
                    <a:lstStyle/>
                    <a:p>
                      <a:r>
                        <a:rPr lang="en-US" sz="2000">
                          <a:solidFill>
                            <a:srgbClr val="FFFFFF"/>
                          </a:solidFill>
                          <a:latin typeface="Aptos" panose="020B0004020202020204" pitchFamily="34" charset="0"/>
                        </a:rPr>
                        <a:t>Freight ratio</a:t>
                      </a:r>
                    </a:p>
                  </a:txBody>
                  <a:tcPr>
                    <a:solidFill>
                      <a:srgbClr val="087F6B"/>
                    </a:solidFill>
                  </a:tcPr>
                </a:tc>
                <a:extLst>
                  <a:ext uri="{0D108BD9-81ED-4DB2-BD59-A6C34878D82A}">
                    <a16:rowId xmlns:a16="http://schemas.microsoft.com/office/drawing/2014/main" val="2754437795"/>
                  </a:ext>
                </a:extLst>
              </a:tr>
              <a:tr h="740833">
                <a:tc>
                  <a:txBody>
                    <a:bodyPr/>
                    <a:lstStyle/>
                    <a:p>
                      <a:r>
                        <a:rPr lang="en-US" sz="2000">
                          <a:solidFill>
                            <a:srgbClr val="142735"/>
                          </a:solidFill>
                          <a:latin typeface="Aptos" panose="020B0004020202020204" pitchFamily="34" charset="0"/>
                        </a:rPr>
                        <a:t>Correct order-level freight: 10 / 300</a:t>
                      </a:r>
                    </a:p>
                  </a:txBody>
                  <a:tcPr>
                    <a:solidFill>
                      <a:srgbClr val="F2F6F5"/>
                    </a:solidFill>
                  </a:tcPr>
                </a:tc>
                <a:tc>
                  <a:txBody>
                    <a:bodyPr/>
                    <a:lstStyle/>
                    <a:p>
                      <a:r>
                        <a:rPr lang="en-US" sz="2000">
                          <a:solidFill>
                            <a:srgbClr val="142735"/>
                          </a:solidFill>
                          <a:latin typeface="Aptos" panose="020B0004020202020204" pitchFamily="34" charset="0"/>
                        </a:rPr>
                        <a:t>3.33%</a:t>
                      </a:r>
                    </a:p>
                  </a:txBody>
                  <a:tcPr>
                    <a:solidFill>
                      <a:srgbClr val="F2F6F5"/>
                    </a:solidFill>
                  </a:tcPr>
                </a:tc>
                <a:extLst>
                  <a:ext uri="{0D108BD9-81ED-4DB2-BD59-A6C34878D82A}">
                    <a16:rowId xmlns:a16="http://schemas.microsoft.com/office/drawing/2014/main" val="3217939624"/>
                  </a:ext>
                </a:extLst>
              </a:tr>
              <a:tr h="740833">
                <a:tc>
                  <a:txBody>
                    <a:bodyPr/>
                    <a:lstStyle/>
                    <a:p>
                      <a:r>
                        <a:rPr lang="en-US" sz="2000">
                          <a:solidFill>
                            <a:srgbClr val="142735"/>
                          </a:solidFill>
                          <a:latin typeface="Aptos" panose="020B0004020202020204" pitchFamily="34" charset="0"/>
                        </a:rPr>
                        <a:t>Repeated freight after join: 30 / 300</a:t>
                      </a:r>
                    </a:p>
                  </a:txBody>
                  <a:tcPr>
                    <a:solidFill>
                      <a:srgbClr val="F2F6F5"/>
                    </a:solidFill>
                  </a:tcPr>
                </a:tc>
                <a:tc>
                  <a:txBody>
                    <a:bodyPr/>
                    <a:lstStyle/>
                    <a:p>
                      <a:r>
                        <a:rPr lang="en-US" sz="2000">
                          <a:solidFill>
                            <a:srgbClr val="142735"/>
                          </a:solidFill>
                          <a:latin typeface="Aptos" panose="020B0004020202020204" pitchFamily="34" charset="0"/>
                        </a:rPr>
                        <a:t>10.00%</a:t>
                      </a:r>
                    </a:p>
                  </a:txBody>
                  <a:tcPr>
                    <a:solidFill>
                      <a:srgbClr val="F2F6F5"/>
                    </a:solidFill>
                  </a:tcPr>
                </a:tc>
                <a:extLst>
                  <a:ext uri="{0D108BD9-81ED-4DB2-BD59-A6C34878D82A}">
                    <a16:rowId xmlns:a16="http://schemas.microsoft.com/office/drawing/2014/main" val="2178511472"/>
                  </a:ext>
                </a:extLst>
              </a:tr>
            </a:tbl>
          </a:graphicData>
        </a:graphic>
      </p:graphicFrame>
      <p:sp>
        <p:nvSpPr>
          <p:cNvPr id="7" name="TextBox 6">
            <a:extLst>
              <a:ext uri="{FF2B5EF4-FFF2-40B4-BE49-F238E27FC236}">
                <a16:creationId xmlns:a16="http://schemas.microsoft.com/office/drawing/2014/main" id="{482F5B09-366D-C04A-DD01-B1E87ECE4363}"/>
              </a:ext>
            </a:extLst>
          </p:cNvPr>
          <p:cNvSpPr txBox="1"/>
          <p:nvPr/>
        </p:nvSpPr>
        <p:spPr>
          <a:xfrm>
            <a:off x="609600" y="5524500"/>
            <a:ext cx="10972800" cy="384721"/>
          </a:xfrm>
          <a:prstGeom prst="rect">
            <a:avLst/>
          </a:prstGeom>
          <a:noFill/>
        </p:spPr>
        <p:txBody>
          <a:bodyPr vert="horz" wrap="square" lIns="0" tIns="0" rIns="0" bIns="0" rtlCol="0">
            <a:spAutoFit/>
          </a:bodyPr>
          <a:lstStyle/>
          <a:p>
            <a:r>
              <a:rPr lang="en-US" sz="2500" b="1">
                <a:solidFill>
                  <a:srgbClr val="087F6B"/>
                </a:solidFill>
                <a:latin typeface="Aptos" panose="020B0004020202020204" pitchFamily="34" charset="0"/>
              </a:rPr>
              <a:t>Both queries execute. A small counterexample distinguishes them.</a:t>
            </a:r>
          </a:p>
        </p:txBody>
      </p:sp>
    </p:spTree>
    <p:extLst>
      <p:ext uri="{BB962C8B-B14F-4D97-AF65-F5344CB8AC3E}">
        <p14:creationId xmlns:p14="http://schemas.microsoft.com/office/powerpoint/2010/main" val="59511105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43BE6558-B059-2781-66F0-B9B58B1207C7}"/>
              </a:ext>
            </a:extLst>
          </p:cNvPr>
          <p:cNvSpPr txBox="1"/>
          <p:nvPr/>
        </p:nvSpPr>
        <p:spPr>
          <a:xfrm>
            <a:off x="609600" y="444500"/>
            <a:ext cx="10972800" cy="523220"/>
          </a:xfrm>
          <a:prstGeom prst="rect">
            <a:avLst/>
          </a:prstGeom>
          <a:noFill/>
        </p:spPr>
        <p:txBody>
          <a:bodyPr vert="horz" wrap="square" lIns="0" tIns="0" rIns="0" bIns="0" rtlCol="0">
            <a:spAutoFit/>
          </a:bodyPr>
          <a:lstStyle/>
          <a:p>
            <a:r>
              <a:rPr lang="en-US" sz="3400" b="1">
                <a:solidFill>
                  <a:srgbClr val="142735"/>
                </a:solidFill>
                <a:latin typeface="Aptos" panose="020B0004020202020204" pitchFamily="34" charset="0"/>
              </a:rPr>
              <a:t>Float precision and display rounding</a:t>
            </a:r>
          </a:p>
        </p:txBody>
      </p:sp>
      <p:sp>
        <p:nvSpPr>
          <p:cNvPr id="3" name="TextBox 2">
            <a:extLst>
              <a:ext uri="{FF2B5EF4-FFF2-40B4-BE49-F238E27FC236}">
                <a16:creationId xmlns:a16="http://schemas.microsoft.com/office/drawing/2014/main" id="{32B201B2-AF6E-391A-DDD2-96A0FC71D6D1}"/>
              </a:ext>
            </a:extLst>
          </p:cNvPr>
          <p:cNvSpPr txBox="1"/>
          <p:nvPr/>
        </p:nvSpPr>
        <p:spPr>
          <a:xfrm>
            <a:off x="609600" y="6464300"/>
            <a:ext cx="10414000" cy="169277"/>
          </a:xfrm>
          <a:prstGeom prst="rect">
            <a:avLst/>
          </a:prstGeom>
          <a:noFill/>
        </p:spPr>
        <p:txBody>
          <a:bodyPr vert="horz" wrap="square" lIns="0" tIns="0" rIns="0" bIns="0" rtlCol="0">
            <a:spAutoFit/>
          </a:bodyPr>
          <a:lstStyle/>
          <a:p>
            <a:r>
              <a:rPr lang="en-US" sz="1100">
                <a:solidFill>
                  <a:srgbClr val="526471"/>
                </a:solidFill>
                <a:latin typeface="Aptos" panose="020B0004020202020204" pitchFamily="34" charset="0"/>
              </a:rPr>
              <a:t>Po-wei Huang / Golden query prototype / October 2026</a:t>
            </a:r>
          </a:p>
        </p:txBody>
      </p:sp>
      <p:sp>
        <p:nvSpPr>
          <p:cNvPr id="4" name="TextBox 3">
            <a:extLst>
              <a:ext uri="{FF2B5EF4-FFF2-40B4-BE49-F238E27FC236}">
                <a16:creationId xmlns:a16="http://schemas.microsoft.com/office/drawing/2014/main" id="{7E066A49-6BB7-5E14-91AF-55186C0B8C28}"/>
              </a:ext>
            </a:extLst>
          </p:cNvPr>
          <p:cNvSpPr txBox="1"/>
          <p:nvPr/>
        </p:nvSpPr>
        <p:spPr>
          <a:xfrm>
            <a:off x="11430000" y="6464300"/>
            <a:ext cx="381000" cy="169277"/>
          </a:xfrm>
          <a:prstGeom prst="rect">
            <a:avLst/>
          </a:prstGeom>
          <a:noFill/>
        </p:spPr>
        <p:txBody>
          <a:bodyPr vert="horz" wrap="square" lIns="0" tIns="0" rIns="0" bIns="0" rtlCol="0">
            <a:spAutoFit/>
          </a:bodyPr>
          <a:lstStyle/>
          <a:p>
            <a:r>
              <a:rPr lang="en-US" sz="1100">
                <a:solidFill>
                  <a:srgbClr val="526471"/>
                </a:solidFill>
                <a:latin typeface="Aptos" panose="020B0004020202020204" pitchFamily="34" charset="0"/>
              </a:rPr>
              <a:t>7</a:t>
            </a:r>
          </a:p>
        </p:txBody>
      </p:sp>
      <p:sp>
        <p:nvSpPr>
          <p:cNvPr id="5" name="TextBox 4">
            <a:extLst>
              <a:ext uri="{FF2B5EF4-FFF2-40B4-BE49-F238E27FC236}">
                <a16:creationId xmlns:a16="http://schemas.microsoft.com/office/drawing/2014/main" id="{3EE91A68-E7A7-C440-1C0D-7A4CB1AC01E2}"/>
              </a:ext>
            </a:extLst>
          </p:cNvPr>
          <p:cNvSpPr txBox="1"/>
          <p:nvPr/>
        </p:nvSpPr>
        <p:spPr>
          <a:xfrm>
            <a:off x="609600" y="1714500"/>
            <a:ext cx="3111500" cy="369332"/>
          </a:xfrm>
          <a:prstGeom prst="rect">
            <a:avLst/>
          </a:prstGeom>
          <a:noFill/>
        </p:spPr>
        <p:txBody>
          <a:bodyPr vert="horz" wrap="square" lIns="0" tIns="0" rIns="0" bIns="0" rtlCol="0">
            <a:spAutoFit/>
          </a:bodyPr>
          <a:lstStyle/>
          <a:p>
            <a:r>
              <a:rPr lang="en-US" sz="2400" b="1">
                <a:solidFill>
                  <a:srgbClr val="087F6B"/>
                </a:solidFill>
                <a:latin typeface="Aptos" panose="020B0004020202020204" pitchFamily="34" charset="0"/>
              </a:rPr>
              <a:t>FLOAT64</a:t>
            </a:r>
          </a:p>
        </p:txBody>
      </p:sp>
      <p:sp>
        <p:nvSpPr>
          <p:cNvPr id="6" name="TextBox 5">
            <a:extLst>
              <a:ext uri="{FF2B5EF4-FFF2-40B4-BE49-F238E27FC236}">
                <a16:creationId xmlns:a16="http://schemas.microsoft.com/office/drawing/2014/main" id="{D6CAF22C-4958-B438-EAF9-3476A4C62DC4}"/>
              </a:ext>
            </a:extLst>
          </p:cNvPr>
          <p:cNvSpPr txBox="1"/>
          <p:nvPr/>
        </p:nvSpPr>
        <p:spPr>
          <a:xfrm>
            <a:off x="4127500" y="1714500"/>
            <a:ext cx="7366000" cy="707886"/>
          </a:xfrm>
          <a:prstGeom prst="rect">
            <a:avLst/>
          </a:prstGeom>
          <a:noFill/>
        </p:spPr>
        <p:txBody>
          <a:bodyPr vert="horz" wrap="square" lIns="0" tIns="0" rIns="0" bIns="0" rtlCol="0">
            <a:spAutoFit/>
          </a:bodyPr>
          <a:lstStyle/>
          <a:p>
            <a:r>
              <a:rPr lang="en-US" sz="2300">
                <a:solidFill>
                  <a:srgbClr val="142735"/>
                </a:solidFill>
                <a:latin typeface="Aptos" panose="020B0004020202020204" pitchFamily="34" charset="0"/>
              </a:rPr>
              <a:t>Approximate binary arithmetic. It cannot represent every decimal value exactly.</a:t>
            </a:r>
          </a:p>
        </p:txBody>
      </p:sp>
      <p:sp>
        <p:nvSpPr>
          <p:cNvPr id="7" name="TextBox 6">
            <a:extLst>
              <a:ext uri="{FF2B5EF4-FFF2-40B4-BE49-F238E27FC236}">
                <a16:creationId xmlns:a16="http://schemas.microsoft.com/office/drawing/2014/main" id="{5B2EDDDB-4E95-0020-FDA0-F947595EA811}"/>
              </a:ext>
            </a:extLst>
          </p:cNvPr>
          <p:cNvSpPr txBox="1"/>
          <p:nvPr/>
        </p:nvSpPr>
        <p:spPr>
          <a:xfrm>
            <a:off x="609600" y="3175000"/>
            <a:ext cx="3111500" cy="369332"/>
          </a:xfrm>
          <a:prstGeom prst="rect">
            <a:avLst/>
          </a:prstGeom>
          <a:noFill/>
        </p:spPr>
        <p:txBody>
          <a:bodyPr vert="horz" wrap="square" lIns="0" tIns="0" rIns="0" bIns="0" rtlCol="0">
            <a:spAutoFit/>
          </a:bodyPr>
          <a:lstStyle/>
          <a:p>
            <a:r>
              <a:rPr lang="en-US" sz="2400" b="1">
                <a:solidFill>
                  <a:srgbClr val="087F6B"/>
                </a:solidFill>
                <a:latin typeface="Aptos" panose="020B0004020202020204" pitchFamily="34" charset="0"/>
              </a:rPr>
              <a:t>Observed P75</a:t>
            </a:r>
          </a:p>
        </p:txBody>
      </p:sp>
      <p:sp>
        <p:nvSpPr>
          <p:cNvPr id="8" name="TextBox 7">
            <a:extLst>
              <a:ext uri="{FF2B5EF4-FFF2-40B4-BE49-F238E27FC236}">
                <a16:creationId xmlns:a16="http://schemas.microsoft.com/office/drawing/2014/main" id="{B7769723-52FB-012A-5EF0-58CB2ADDB089}"/>
              </a:ext>
            </a:extLst>
          </p:cNvPr>
          <p:cNvSpPr txBox="1"/>
          <p:nvPr/>
        </p:nvSpPr>
        <p:spPr>
          <a:xfrm>
            <a:off x="4127500" y="3175000"/>
            <a:ext cx="7366000" cy="707886"/>
          </a:xfrm>
          <a:prstGeom prst="rect">
            <a:avLst/>
          </a:prstGeom>
          <a:noFill/>
        </p:spPr>
        <p:txBody>
          <a:bodyPr vert="horz" wrap="square" lIns="0" tIns="0" rIns="0" bIns="0" rtlCol="0">
            <a:spAutoFit/>
          </a:bodyPr>
          <a:lstStyle/>
          <a:p>
            <a:r>
              <a:rPr lang="en-US" sz="2300">
                <a:solidFill>
                  <a:srgbClr val="142735"/>
                </a:solidFill>
                <a:latin typeface="Aptos" panose="020B0004020202020204" pitchFamily="34" charset="0"/>
              </a:rPr>
              <a:t>Exact: 2477.575. Two-decimal display differed: 2477.57 versus 2477.58.</a:t>
            </a:r>
          </a:p>
        </p:txBody>
      </p:sp>
      <p:sp>
        <p:nvSpPr>
          <p:cNvPr id="9" name="TextBox 8">
            <a:extLst>
              <a:ext uri="{FF2B5EF4-FFF2-40B4-BE49-F238E27FC236}">
                <a16:creationId xmlns:a16="http://schemas.microsoft.com/office/drawing/2014/main" id="{A62ECFEE-D514-28C2-2C24-E2B5FF848858}"/>
              </a:ext>
            </a:extLst>
          </p:cNvPr>
          <p:cNvSpPr txBox="1"/>
          <p:nvPr/>
        </p:nvSpPr>
        <p:spPr>
          <a:xfrm>
            <a:off x="609600" y="4635500"/>
            <a:ext cx="3111500" cy="369332"/>
          </a:xfrm>
          <a:prstGeom prst="rect">
            <a:avLst/>
          </a:prstGeom>
          <a:noFill/>
        </p:spPr>
        <p:txBody>
          <a:bodyPr vert="horz" wrap="square" lIns="0" tIns="0" rIns="0" bIns="0" rtlCol="0">
            <a:spAutoFit/>
          </a:bodyPr>
          <a:lstStyle/>
          <a:p>
            <a:r>
              <a:rPr lang="en-US" sz="2400" b="1">
                <a:solidFill>
                  <a:srgbClr val="087F6B"/>
                </a:solidFill>
                <a:latin typeface="Aptos" panose="020B0004020202020204" pitchFamily="34" charset="0"/>
              </a:rPr>
              <a:t>Contract first</a:t>
            </a:r>
          </a:p>
        </p:txBody>
      </p:sp>
      <p:sp>
        <p:nvSpPr>
          <p:cNvPr id="10" name="TextBox 9">
            <a:extLst>
              <a:ext uri="{FF2B5EF4-FFF2-40B4-BE49-F238E27FC236}">
                <a16:creationId xmlns:a16="http://schemas.microsoft.com/office/drawing/2014/main" id="{A23048BD-9152-959F-980A-F57B93A6EFD9}"/>
              </a:ext>
            </a:extLst>
          </p:cNvPr>
          <p:cNvSpPr txBox="1"/>
          <p:nvPr/>
        </p:nvSpPr>
        <p:spPr>
          <a:xfrm>
            <a:off x="4127500" y="4635500"/>
            <a:ext cx="7366000" cy="707886"/>
          </a:xfrm>
          <a:prstGeom prst="rect">
            <a:avLst/>
          </a:prstGeom>
          <a:noFill/>
        </p:spPr>
        <p:txBody>
          <a:bodyPr vert="horz" wrap="square" lIns="0" tIns="0" rIns="0" bIns="0" rtlCol="0">
            <a:spAutoFit/>
          </a:bodyPr>
          <a:lstStyle/>
          <a:p>
            <a:r>
              <a:rPr lang="en-US" sz="2300">
                <a:solidFill>
                  <a:srgbClr val="142735"/>
                </a:solidFill>
                <a:latin typeface="Aptos" panose="020B0004020202020204" pitchFamily="34" charset="0"/>
              </a:rPr>
              <a:t>Choose precision for the use case. A one-cent difference alone does not justify an IR.</a:t>
            </a:r>
          </a:p>
        </p:txBody>
      </p:sp>
    </p:spTree>
    <p:extLst>
      <p:ext uri="{BB962C8B-B14F-4D97-AF65-F5344CB8AC3E}">
        <p14:creationId xmlns:p14="http://schemas.microsoft.com/office/powerpoint/2010/main" val="315410905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76B567B2-81E8-6ED2-CB64-210C3FD93C74}"/>
              </a:ext>
            </a:extLst>
          </p:cNvPr>
          <p:cNvSpPr txBox="1"/>
          <p:nvPr/>
        </p:nvSpPr>
        <p:spPr>
          <a:xfrm>
            <a:off x="609600" y="444500"/>
            <a:ext cx="10972800" cy="523220"/>
          </a:xfrm>
          <a:prstGeom prst="rect">
            <a:avLst/>
          </a:prstGeom>
          <a:noFill/>
        </p:spPr>
        <p:txBody>
          <a:bodyPr vert="horz" wrap="square" lIns="0" tIns="0" rIns="0" bIns="0" rtlCol="0">
            <a:spAutoFit/>
          </a:bodyPr>
          <a:lstStyle/>
          <a:p>
            <a:r>
              <a:rPr lang="en-US" sz="3400" b="1">
                <a:solidFill>
                  <a:srgbClr val="142735"/>
                </a:solidFill>
                <a:latin typeface="Aptos" panose="020B0004020202020204" pitchFamily="34" charset="0"/>
              </a:rPr>
              <a:t>SQL quality remains an engineering cost</a:t>
            </a:r>
          </a:p>
        </p:txBody>
      </p:sp>
      <p:sp>
        <p:nvSpPr>
          <p:cNvPr id="3" name="TextBox 2">
            <a:extLst>
              <a:ext uri="{FF2B5EF4-FFF2-40B4-BE49-F238E27FC236}">
                <a16:creationId xmlns:a16="http://schemas.microsoft.com/office/drawing/2014/main" id="{7C36808D-D79B-95AE-5E14-F63DE4D11630}"/>
              </a:ext>
            </a:extLst>
          </p:cNvPr>
          <p:cNvSpPr txBox="1"/>
          <p:nvPr/>
        </p:nvSpPr>
        <p:spPr>
          <a:xfrm>
            <a:off x="609600" y="6464300"/>
            <a:ext cx="10414000" cy="169277"/>
          </a:xfrm>
          <a:prstGeom prst="rect">
            <a:avLst/>
          </a:prstGeom>
          <a:noFill/>
        </p:spPr>
        <p:txBody>
          <a:bodyPr vert="horz" wrap="square" lIns="0" tIns="0" rIns="0" bIns="0" rtlCol="0">
            <a:spAutoFit/>
          </a:bodyPr>
          <a:lstStyle/>
          <a:p>
            <a:r>
              <a:rPr lang="en-US" sz="1100">
                <a:solidFill>
                  <a:srgbClr val="526471"/>
                </a:solidFill>
                <a:latin typeface="Aptos" panose="020B0004020202020204" pitchFamily="34" charset="0"/>
              </a:rPr>
              <a:t>Po-wei Huang / Golden query prototype / October 2026</a:t>
            </a:r>
          </a:p>
        </p:txBody>
      </p:sp>
      <p:sp>
        <p:nvSpPr>
          <p:cNvPr id="4" name="TextBox 3">
            <a:extLst>
              <a:ext uri="{FF2B5EF4-FFF2-40B4-BE49-F238E27FC236}">
                <a16:creationId xmlns:a16="http://schemas.microsoft.com/office/drawing/2014/main" id="{AD69764B-8AE4-6C49-5109-BC6BCC1258B4}"/>
              </a:ext>
            </a:extLst>
          </p:cNvPr>
          <p:cNvSpPr txBox="1"/>
          <p:nvPr/>
        </p:nvSpPr>
        <p:spPr>
          <a:xfrm>
            <a:off x="11430000" y="6464300"/>
            <a:ext cx="381000" cy="169277"/>
          </a:xfrm>
          <a:prstGeom prst="rect">
            <a:avLst/>
          </a:prstGeom>
          <a:noFill/>
        </p:spPr>
        <p:txBody>
          <a:bodyPr vert="horz" wrap="square" lIns="0" tIns="0" rIns="0" bIns="0" rtlCol="0">
            <a:spAutoFit/>
          </a:bodyPr>
          <a:lstStyle/>
          <a:p>
            <a:r>
              <a:rPr lang="en-US" sz="1100">
                <a:solidFill>
                  <a:srgbClr val="526471"/>
                </a:solidFill>
                <a:latin typeface="Aptos" panose="020B0004020202020204" pitchFamily="34" charset="0"/>
              </a:rPr>
              <a:t>8</a:t>
            </a:r>
          </a:p>
        </p:txBody>
      </p:sp>
      <p:graphicFrame>
        <p:nvGraphicFramePr>
          <p:cNvPr id="5" name="Table 4">
            <a:extLst>
              <a:ext uri="{FF2B5EF4-FFF2-40B4-BE49-F238E27FC236}">
                <a16:creationId xmlns:a16="http://schemas.microsoft.com/office/drawing/2014/main" id="{54742171-F454-4F3F-4EDD-C1267C9DEA46}"/>
              </a:ext>
            </a:extLst>
          </p:cNvPr>
          <p:cNvGraphicFramePr>
            <a:graphicFrameLocks noGrp="1"/>
          </p:cNvGraphicFramePr>
          <p:nvPr>
            <p:extLst>
              <p:ext uri="{D42A27DB-BD31-4B8C-83A1-F6EECF244321}">
                <p14:modId xmlns:p14="http://schemas.microsoft.com/office/powerpoint/2010/main" val="3089863305"/>
              </p:ext>
            </p:extLst>
          </p:nvPr>
        </p:nvGraphicFramePr>
        <p:xfrm>
          <a:off x="609600" y="1841500"/>
          <a:ext cx="10972800" cy="2413000"/>
        </p:xfrm>
        <a:graphic>
          <a:graphicData uri="http://schemas.openxmlformats.org/drawingml/2006/table">
            <a:tbl>
              <a:tblPr firstRow="1" bandRow="1">
                <a:tableStyleId>{5C22544A-7EE6-4342-B048-85BDC9FD1C3A}</a:tableStyleId>
              </a:tblPr>
              <a:tblGrid>
                <a:gridCol w="3657600">
                  <a:extLst>
                    <a:ext uri="{9D8B030D-6E8A-4147-A177-3AD203B41FA5}">
                      <a16:colId xmlns:a16="http://schemas.microsoft.com/office/drawing/2014/main" val="860502413"/>
                    </a:ext>
                  </a:extLst>
                </a:gridCol>
                <a:gridCol w="3657600">
                  <a:extLst>
                    <a:ext uri="{9D8B030D-6E8A-4147-A177-3AD203B41FA5}">
                      <a16:colId xmlns:a16="http://schemas.microsoft.com/office/drawing/2014/main" val="2468935351"/>
                    </a:ext>
                  </a:extLst>
                </a:gridCol>
                <a:gridCol w="3657600">
                  <a:extLst>
                    <a:ext uri="{9D8B030D-6E8A-4147-A177-3AD203B41FA5}">
                      <a16:colId xmlns:a16="http://schemas.microsoft.com/office/drawing/2014/main" val="2671190314"/>
                    </a:ext>
                  </a:extLst>
                </a:gridCol>
              </a:tblGrid>
              <a:tr h="804333">
                <a:tc>
                  <a:txBody>
                    <a:bodyPr/>
                    <a:lstStyle/>
                    <a:p>
                      <a:r>
                        <a:rPr lang="en-US" sz="2000">
                          <a:solidFill>
                            <a:srgbClr val="FFFFFF"/>
                          </a:solidFill>
                          <a:latin typeface="Aptos" panose="020B0004020202020204" pitchFamily="34" charset="0"/>
                        </a:rPr>
                        <a:t>Golden BigQuery SQL</a:t>
                      </a:r>
                    </a:p>
                  </a:txBody>
                  <a:tcPr>
                    <a:solidFill>
                      <a:srgbClr val="087F6B"/>
                    </a:solidFill>
                  </a:tcPr>
                </a:tc>
                <a:tc>
                  <a:txBody>
                    <a:bodyPr/>
                    <a:lstStyle/>
                    <a:p>
                      <a:r>
                        <a:rPr lang="en-US" sz="2000">
                          <a:solidFill>
                            <a:srgbClr val="FFFFFF"/>
                          </a:solidFill>
                          <a:latin typeface="Aptos" panose="020B0004020202020204" pitchFamily="34" charset="0"/>
                        </a:rPr>
                        <a:t>Before cleanup</a:t>
                      </a:r>
                    </a:p>
                  </a:txBody>
                  <a:tcPr>
                    <a:solidFill>
                      <a:srgbClr val="087F6B"/>
                    </a:solidFill>
                  </a:tcPr>
                </a:tc>
                <a:tc>
                  <a:txBody>
                    <a:bodyPr/>
                    <a:lstStyle/>
                    <a:p>
                      <a:r>
                        <a:rPr lang="en-US" sz="2000">
                          <a:solidFill>
                            <a:srgbClr val="FFFFFF"/>
                          </a:solidFill>
                          <a:latin typeface="Aptos" panose="020B0004020202020204" pitchFamily="34" charset="0"/>
                        </a:rPr>
                        <a:t>After cleanup</a:t>
                      </a:r>
                    </a:p>
                  </a:txBody>
                  <a:tcPr>
                    <a:solidFill>
                      <a:srgbClr val="087F6B"/>
                    </a:solidFill>
                  </a:tcPr>
                </a:tc>
                <a:extLst>
                  <a:ext uri="{0D108BD9-81ED-4DB2-BD59-A6C34878D82A}">
                    <a16:rowId xmlns:a16="http://schemas.microsoft.com/office/drawing/2014/main" val="1604377293"/>
                  </a:ext>
                </a:extLst>
              </a:tr>
              <a:tr h="804333">
                <a:tc>
                  <a:txBody>
                    <a:bodyPr/>
                    <a:lstStyle/>
                    <a:p>
                      <a:r>
                        <a:rPr lang="en-US" sz="2000">
                          <a:solidFill>
                            <a:srgbClr val="142735"/>
                          </a:solidFill>
                          <a:latin typeface="Aptos" panose="020B0004020202020204" pitchFamily="34" charset="0"/>
                        </a:rPr>
                        <a:t>Freight ratio</a:t>
                      </a:r>
                    </a:p>
                  </a:txBody>
                  <a:tcPr>
                    <a:solidFill>
                      <a:srgbClr val="F2F6F5"/>
                    </a:solidFill>
                  </a:tcPr>
                </a:tc>
                <a:tc>
                  <a:txBody>
                    <a:bodyPr/>
                    <a:lstStyle/>
                    <a:p>
                      <a:r>
                        <a:rPr lang="en-US" sz="2000">
                          <a:solidFill>
                            <a:srgbClr val="142735"/>
                          </a:solidFill>
                          <a:latin typeface="Aptos" panose="020B0004020202020204" pitchFamily="34" charset="0"/>
                        </a:rPr>
                        <a:t>10,476 chars</a:t>
                      </a:r>
                    </a:p>
                  </a:txBody>
                  <a:tcPr>
                    <a:solidFill>
                      <a:srgbClr val="F2F6F5"/>
                    </a:solidFill>
                  </a:tcPr>
                </a:tc>
                <a:tc>
                  <a:txBody>
                    <a:bodyPr/>
                    <a:lstStyle/>
                    <a:p>
                      <a:r>
                        <a:rPr lang="en-US" sz="2000">
                          <a:solidFill>
                            <a:srgbClr val="142735"/>
                          </a:solidFill>
                          <a:latin typeface="Aptos" panose="020B0004020202020204" pitchFamily="34" charset="0"/>
                        </a:rPr>
                        <a:t>7,366 chars</a:t>
                      </a:r>
                    </a:p>
                  </a:txBody>
                  <a:tcPr>
                    <a:solidFill>
                      <a:srgbClr val="F2F6F5"/>
                    </a:solidFill>
                  </a:tcPr>
                </a:tc>
                <a:extLst>
                  <a:ext uri="{0D108BD9-81ED-4DB2-BD59-A6C34878D82A}">
                    <a16:rowId xmlns:a16="http://schemas.microsoft.com/office/drawing/2014/main" val="3303436068"/>
                  </a:ext>
                </a:extLst>
              </a:tr>
              <a:tr h="804333">
                <a:tc>
                  <a:txBody>
                    <a:bodyPr/>
                    <a:lstStyle/>
                    <a:p>
                      <a:r>
                        <a:rPr lang="en-US" sz="2000">
                          <a:solidFill>
                            <a:srgbClr val="142735"/>
                          </a:solidFill>
                          <a:latin typeface="Aptos" panose="020B0004020202020204" pitchFamily="34" charset="0"/>
                        </a:rPr>
                        <a:t>Country P75</a:t>
                      </a:r>
                    </a:p>
                  </a:txBody>
                  <a:tcPr>
                    <a:solidFill>
                      <a:srgbClr val="F2F6F5"/>
                    </a:solidFill>
                  </a:tcPr>
                </a:tc>
                <a:tc>
                  <a:txBody>
                    <a:bodyPr/>
                    <a:lstStyle/>
                    <a:p>
                      <a:r>
                        <a:rPr lang="en-US" sz="2000">
                          <a:solidFill>
                            <a:srgbClr val="142735"/>
                          </a:solidFill>
                          <a:latin typeface="Aptos" panose="020B0004020202020204" pitchFamily="34" charset="0"/>
                        </a:rPr>
                        <a:t>9,639 chars</a:t>
                      </a:r>
                    </a:p>
                  </a:txBody>
                  <a:tcPr>
                    <a:solidFill>
                      <a:srgbClr val="F2F6F5"/>
                    </a:solidFill>
                  </a:tcPr>
                </a:tc>
                <a:tc>
                  <a:txBody>
                    <a:bodyPr/>
                    <a:lstStyle/>
                    <a:p>
                      <a:r>
                        <a:rPr lang="en-US" sz="2000">
                          <a:solidFill>
                            <a:srgbClr val="142735"/>
                          </a:solidFill>
                          <a:latin typeface="Aptos" panose="020B0004020202020204" pitchFamily="34" charset="0"/>
                        </a:rPr>
                        <a:t>6,885 chars</a:t>
                      </a:r>
                    </a:p>
                  </a:txBody>
                  <a:tcPr>
                    <a:solidFill>
                      <a:srgbClr val="F2F6F5"/>
                    </a:solidFill>
                  </a:tcPr>
                </a:tc>
                <a:extLst>
                  <a:ext uri="{0D108BD9-81ED-4DB2-BD59-A6C34878D82A}">
                    <a16:rowId xmlns:a16="http://schemas.microsoft.com/office/drawing/2014/main" val="2565109026"/>
                  </a:ext>
                </a:extLst>
              </a:tr>
            </a:tbl>
          </a:graphicData>
        </a:graphic>
      </p:graphicFrame>
      <p:sp>
        <p:nvSpPr>
          <p:cNvPr id="6" name="TextBox 5">
            <a:extLst>
              <a:ext uri="{FF2B5EF4-FFF2-40B4-BE49-F238E27FC236}">
                <a16:creationId xmlns:a16="http://schemas.microsoft.com/office/drawing/2014/main" id="{FF3874C0-82A2-953E-F6A7-1713287FCAC2}"/>
              </a:ext>
            </a:extLst>
          </p:cNvPr>
          <p:cNvSpPr txBox="1"/>
          <p:nvPr/>
        </p:nvSpPr>
        <p:spPr>
          <a:xfrm>
            <a:off x="609600" y="4762500"/>
            <a:ext cx="10972800" cy="769441"/>
          </a:xfrm>
          <a:prstGeom prst="rect">
            <a:avLst/>
          </a:prstGeom>
          <a:noFill/>
        </p:spPr>
        <p:txBody>
          <a:bodyPr vert="horz" wrap="square" lIns="0" tIns="0" rIns="0" bIns="0" rtlCol="0">
            <a:spAutoFit/>
          </a:bodyPr>
          <a:lstStyle/>
          <a:p>
            <a:r>
              <a:rPr lang="en-US" sz="2500">
                <a:solidFill>
                  <a:srgbClr val="142735"/>
                </a:solidFill>
                <a:latin typeface="Aptos" panose="020B0004020202020204" pitchFamily="34" charset="0"/>
              </a:rPr>
              <a:t>Golden SQL is still verbose. Next: test named intermediate projections while preserving rounding, overflow and conditional behavior.</a:t>
            </a:r>
          </a:p>
        </p:txBody>
      </p:sp>
    </p:spTree>
    <p:extLst>
      <p:ext uri="{BB962C8B-B14F-4D97-AF65-F5344CB8AC3E}">
        <p14:creationId xmlns:p14="http://schemas.microsoft.com/office/powerpoint/2010/main" val="123285270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E938703F-AE66-8DF8-7D95-BAE61398F0A8}"/>
              </a:ext>
            </a:extLst>
          </p:cNvPr>
          <p:cNvSpPr txBox="1"/>
          <p:nvPr/>
        </p:nvSpPr>
        <p:spPr>
          <a:xfrm>
            <a:off x="609600" y="444500"/>
            <a:ext cx="10972800" cy="523220"/>
          </a:xfrm>
          <a:prstGeom prst="rect">
            <a:avLst/>
          </a:prstGeom>
          <a:noFill/>
        </p:spPr>
        <p:txBody>
          <a:bodyPr vert="horz" wrap="square" lIns="0" tIns="0" rIns="0" bIns="0" rtlCol="0">
            <a:spAutoFit/>
          </a:bodyPr>
          <a:lstStyle/>
          <a:p>
            <a:r>
              <a:rPr lang="en-US" sz="3400" b="1">
                <a:solidFill>
                  <a:srgbClr val="142735"/>
                </a:solidFill>
                <a:latin typeface="Aptos" panose="020B0004020202020204" pitchFamily="34" charset="0"/>
              </a:rPr>
              <a:t>How I would demonstrate an advantage</a:t>
            </a:r>
          </a:p>
        </p:txBody>
      </p:sp>
      <p:sp>
        <p:nvSpPr>
          <p:cNvPr id="3" name="TextBox 2">
            <a:extLst>
              <a:ext uri="{FF2B5EF4-FFF2-40B4-BE49-F238E27FC236}">
                <a16:creationId xmlns:a16="http://schemas.microsoft.com/office/drawing/2014/main" id="{1D4D2C88-5974-7868-5809-2A51F1544327}"/>
              </a:ext>
            </a:extLst>
          </p:cNvPr>
          <p:cNvSpPr txBox="1"/>
          <p:nvPr/>
        </p:nvSpPr>
        <p:spPr>
          <a:xfrm>
            <a:off x="609600" y="6464300"/>
            <a:ext cx="10414000" cy="169277"/>
          </a:xfrm>
          <a:prstGeom prst="rect">
            <a:avLst/>
          </a:prstGeom>
          <a:noFill/>
        </p:spPr>
        <p:txBody>
          <a:bodyPr vert="horz" wrap="square" lIns="0" tIns="0" rIns="0" bIns="0" rtlCol="0">
            <a:spAutoFit/>
          </a:bodyPr>
          <a:lstStyle/>
          <a:p>
            <a:r>
              <a:rPr lang="en-US" sz="1100">
                <a:solidFill>
                  <a:srgbClr val="526471"/>
                </a:solidFill>
                <a:latin typeface="Aptos" panose="020B0004020202020204" pitchFamily="34" charset="0"/>
              </a:rPr>
              <a:t>Po-wei Huang / Golden query prototype / October 2026</a:t>
            </a:r>
          </a:p>
        </p:txBody>
      </p:sp>
      <p:sp>
        <p:nvSpPr>
          <p:cNvPr id="4" name="TextBox 3">
            <a:extLst>
              <a:ext uri="{FF2B5EF4-FFF2-40B4-BE49-F238E27FC236}">
                <a16:creationId xmlns:a16="http://schemas.microsoft.com/office/drawing/2014/main" id="{E797E8E9-F42A-1D1C-7DA8-58AE2AC499FE}"/>
              </a:ext>
            </a:extLst>
          </p:cNvPr>
          <p:cNvSpPr txBox="1"/>
          <p:nvPr/>
        </p:nvSpPr>
        <p:spPr>
          <a:xfrm>
            <a:off x="11430000" y="6464300"/>
            <a:ext cx="381000" cy="169277"/>
          </a:xfrm>
          <a:prstGeom prst="rect">
            <a:avLst/>
          </a:prstGeom>
          <a:noFill/>
        </p:spPr>
        <p:txBody>
          <a:bodyPr vert="horz" wrap="square" lIns="0" tIns="0" rIns="0" bIns="0" rtlCol="0">
            <a:spAutoFit/>
          </a:bodyPr>
          <a:lstStyle/>
          <a:p>
            <a:r>
              <a:rPr lang="en-US" sz="1100">
                <a:solidFill>
                  <a:srgbClr val="526471"/>
                </a:solidFill>
                <a:latin typeface="Aptos" panose="020B0004020202020204" pitchFamily="34" charset="0"/>
              </a:rPr>
              <a:t>9</a:t>
            </a:r>
          </a:p>
        </p:txBody>
      </p:sp>
      <p:sp>
        <p:nvSpPr>
          <p:cNvPr id="5" name="TextBox 4">
            <a:extLst>
              <a:ext uri="{FF2B5EF4-FFF2-40B4-BE49-F238E27FC236}">
                <a16:creationId xmlns:a16="http://schemas.microsoft.com/office/drawing/2014/main" id="{64E3A53B-4874-3649-9E3D-62AB70C1D243}"/>
              </a:ext>
            </a:extLst>
          </p:cNvPr>
          <p:cNvSpPr txBox="1"/>
          <p:nvPr/>
        </p:nvSpPr>
        <p:spPr>
          <a:xfrm>
            <a:off x="609600" y="1778000"/>
            <a:ext cx="3111500" cy="369332"/>
          </a:xfrm>
          <a:prstGeom prst="rect">
            <a:avLst/>
          </a:prstGeom>
          <a:noFill/>
        </p:spPr>
        <p:txBody>
          <a:bodyPr vert="horz" wrap="square" lIns="0" tIns="0" rIns="0" bIns="0" rtlCol="0">
            <a:spAutoFit/>
          </a:bodyPr>
          <a:lstStyle/>
          <a:p>
            <a:r>
              <a:rPr lang="en-US" sz="2400" b="1">
                <a:solidFill>
                  <a:srgbClr val="087F6B"/>
                </a:solidFill>
                <a:latin typeface="Aptos" panose="020B0004020202020204" pitchFamily="34" charset="0"/>
              </a:rPr>
              <a:t>Already demonstrated</a:t>
            </a:r>
          </a:p>
        </p:txBody>
      </p:sp>
      <p:sp>
        <p:nvSpPr>
          <p:cNvPr id="6" name="TextBox 5">
            <a:extLst>
              <a:ext uri="{FF2B5EF4-FFF2-40B4-BE49-F238E27FC236}">
                <a16:creationId xmlns:a16="http://schemas.microsoft.com/office/drawing/2014/main" id="{2C655870-B2D5-F810-5098-303CD8CAB5E1}"/>
              </a:ext>
            </a:extLst>
          </p:cNvPr>
          <p:cNvSpPr txBox="1"/>
          <p:nvPr/>
        </p:nvSpPr>
        <p:spPr>
          <a:xfrm>
            <a:off x="4127500" y="1778000"/>
            <a:ext cx="7366000" cy="707886"/>
          </a:xfrm>
          <a:prstGeom prst="rect">
            <a:avLst/>
          </a:prstGeom>
          <a:noFill/>
        </p:spPr>
        <p:txBody>
          <a:bodyPr vert="horz" wrap="square" lIns="0" tIns="0" rIns="0" bIns="0" rtlCol="0">
            <a:spAutoFit/>
          </a:bodyPr>
          <a:lstStyle/>
          <a:p>
            <a:r>
              <a:rPr lang="en-US" sz="2300">
                <a:solidFill>
                  <a:srgbClr val="142735"/>
                </a:solidFill>
                <a:latin typeface="Aptos" panose="020B0004020202020204" pitchFamily="34" charset="0"/>
              </a:rPr>
              <a:t>Typed composition, backend lowering and independent tests that catch join fanout.</a:t>
            </a:r>
          </a:p>
        </p:txBody>
      </p:sp>
      <p:sp>
        <p:nvSpPr>
          <p:cNvPr id="7" name="TextBox 6">
            <a:extLst>
              <a:ext uri="{FF2B5EF4-FFF2-40B4-BE49-F238E27FC236}">
                <a16:creationId xmlns:a16="http://schemas.microsoft.com/office/drawing/2014/main" id="{52E7219E-27D4-724A-7C2A-DA5585BEDB31}"/>
              </a:ext>
            </a:extLst>
          </p:cNvPr>
          <p:cNvSpPr txBox="1"/>
          <p:nvPr/>
        </p:nvSpPr>
        <p:spPr>
          <a:xfrm>
            <a:off x="609600" y="3238500"/>
            <a:ext cx="3111500" cy="369332"/>
          </a:xfrm>
          <a:prstGeom prst="rect">
            <a:avLst/>
          </a:prstGeom>
          <a:noFill/>
        </p:spPr>
        <p:txBody>
          <a:bodyPr vert="horz" wrap="square" lIns="0" tIns="0" rIns="0" bIns="0" rtlCol="0">
            <a:spAutoFit/>
          </a:bodyPr>
          <a:lstStyle/>
          <a:p>
            <a:r>
              <a:rPr lang="en-US" sz="2400" b="1">
                <a:solidFill>
                  <a:srgbClr val="087F6B"/>
                </a:solidFill>
                <a:latin typeface="Aptos" panose="020B0004020202020204" pitchFamily="34" charset="0"/>
              </a:rPr>
              <a:t>Next experiment</a:t>
            </a:r>
          </a:p>
        </p:txBody>
      </p:sp>
      <p:sp>
        <p:nvSpPr>
          <p:cNvPr id="8" name="TextBox 7">
            <a:extLst>
              <a:ext uri="{FF2B5EF4-FFF2-40B4-BE49-F238E27FC236}">
                <a16:creationId xmlns:a16="http://schemas.microsoft.com/office/drawing/2014/main" id="{AA9A2F74-394F-5A88-1BEF-A2F2D3220836}"/>
              </a:ext>
            </a:extLst>
          </p:cNvPr>
          <p:cNvSpPr txBox="1"/>
          <p:nvPr/>
        </p:nvSpPr>
        <p:spPr>
          <a:xfrm>
            <a:off x="4127500" y="3238500"/>
            <a:ext cx="7366000" cy="707886"/>
          </a:xfrm>
          <a:prstGeom prst="rect">
            <a:avLst/>
          </a:prstGeom>
          <a:noFill/>
        </p:spPr>
        <p:txBody>
          <a:bodyPr vert="horz" wrap="square" lIns="0" tIns="0" rIns="0" bIns="0" rtlCol="0">
            <a:spAutoFit/>
          </a:bodyPr>
          <a:lstStyle/>
          <a:p>
            <a:r>
              <a:rPr lang="en-US" sz="2300">
                <a:solidFill>
                  <a:srgbClr val="142735"/>
                </a:solidFill>
                <a:latin typeface="Aptos" panose="020B0004020202020204" pitchFamily="34" charset="0"/>
              </a:rPr>
              <a:t>Cover all nine datasets and test changes to country, date range and grouping.</a:t>
            </a:r>
          </a:p>
        </p:txBody>
      </p:sp>
      <p:sp>
        <p:nvSpPr>
          <p:cNvPr id="9" name="TextBox 8">
            <a:extLst>
              <a:ext uri="{FF2B5EF4-FFF2-40B4-BE49-F238E27FC236}">
                <a16:creationId xmlns:a16="http://schemas.microsoft.com/office/drawing/2014/main" id="{7A4C656F-13EE-F475-9D16-55ED28C4C1CF}"/>
              </a:ext>
            </a:extLst>
          </p:cNvPr>
          <p:cNvSpPr txBox="1"/>
          <p:nvPr/>
        </p:nvSpPr>
        <p:spPr>
          <a:xfrm>
            <a:off x="609600" y="4699000"/>
            <a:ext cx="3111500" cy="369332"/>
          </a:xfrm>
          <a:prstGeom prst="rect">
            <a:avLst/>
          </a:prstGeom>
          <a:noFill/>
        </p:spPr>
        <p:txBody>
          <a:bodyPr vert="horz" wrap="square" lIns="0" tIns="0" rIns="0" bIns="0" rtlCol="0">
            <a:spAutoFit/>
          </a:bodyPr>
          <a:lstStyle/>
          <a:p>
            <a:r>
              <a:rPr lang="en-US" sz="2400" b="1">
                <a:solidFill>
                  <a:srgbClr val="087F6B"/>
                </a:solidFill>
                <a:latin typeface="Aptos" panose="020B0004020202020204" pitchFamily="34" charset="0"/>
              </a:rPr>
              <a:t>Decision criteria</a:t>
            </a:r>
          </a:p>
        </p:txBody>
      </p:sp>
      <p:sp>
        <p:nvSpPr>
          <p:cNvPr id="10" name="TextBox 9">
            <a:extLst>
              <a:ext uri="{FF2B5EF4-FFF2-40B4-BE49-F238E27FC236}">
                <a16:creationId xmlns:a16="http://schemas.microsoft.com/office/drawing/2014/main" id="{88BEAFC4-D1AC-2B8B-7EBC-86CA839AA3E9}"/>
              </a:ext>
            </a:extLst>
          </p:cNvPr>
          <p:cNvSpPr txBox="1"/>
          <p:nvPr/>
        </p:nvSpPr>
        <p:spPr>
          <a:xfrm>
            <a:off x="4127500" y="4699000"/>
            <a:ext cx="7366000" cy="707886"/>
          </a:xfrm>
          <a:prstGeom prst="rect">
            <a:avLst/>
          </a:prstGeom>
          <a:noFill/>
        </p:spPr>
        <p:txBody>
          <a:bodyPr vert="horz" wrap="square" lIns="0" tIns="0" rIns="0" bIns="0" rtlCol="0">
            <a:spAutoFit/>
          </a:bodyPr>
          <a:lstStyle/>
          <a:p>
            <a:r>
              <a:rPr lang="en-US" sz="2300">
                <a:solidFill>
                  <a:srgbClr val="142735"/>
                </a:solidFill>
                <a:latin typeface="Aptos" panose="020B0004020202020204" pitchFamily="34" charset="0"/>
              </a:rPr>
              <a:t>Correct results, predictable filter scope, acceptable execution cost and less maintenance.</a:t>
            </a:r>
          </a:p>
        </p:txBody>
      </p:sp>
    </p:spTree>
    <p:extLst>
      <p:ext uri="{BB962C8B-B14F-4D97-AF65-F5344CB8AC3E}">
        <p14:creationId xmlns:p14="http://schemas.microsoft.com/office/powerpoint/2010/main" val="341925049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F254129-31C6-AAEE-83C7-AF8112705918}"/>
              </a:ext>
            </a:extLst>
          </p:cNvPr>
          <p:cNvSpPr txBox="1"/>
          <p:nvPr/>
        </p:nvSpPr>
        <p:spPr>
          <a:xfrm>
            <a:off x="609600" y="444500"/>
            <a:ext cx="10972800" cy="523220"/>
          </a:xfrm>
          <a:prstGeom prst="rect">
            <a:avLst/>
          </a:prstGeom>
          <a:noFill/>
        </p:spPr>
        <p:txBody>
          <a:bodyPr vert="horz" wrap="square" lIns="0" tIns="0" rIns="0" bIns="0" rtlCol="0">
            <a:spAutoFit/>
          </a:bodyPr>
          <a:lstStyle/>
          <a:p>
            <a:r>
              <a:rPr lang="en-US" sz="3400" b="1">
                <a:solidFill>
                  <a:srgbClr val="142735"/>
                </a:solidFill>
                <a:latin typeface="Aptos" panose="020B0004020202020204" pitchFamily="34" charset="0"/>
              </a:rPr>
              <a:t>Appendix: the API has four operations</a:t>
            </a:r>
          </a:p>
        </p:txBody>
      </p:sp>
      <p:sp>
        <p:nvSpPr>
          <p:cNvPr id="3" name="TextBox 2">
            <a:extLst>
              <a:ext uri="{FF2B5EF4-FFF2-40B4-BE49-F238E27FC236}">
                <a16:creationId xmlns:a16="http://schemas.microsoft.com/office/drawing/2014/main" id="{D18DB307-E439-61CE-96B6-2DF7024379E6}"/>
              </a:ext>
            </a:extLst>
          </p:cNvPr>
          <p:cNvSpPr txBox="1"/>
          <p:nvPr/>
        </p:nvSpPr>
        <p:spPr>
          <a:xfrm>
            <a:off x="609600" y="6464300"/>
            <a:ext cx="10414000" cy="169277"/>
          </a:xfrm>
          <a:prstGeom prst="rect">
            <a:avLst/>
          </a:prstGeom>
          <a:noFill/>
        </p:spPr>
        <p:txBody>
          <a:bodyPr vert="horz" wrap="square" lIns="0" tIns="0" rIns="0" bIns="0" rtlCol="0">
            <a:spAutoFit/>
          </a:bodyPr>
          <a:lstStyle/>
          <a:p>
            <a:r>
              <a:rPr lang="en-US" sz="1100">
                <a:solidFill>
                  <a:srgbClr val="526471"/>
                </a:solidFill>
                <a:latin typeface="Aptos" panose="020B0004020202020204" pitchFamily="34" charset="0"/>
              </a:rPr>
              <a:t>Po-wei Huang / Golden query prototype / October 2026</a:t>
            </a:r>
          </a:p>
        </p:txBody>
      </p:sp>
      <p:sp>
        <p:nvSpPr>
          <p:cNvPr id="4" name="TextBox 3">
            <a:extLst>
              <a:ext uri="{FF2B5EF4-FFF2-40B4-BE49-F238E27FC236}">
                <a16:creationId xmlns:a16="http://schemas.microsoft.com/office/drawing/2014/main" id="{1B014429-015A-B52C-CC75-A523677DB85D}"/>
              </a:ext>
            </a:extLst>
          </p:cNvPr>
          <p:cNvSpPr txBox="1"/>
          <p:nvPr/>
        </p:nvSpPr>
        <p:spPr>
          <a:xfrm>
            <a:off x="11430000" y="6464300"/>
            <a:ext cx="381000" cy="169277"/>
          </a:xfrm>
          <a:prstGeom prst="rect">
            <a:avLst/>
          </a:prstGeom>
          <a:noFill/>
        </p:spPr>
        <p:txBody>
          <a:bodyPr vert="horz" wrap="square" lIns="0" tIns="0" rIns="0" bIns="0" rtlCol="0">
            <a:spAutoFit/>
          </a:bodyPr>
          <a:lstStyle/>
          <a:p>
            <a:r>
              <a:rPr lang="en-US" sz="1100">
                <a:solidFill>
                  <a:srgbClr val="526471"/>
                </a:solidFill>
                <a:latin typeface="Aptos" panose="020B0004020202020204" pitchFamily="34" charset="0"/>
              </a:rPr>
              <a:t>10</a:t>
            </a:r>
          </a:p>
        </p:txBody>
      </p:sp>
      <p:sp>
        <p:nvSpPr>
          <p:cNvPr id="5" name="TextBox 4">
            <a:extLst>
              <a:ext uri="{FF2B5EF4-FFF2-40B4-BE49-F238E27FC236}">
                <a16:creationId xmlns:a16="http://schemas.microsoft.com/office/drawing/2014/main" id="{07BF78AD-BF83-8247-37D4-43916E2E4709}"/>
              </a:ext>
            </a:extLst>
          </p:cNvPr>
          <p:cNvSpPr txBox="1"/>
          <p:nvPr/>
        </p:nvSpPr>
        <p:spPr>
          <a:xfrm>
            <a:off x="609600" y="1714500"/>
            <a:ext cx="10972800" cy="3508653"/>
          </a:xfrm>
          <a:prstGeom prst="rect">
            <a:avLst/>
          </a:prstGeom>
          <a:noFill/>
        </p:spPr>
        <p:txBody>
          <a:bodyPr vert="horz" wrap="square" lIns="0" tIns="0" rIns="0" bIns="0" rtlCol="0">
            <a:spAutoFit/>
          </a:bodyPr>
          <a:lstStyle/>
          <a:p>
            <a:r>
              <a:rPr lang="en-US" sz="1900">
                <a:solidFill>
                  <a:srgbClr val="142735"/>
                </a:solidFill>
                <a:latin typeface="Aptos" panose="020B0004020202020204" pitchFamily="34" charset="0"/>
              </a:rPr>
              <a:t>const orders = source.table('orders');
return orders
  .select({
    order_id: orders.columns.order_id,
    order_date: orders.columns.order_date
  })
  .orderBy(
    { column: 'order_date', direction: 'desc' },
    { column: 'order_id', direction: 'desc' }
  )
  .limit(n);</a:t>
            </a:r>
          </a:p>
        </p:txBody>
      </p:sp>
      <p:sp>
        <p:nvSpPr>
          <p:cNvPr id="6" name="TextBox 5">
            <a:extLst>
              <a:ext uri="{FF2B5EF4-FFF2-40B4-BE49-F238E27FC236}">
                <a16:creationId xmlns:a16="http://schemas.microsoft.com/office/drawing/2014/main" id="{3156F48E-E7B6-DB96-8C96-1B7BC8D8F702}"/>
              </a:ext>
            </a:extLst>
          </p:cNvPr>
          <p:cNvSpPr txBox="1"/>
          <p:nvPr/>
        </p:nvSpPr>
        <p:spPr>
          <a:xfrm>
            <a:off x="609600" y="5778500"/>
            <a:ext cx="10972800" cy="338554"/>
          </a:xfrm>
          <a:prstGeom prst="rect">
            <a:avLst/>
          </a:prstGeom>
          <a:noFill/>
        </p:spPr>
        <p:txBody>
          <a:bodyPr vert="horz" wrap="square" lIns="0" tIns="0" rIns="0" bIns="0" rtlCol="0">
            <a:spAutoFit/>
          </a:bodyPr>
          <a:lstStyle/>
          <a:p>
            <a:r>
              <a:rPr lang="en-US" sz="2200" b="1">
                <a:solidFill>
                  <a:srgbClr val="087F6B"/>
                </a:solidFill>
                <a:latin typeface="Aptos" panose="020B0004020202020204" pitchFamily="34" charset="0"/>
              </a:rPr>
              <a:t>Build a query now. Execute it later with await client.execute(query).</a:t>
            </a:r>
          </a:p>
        </p:txBody>
      </p:sp>
    </p:spTree>
    <p:extLst>
      <p:ext uri="{BB962C8B-B14F-4D97-AF65-F5344CB8AC3E}">
        <p14:creationId xmlns:p14="http://schemas.microsoft.com/office/powerpoint/2010/main" val="157079999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246F7C9-1B20-AF00-9DC1-B1F12F195844}"/>
              </a:ext>
            </a:extLst>
          </p:cNvPr>
          <p:cNvSpPr txBox="1"/>
          <p:nvPr/>
        </p:nvSpPr>
        <p:spPr>
          <a:xfrm>
            <a:off x="609600" y="444500"/>
            <a:ext cx="10972800" cy="523220"/>
          </a:xfrm>
          <a:prstGeom prst="rect">
            <a:avLst/>
          </a:prstGeom>
          <a:noFill/>
        </p:spPr>
        <p:txBody>
          <a:bodyPr vert="horz" wrap="square" lIns="0" tIns="0" rIns="0" bIns="0" rtlCol="0">
            <a:spAutoFit/>
          </a:bodyPr>
          <a:lstStyle/>
          <a:p>
            <a:r>
              <a:rPr lang="en-US" sz="3400" b="1">
                <a:solidFill>
                  <a:srgbClr val="142735"/>
                </a:solidFill>
                <a:latin typeface="Aptos" panose="020B0004020202020204" pitchFamily="34" charset="0"/>
              </a:rPr>
              <a:t>Claude P75 SQL: the final aggregation</a:t>
            </a:r>
          </a:p>
        </p:txBody>
      </p:sp>
      <p:sp>
        <p:nvSpPr>
          <p:cNvPr id="3" name="TextBox 2">
            <a:extLst>
              <a:ext uri="{FF2B5EF4-FFF2-40B4-BE49-F238E27FC236}">
                <a16:creationId xmlns:a16="http://schemas.microsoft.com/office/drawing/2014/main" id="{9C5090F8-4083-2366-D99B-841A98FC2425}"/>
              </a:ext>
            </a:extLst>
          </p:cNvPr>
          <p:cNvSpPr txBox="1"/>
          <p:nvPr/>
        </p:nvSpPr>
        <p:spPr>
          <a:xfrm>
            <a:off x="609600" y="6464300"/>
            <a:ext cx="10414000" cy="169277"/>
          </a:xfrm>
          <a:prstGeom prst="rect">
            <a:avLst/>
          </a:prstGeom>
          <a:noFill/>
        </p:spPr>
        <p:txBody>
          <a:bodyPr vert="horz" wrap="square" lIns="0" tIns="0" rIns="0" bIns="0" rtlCol="0">
            <a:spAutoFit/>
          </a:bodyPr>
          <a:lstStyle/>
          <a:p>
            <a:r>
              <a:rPr lang="en-US" sz="1100">
                <a:solidFill>
                  <a:srgbClr val="526471"/>
                </a:solidFill>
                <a:latin typeface="Aptos" panose="020B0004020202020204" pitchFamily="34" charset="0"/>
              </a:rPr>
              <a:t>Po-wei Huang / Golden query prototype / October 2026</a:t>
            </a:r>
          </a:p>
        </p:txBody>
      </p:sp>
      <p:sp>
        <p:nvSpPr>
          <p:cNvPr id="4" name="TextBox 3">
            <a:extLst>
              <a:ext uri="{FF2B5EF4-FFF2-40B4-BE49-F238E27FC236}">
                <a16:creationId xmlns:a16="http://schemas.microsoft.com/office/drawing/2014/main" id="{2EBD4563-DDBD-6B48-C3AD-B1A8D91292EE}"/>
              </a:ext>
            </a:extLst>
          </p:cNvPr>
          <p:cNvSpPr txBox="1"/>
          <p:nvPr/>
        </p:nvSpPr>
        <p:spPr>
          <a:xfrm>
            <a:off x="11430000" y="6464300"/>
            <a:ext cx="381000" cy="169277"/>
          </a:xfrm>
          <a:prstGeom prst="rect">
            <a:avLst/>
          </a:prstGeom>
          <a:noFill/>
        </p:spPr>
        <p:txBody>
          <a:bodyPr vert="horz" wrap="square" lIns="0" tIns="0" rIns="0" bIns="0" rtlCol="0">
            <a:spAutoFit/>
          </a:bodyPr>
          <a:lstStyle/>
          <a:p>
            <a:r>
              <a:rPr lang="en-US" sz="1100">
                <a:solidFill>
                  <a:srgbClr val="526471"/>
                </a:solidFill>
                <a:latin typeface="Aptos" panose="020B0004020202020204" pitchFamily="34" charset="0"/>
              </a:rPr>
              <a:t>11</a:t>
            </a:r>
          </a:p>
        </p:txBody>
      </p:sp>
      <p:sp>
        <p:nvSpPr>
          <p:cNvPr id="5" name="TextBox 4">
            <a:extLst>
              <a:ext uri="{FF2B5EF4-FFF2-40B4-BE49-F238E27FC236}">
                <a16:creationId xmlns:a16="http://schemas.microsoft.com/office/drawing/2014/main" id="{9122B051-8A8C-AE3A-2D36-5BC8656DF2EE}"/>
              </a:ext>
            </a:extLst>
          </p:cNvPr>
          <p:cNvSpPr txBox="1"/>
          <p:nvPr/>
        </p:nvSpPr>
        <p:spPr>
          <a:xfrm>
            <a:off x="609600" y="1676400"/>
            <a:ext cx="10972800" cy="3046988"/>
          </a:xfrm>
          <a:prstGeom prst="rect">
            <a:avLst/>
          </a:prstGeom>
          <a:noFill/>
        </p:spPr>
        <p:txBody>
          <a:bodyPr vert="horz" wrap="square" lIns="0" tIns="0" rIns="0" bIns="0" rtlCol="0">
            <a:spAutoFit/>
          </a:bodyPr>
          <a:lstStyle/>
          <a:p>
            <a:r>
              <a:rPr lang="en-US">
                <a:solidFill>
                  <a:srgbClr val="142735"/>
                </a:solidFill>
                <a:latin typeface="Consolas" panose="020B0609020204030204" pitchFamily="49" charset="0"/>
              </a:rPr>
              <a:t>SELECT
  country,
  COUNT(*) AS orders,
  CAST(ROUND(ANY_VALUE(p75), 2) AS FLOAT64) AS p75_order_value
FROM (
  SELECT country,
    PERCENTILE_CONT(value, 0.75) OVER (PARTITION BY country) AS p75
  FROM o
)
GROUP BY country
ORDER BY p75_order_value DESC;</a:t>
            </a:r>
          </a:p>
        </p:txBody>
      </p:sp>
      <p:sp>
        <p:nvSpPr>
          <p:cNvPr id="6" name="TextBox 5">
            <a:extLst>
              <a:ext uri="{FF2B5EF4-FFF2-40B4-BE49-F238E27FC236}">
                <a16:creationId xmlns:a16="http://schemas.microsoft.com/office/drawing/2014/main" id="{0D3B36E1-CFCF-4252-B987-038FD7257C9A}"/>
              </a:ext>
            </a:extLst>
          </p:cNvPr>
          <p:cNvSpPr txBox="1"/>
          <p:nvPr/>
        </p:nvSpPr>
        <p:spPr>
          <a:xfrm>
            <a:off x="609600" y="5334000"/>
            <a:ext cx="10972800" cy="677108"/>
          </a:xfrm>
          <a:prstGeom prst="rect">
            <a:avLst/>
          </a:prstGeom>
          <a:noFill/>
        </p:spPr>
        <p:txBody>
          <a:bodyPr vert="horz" wrap="square" lIns="0" tIns="0" rIns="0" bIns="0" rtlCol="0">
            <a:spAutoFit/>
          </a:bodyPr>
          <a:lstStyle/>
          <a:p>
            <a:r>
              <a:rPr lang="en-US" sz="2200" b="1">
                <a:solidFill>
                  <a:srgbClr val="087F6B"/>
                </a:solidFill>
                <a:latin typeface="Aptos" panose="020B0004020202020204" pitchFamily="34" charset="0"/>
              </a:rPr>
              <a:t>o contains filtered orders and their value. For exact decimal P75, use a typed decimal fraction and keep the result decimal.</a:t>
            </a:r>
          </a:p>
        </p:txBody>
      </p:sp>
    </p:spTree>
    <p:extLst>
      <p:ext uri="{BB962C8B-B14F-4D97-AF65-F5344CB8AC3E}">
        <p14:creationId xmlns:p14="http://schemas.microsoft.com/office/powerpoint/2010/main" val="29375609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1752</Words>
  <Application>Microsoft Office PowerPoint</Application>
  <PresentationFormat>Custom</PresentationFormat>
  <Paragraphs>129</Paragraphs>
  <Slides>11</Slides>
  <Notes>11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11</vt:i4>
      </vt:variant>
    </vt:vector>
  </HeadingPairs>
  <TitlesOfParts>
    <vt:vector size="16" baseType="lpstr">
      <vt:lpstr>Aptos</vt:lpstr>
      <vt:lpstr>Aptos Display</vt:lpstr>
      <vt:lpstr>Arial</vt:lpstr>
      <vt:lpstr>Consolas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Po-wei Huang</dc:creator>
  <cp:lastModifiedBy>Po-wei Huang</cp:lastModifiedBy>
  <cp:revision>1</cp:revision>
  <dcterms:created xsi:type="dcterms:W3CDTF">2026-10-21T06:39:22Z</dcterms:created>
  <dcterms:modified xsi:type="dcterms:W3CDTF">2026-10-21T06:39:22Z</dcterms:modified>
</cp:coreProperties>
</file>