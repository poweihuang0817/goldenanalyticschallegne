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37A812-3087-4209-ACA4-903217172EF7}" type="datetimeFigureOut">
              <a:rPr lang="en-US" smtClean="0"/>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4B6B94-994A-40B0-B93B-2685B41B9C77}" type="slidenum">
              <a:rPr lang="en-US" smtClean="0"/>
              <a:t>‹#›</a:t>
            </a:fld>
            <a:endParaRPr lang="en-US"/>
          </a:p>
        </p:txBody>
      </p:sp>
    </p:spTree>
    <p:extLst>
      <p:ext uri="{BB962C8B-B14F-4D97-AF65-F5344CB8AC3E}">
        <p14:creationId xmlns:p14="http://schemas.microsoft.com/office/powerpoint/2010/main" val="746813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Opening: Claude produced a useful dashboard with nine datasets and concise SQL. I would add a reusable query layer for evolving analysis. The opportunity spans semantic intent, safe composition, backend lowering and verification. Current Golden covers only part of this path. This diagram is a proposed product workflow, not a claim of a completed integration. Sources: exported Northwind dashboard queries; PR64 d5c5cad; PR65 coverage plan.</a:t>
            </a:r>
          </a:p>
        </p:txBody>
      </p:sp>
      <p:sp>
        <p:nvSpPr>
          <p:cNvPr id="4" name="Slide Number Placeholder 3"/>
          <p:cNvSpPr>
            <a:spLocks noGrp="1"/>
          </p:cNvSpPr>
          <p:nvPr>
            <p:ph type="sldNum" sz="quarter" idx="5"/>
          </p:nvPr>
        </p:nvSpPr>
        <p:spPr/>
        <p:txBody>
          <a:bodyPr/>
          <a:lstStyle/>
          <a:p>
            <a:fld id="{524B6B94-994A-40B0-B93B-2685B41B9C77}" type="slidenum">
              <a:rPr lang="en-US" smtClean="0"/>
              <a:t>1</a:t>
            </a:fld>
            <a:endParaRPr lang="en-US"/>
          </a:p>
        </p:txBody>
      </p:sp>
    </p:spTree>
    <p:extLst>
      <p:ext uri="{BB962C8B-B14F-4D97-AF65-F5344CB8AC3E}">
        <p14:creationId xmlns:p14="http://schemas.microsoft.com/office/powerpoint/2010/main" val="14276690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Proposed orchestration based on actual exported behavior. Country comparison and P75 ignore the selected country. KPI and customer rankings apply it. Date selection applies to both branches. A shared definition is not shared materialized execution: the database may still run separate scans. Golden has query composition but date predicates and full dashboard filter orchestration remain planned.</a:t>
            </a:r>
          </a:p>
        </p:txBody>
      </p:sp>
      <p:sp>
        <p:nvSpPr>
          <p:cNvPr id="4" name="Slide Number Placeholder 3"/>
          <p:cNvSpPr>
            <a:spLocks noGrp="1"/>
          </p:cNvSpPr>
          <p:nvPr>
            <p:ph type="sldNum" sz="quarter" idx="5"/>
          </p:nvPr>
        </p:nvSpPr>
        <p:spPr/>
        <p:txBody>
          <a:bodyPr/>
          <a:lstStyle/>
          <a:p>
            <a:fld id="{524B6B94-994A-40B0-B93B-2685B41B9C77}" type="slidenum">
              <a:rPr lang="en-US" smtClean="0"/>
              <a:t>2</a:t>
            </a:fld>
            <a:endParaRPr lang="en-US"/>
          </a:p>
        </p:txBody>
      </p:sp>
    </p:spTree>
    <p:extLst>
      <p:ext uri="{BB962C8B-B14F-4D97-AF65-F5344CB8AC3E}">
        <p14:creationId xmlns:p14="http://schemas.microsoft.com/office/powerpoint/2010/main" val="17261779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two query structures have different meanings even though their operators are the same. First pipeline means top ten customers within Germany. Second means German customers within the worldwide top ten, potentially fewer than ten. Assume customer revenue has already been computed and top ten has deterministic ordering. An IR preserves order but does not infer which meaning the user intended. A SQL AST can also represent this.</a:t>
            </a:r>
          </a:p>
        </p:txBody>
      </p:sp>
      <p:sp>
        <p:nvSpPr>
          <p:cNvPr id="4" name="Slide Number Placeholder 3"/>
          <p:cNvSpPr>
            <a:spLocks noGrp="1"/>
          </p:cNvSpPr>
          <p:nvPr>
            <p:ph type="sldNum" sz="quarter" idx="5"/>
          </p:nvPr>
        </p:nvSpPr>
        <p:spPr/>
        <p:txBody>
          <a:bodyPr/>
          <a:lstStyle/>
          <a:p>
            <a:fld id="{524B6B94-994A-40B0-B93B-2685B41B9C77}" type="slidenum">
              <a:rPr lang="en-US" smtClean="0"/>
              <a:t>3</a:t>
            </a:fld>
            <a:endParaRPr lang="en-US"/>
          </a:p>
        </p:txBody>
      </p:sp>
    </p:spTree>
    <p:extLst>
      <p:ext uri="{BB962C8B-B14F-4D97-AF65-F5344CB8AC3E}">
        <p14:creationId xmlns:p14="http://schemas.microsoft.com/office/powerpoint/2010/main" val="33289581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Implemented in open PR64 f05c732 and retained in d5c5cad. BigQuery uses native percentile_cont with typed BIGNUMERIC fraction for exact decimal inputs, while MySQL uses portable rank/count interpolation. Native support is not sufficient alone: types, nulls, empty inputs and precision need tests. Unsupported operations fail explicitly. The capability model describes implemented compiler support. PostgreSQL currently retains rewrite too, so do not claim all native engines choose native.</a:t>
            </a:r>
          </a:p>
        </p:txBody>
      </p:sp>
      <p:sp>
        <p:nvSpPr>
          <p:cNvPr id="4" name="Slide Number Placeholder 3"/>
          <p:cNvSpPr>
            <a:spLocks noGrp="1"/>
          </p:cNvSpPr>
          <p:nvPr>
            <p:ph type="sldNum" sz="quarter" idx="5"/>
          </p:nvPr>
        </p:nvSpPr>
        <p:spPr/>
        <p:txBody>
          <a:bodyPr/>
          <a:lstStyle/>
          <a:p>
            <a:fld id="{524B6B94-994A-40B0-B93B-2685B41B9C77}" type="slidenum">
              <a:rPr lang="en-US" smtClean="0"/>
              <a:t>4</a:t>
            </a:fld>
            <a:endParaRPr lang="en-US"/>
          </a:p>
        </p:txBody>
      </p:sp>
    </p:spTree>
    <p:extLst>
      <p:ext uri="{BB962C8B-B14F-4D97-AF65-F5344CB8AC3E}">
        <p14:creationId xmlns:p14="http://schemas.microsoft.com/office/powerpoint/2010/main" val="1759043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Current compiler duplicates decimal expressions inside rounding and overflow guards. Proposal: introduce query-block projections to name intermediate results and reference columns. This is not implemented by this presentation. A naive scalar-subquery/UNNEST attempt was rejected after slot-use regression and conditional-evaluation problems. CTEs do not guarantee materialization or speed. Preserve CASE/COALESCE laziness, aggregate scope, intermediate rounding and overflow.</a:t>
            </a:r>
          </a:p>
        </p:txBody>
      </p:sp>
      <p:sp>
        <p:nvSpPr>
          <p:cNvPr id="4" name="Slide Number Placeholder 3"/>
          <p:cNvSpPr>
            <a:spLocks noGrp="1"/>
          </p:cNvSpPr>
          <p:nvPr>
            <p:ph type="sldNum" sz="quarter" idx="5"/>
          </p:nvPr>
        </p:nvSpPr>
        <p:spPr/>
        <p:txBody>
          <a:bodyPr/>
          <a:lstStyle/>
          <a:p>
            <a:fld id="{524B6B94-994A-40B0-B93B-2685B41B9C77}" type="slidenum">
              <a:rPr lang="en-US" smtClean="0"/>
              <a:t>5</a:t>
            </a:fld>
            <a:endParaRPr lang="en-US"/>
          </a:p>
        </p:txBody>
      </p:sp>
    </p:spTree>
    <p:extLst>
      <p:ext uri="{BB962C8B-B14F-4D97-AF65-F5344CB8AC3E}">
        <p14:creationId xmlns:p14="http://schemas.microsoft.com/office/powerpoint/2010/main" val="28327513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Implemented fanout fixture in test/bigquery-integration.test.ts at d5c5cad. One order freight 10 and three lines worth 100 each: correct ratio 10/300, wrong joined-row freight sum 30/300. Both queries execute. A trusted fixture catches the difference. This test does not establish that the exported Claude query has this bug; it is a deliberately wrong SQL candidate. Validation can evaluate both LLM SQL and compiler SQL. Full production safety needs more than this example.</a:t>
            </a:r>
          </a:p>
        </p:txBody>
      </p:sp>
      <p:sp>
        <p:nvSpPr>
          <p:cNvPr id="4" name="Slide Number Placeholder 3"/>
          <p:cNvSpPr>
            <a:spLocks noGrp="1"/>
          </p:cNvSpPr>
          <p:nvPr>
            <p:ph type="sldNum" sz="quarter" idx="5"/>
          </p:nvPr>
        </p:nvSpPr>
        <p:spPr/>
        <p:txBody>
          <a:bodyPr/>
          <a:lstStyle/>
          <a:p>
            <a:fld id="{524B6B94-994A-40B0-B93B-2685B41B9C77}" type="slidenum">
              <a:rPr lang="en-US" smtClean="0"/>
              <a:t>6</a:t>
            </a:fld>
            <a:endParaRPr lang="en-US"/>
          </a:p>
        </p:txBody>
      </p:sp>
    </p:spTree>
    <p:extLst>
      <p:ext uri="{BB962C8B-B14F-4D97-AF65-F5344CB8AC3E}">
        <p14:creationId xmlns:p14="http://schemas.microsoft.com/office/powerpoint/2010/main" val="16758251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Observed BigQuery query: percentile_cont(NUMERIC value,0.75) returned FLOAT64. 0.75 itself is exactly representable; the computation type promotes decimal inputs/results to approximate arithmetic. USA P75 exact 2477.5750000000, exported float path rounded to 2477.57, typed NUMERIC fraction rounded to 2477.58. This is an observed example, not a claim that all float computations are wrong. Golden decimal(38,10) per-operation enforcement is its own policy and contributes to verbose SQL. Evidence: live comparison during this session and PR64 docs/BIGQUERY.md.</a:t>
            </a:r>
          </a:p>
        </p:txBody>
      </p:sp>
      <p:sp>
        <p:nvSpPr>
          <p:cNvPr id="4" name="Slide Number Placeholder 3"/>
          <p:cNvSpPr>
            <a:spLocks noGrp="1"/>
          </p:cNvSpPr>
          <p:nvPr>
            <p:ph type="sldNum" sz="quarter" idx="5"/>
          </p:nvPr>
        </p:nvSpPr>
        <p:spPr/>
        <p:txBody>
          <a:bodyPr/>
          <a:lstStyle/>
          <a:p>
            <a:fld id="{524B6B94-994A-40B0-B93B-2685B41B9C77}" type="slidenum">
              <a:rPr lang="en-US" smtClean="0"/>
              <a:t>7</a:t>
            </a:fld>
            <a:endParaRPr lang="en-US"/>
          </a:p>
        </p:txBody>
      </p:sp>
    </p:spTree>
    <p:extLst>
      <p:ext uri="{BB962C8B-B14F-4D97-AF65-F5344CB8AC3E}">
        <p14:creationId xmlns:p14="http://schemas.microsoft.com/office/powerpoint/2010/main" val="16535509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Proposal, not completed implementation. First define grains and filter inheritance for the nine actual dashboard datasets. Build independent fixtures and mutation-style wrong SQL examples. Then extend date filters, month grouping, catalog fields and percentile-with-count support. Compare LLM SQL and Golden SQL with matched semantics and populations, cost and change effort. Current measured cleanup: freight 10476 to7366 characters, native P75 9639 to6885; shorter text is not proof of speed. The test harness is useful even if the product later chooses direct SQL instead of Substrait.</a:t>
            </a:r>
          </a:p>
        </p:txBody>
      </p:sp>
      <p:sp>
        <p:nvSpPr>
          <p:cNvPr id="4" name="Slide Number Placeholder 3"/>
          <p:cNvSpPr>
            <a:spLocks noGrp="1"/>
          </p:cNvSpPr>
          <p:nvPr>
            <p:ph type="sldNum" sz="quarter" idx="5"/>
          </p:nvPr>
        </p:nvSpPr>
        <p:spPr/>
        <p:txBody>
          <a:bodyPr/>
          <a:lstStyle/>
          <a:p>
            <a:fld id="{524B6B94-994A-40B0-B93B-2685B41B9C77}" type="slidenum">
              <a:rPr lang="en-US" smtClean="0"/>
              <a:t>8</a:t>
            </a:fld>
            <a:endParaRPr lang="en-US"/>
          </a:p>
        </p:txBody>
      </p:sp>
    </p:spTree>
    <p:extLst>
      <p:ext uri="{BB962C8B-B14F-4D97-AF65-F5344CB8AC3E}">
        <p14:creationId xmlns:p14="http://schemas.microsoft.com/office/powerpoint/2010/main" val="36542150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Actual final aggregation excerpt from downloaded queries.sql p75_country. Preceding CTEs define o with filtered orders and discounted order values. The export deliberately ignores country selection for this chart. A typed decimal percentile fraction can avoid FLOAT64 promotion, but keeping the final cast to FLOAT64 would still discard exact transport precision. Full export and Golden populations differ. No claim that Claude requires a new LLM call for parameter-only filter changes.</a:t>
            </a:r>
          </a:p>
        </p:txBody>
      </p:sp>
      <p:sp>
        <p:nvSpPr>
          <p:cNvPr id="4" name="Slide Number Placeholder 3"/>
          <p:cNvSpPr>
            <a:spLocks noGrp="1"/>
          </p:cNvSpPr>
          <p:nvPr>
            <p:ph type="sldNum" sz="quarter" idx="5"/>
          </p:nvPr>
        </p:nvSpPr>
        <p:spPr/>
        <p:txBody>
          <a:bodyPr/>
          <a:lstStyle/>
          <a:p>
            <a:fld id="{524B6B94-994A-40B0-B93B-2685B41B9C77}" type="slidenum">
              <a:rPr lang="en-US" smtClean="0"/>
              <a:t>9</a:t>
            </a:fld>
            <a:endParaRPr lang="en-US"/>
          </a:p>
        </p:txBody>
      </p:sp>
    </p:spTree>
    <p:extLst>
      <p:ext uri="{BB962C8B-B14F-4D97-AF65-F5344CB8AC3E}">
        <p14:creationId xmlns:p14="http://schemas.microsoft.com/office/powerpoint/2010/main" val="19946732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6E428-8E36-06B7-3DF0-F0A98730B4A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8B01F34-1AB0-0FC3-0EA5-1F9334AD28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741CE1C-DBF0-E6D5-075C-57BCED117468}"/>
              </a:ext>
            </a:extLst>
          </p:cNvPr>
          <p:cNvSpPr>
            <a:spLocks noGrp="1"/>
          </p:cNvSpPr>
          <p:nvPr>
            <p:ph type="dt" sz="half" idx="10"/>
          </p:nvPr>
        </p:nvSpPr>
        <p:spPr/>
        <p:txBody>
          <a:bodyPr/>
          <a:lstStyle/>
          <a:p>
            <a:fld id="{F39A5666-EA16-4189-B53D-B4226FE24B5F}" type="datetimeFigureOut">
              <a:rPr lang="en-US" smtClean="0"/>
              <a:t>10/20/2026</a:t>
            </a:fld>
            <a:endParaRPr lang="en-US"/>
          </a:p>
        </p:txBody>
      </p:sp>
      <p:sp>
        <p:nvSpPr>
          <p:cNvPr id="5" name="Footer Placeholder 4">
            <a:extLst>
              <a:ext uri="{FF2B5EF4-FFF2-40B4-BE49-F238E27FC236}">
                <a16:creationId xmlns:a16="http://schemas.microsoft.com/office/drawing/2014/main" id="{3184E0B9-DEA1-7192-46B1-31DEC543BF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48B73D-F604-B3B5-98F5-77AE5367A399}"/>
              </a:ext>
            </a:extLst>
          </p:cNvPr>
          <p:cNvSpPr>
            <a:spLocks noGrp="1"/>
          </p:cNvSpPr>
          <p:nvPr>
            <p:ph type="sldNum" sz="quarter" idx="12"/>
          </p:nvPr>
        </p:nvSpPr>
        <p:spPr/>
        <p:txBody>
          <a:bodyPr/>
          <a:lstStyle/>
          <a:p>
            <a:fld id="{E1EC4E9D-CF7A-4D5C-A63B-1E6C1E9037AA}" type="slidenum">
              <a:rPr lang="en-US" smtClean="0"/>
              <a:t>‹#›</a:t>
            </a:fld>
            <a:endParaRPr lang="en-US"/>
          </a:p>
        </p:txBody>
      </p:sp>
    </p:spTree>
    <p:extLst>
      <p:ext uri="{BB962C8B-B14F-4D97-AF65-F5344CB8AC3E}">
        <p14:creationId xmlns:p14="http://schemas.microsoft.com/office/powerpoint/2010/main" val="30928088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29A8C-CAAC-4399-3949-3A50280D913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BB34BD8-84AE-9A23-2C7D-98E92545891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0EE19B-0D39-1537-AED5-1F7DC650F80F}"/>
              </a:ext>
            </a:extLst>
          </p:cNvPr>
          <p:cNvSpPr>
            <a:spLocks noGrp="1"/>
          </p:cNvSpPr>
          <p:nvPr>
            <p:ph type="dt" sz="half" idx="10"/>
          </p:nvPr>
        </p:nvSpPr>
        <p:spPr/>
        <p:txBody>
          <a:bodyPr/>
          <a:lstStyle/>
          <a:p>
            <a:fld id="{F39A5666-EA16-4189-B53D-B4226FE24B5F}" type="datetimeFigureOut">
              <a:rPr lang="en-US" smtClean="0"/>
              <a:t>10/20/2026</a:t>
            </a:fld>
            <a:endParaRPr lang="en-US"/>
          </a:p>
        </p:txBody>
      </p:sp>
      <p:sp>
        <p:nvSpPr>
          <p:cNvPr id="5" name="Footer Placeholder 4">
            <a:extLst>
              <a:ext uri="{FF2B5EF4-FFF2-40B4-BE49-F238E27FC236}">
                <a16:creationId xmlns:a16="http://schemas.microsoft.com/office/drawing/2014/main" id="{1D78397A-B467-4873-A465-9BE1B57CA6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855AB3-7C44-5F04-9AE2-45AF80DD5B56}"/>
              </a:ext>
            </a:extLst>
          </p:cNvPr>
          <p:cNvSpPr>
            <a:spLocks noGrp="1"/>
          </p:cNvSpPr>
          <p:nvPr>
            <p:ph type="sldNum" sz="quarter" idx="12"/>
          </p:nvPr>
        </p:nvSpPr>
        <p:spPr/>
        <p:txBody>
          <a:bodyPr/>
          <a:lstStyle/>
          <a:p>
            <a:fld id="{E1EC4E9D-CF7A-4D5C-A63B-1E6C1E9037AA}" type="slidenum">
              <a:rPr lang="en-US" smtClean="0"/>
              <a:t>‹#›</a:t>
            </a:fld>
            <a:endParaRPr lang="en-US"/>
          </a:p>
        </p:txBody>
      </p:sp>
    </p:spTree>
    <p:extLst>
      <p:ext uri="{BB962C8B-B14F-4D97-AF65-F5344CB8AC3E}">
        <p14:creationId xmlns:p14="http://schemas.microsoft.com/office/powerpoint/2010/main" val="31653508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121E9-1B26-E274-B64C-862A8BD0618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D9E154-EA66-C77B-6734-0B31D62AFB2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EA7920F-79F1-BD4C-1BF7-152E09976C08}"/>
              </a:ext>
            </a:extLst>
          </p:cNvPr>
          <p:cNvSpPr>
            <a:spLocks noGrp="1"/>
          </p:cNvSpPr>
          <p:nvPr>
            <p:ph type="dt" sz="half" idx="10"/>
          </p:nvPr>
        </p:nvSpPr>
        <p:spPr/>
        <p:txBody>
          <a:bodyPr/>
          <a:lstStyle/>
          <a:p>
            <a:fld id="{F39A5666-EA16-4189-B53D-B4226FE24B5F}" type="datetimeFigureOut">
              <a:rPr lang="en-US" smtClean="0"/>
              <a:t>10/20/2026</a:t>
            </a:fld>
            <a:endParaRPr lang="en-US"/>
          </a:p>
        </p:txBody>
      </p:sp>
      <p:sp>
        <p:nvSpPr>
          <p:cNvPr id="5" name="Footer Placeholder 4">
            <a:extLst>
              <a:ext uri="{FF2B5EF4-FFF2-40B4-BE49-F238E27FC236}">
                <a16:creationId xmlns:a16="http://schemas.microsoft.com/office/drawing/2014/main" id="{15A8FBC0-5A6D-707D-7FFD-422271B237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6FEAC5-ED01-6999-692C-75F1CFD39219}"/>
              </a:ext>
            </a:extLst>
          </p:cNvPr>
          <p:cNvSpPr>
            <a:spLocks noGrp="1"/>
          </p:cNvSpPr>
          <p:nvPr>
            <p:ph type="sldNum" sz="quarter" idx="12"/>
          </p:nvPr>
        </p:nvSpPr>
        <p:spPr/>
        <p:txBody>
          <a:bodyPr/>
          <a:lstStyle/>
          <a:p>
            <a:fld id="{E1EC4E9D-CF7A-4D5C-A63B-1E6C1E9037AA}" type="slidenum">
              <a:rPr lang="en-US" smtClean="0"/>
              <a:t>‹#›</a:t>
            </a:fld>
            <a:endParaRPr lang="en-US"/>
          </a:p>
        </p:txBody>
      </p:sp>
    </p:spTree>
    <p:extLst>
      <p:ext uri="{BB962C8B-B14F-4D97-AF65-F5344CB8AC3E}">
        <p14:creationId xmlns:p14="http://schemas.microsoft.com/office/powerpoint/2010/main" val="19243429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9426E-AC2E-2E0C-A866-6D0A46AB1CF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C52A06-5E5F-3AF5-1F6C-5F8884A67E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E1B44A6-21B4-4186-36DE-2A68D2EB6D7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8E38845-06E6-BB4C-F3D4-760F7772AF41}"/>
              </a:ext>
            </a:extLst>
          </p:cNvPr>
          <p:cNvSpPr>
            <a:spLocks noGrp="1"/>
          </p:cNvSpPr>
          <p:nvPr>
            <p:ph type="dt" sz="half" idx="10"/>
          </p:nvPr>
        </p:nvSpPr>
        <p:spPr/>
        <p:txBody>
          <a:bodyPr/>
          <a:lstStyle/>
          <a:p>
            <a:fld id="{F39A5666-EA16-4189-B53D-B4226FE24B5F}" type="datetimeFigureOut">
              <a:rPr lang="en-US" smtClean="0"/>
              <a:t>10/20/2026</a:t>
            </a:fld>
            <a:endParaRPr lang="en-US"/>
          </a:p>
        </p:txBody>
      </p:sp>
      <p:sp>
        <p:nvSpPr>
          <p:cNvPr id="6" name="Footer Placeholder 5">
            <a:extLst>
              <a:ext uri="{FF2B5EF4-FFF2-40B4-BE49-F238E27FC236}">
                <a16:creationId xmlns:a16="http://schemas.microsoft.com/office/drawing/2014/main" id="{BCDE289A-E742-94B9-CECC-73C0C978DA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61F8D0-E1F2-1BAA-F018-F7209561878D}"/>
              </a:ext>
            </a:extLst>
          </p:cNvPr>
          <p:cNvSpPr>
            <a:spLocks noGrp="1"/>
          </p:cNvSpPr>
          <p:nvPr>
            <p:ph type="sldNum" sz="quarter" idx="12"/>
          </p:nvPr>
        </p:nvSpPr>
        <p:spPr/>
        <p:txBody>
          <a:bodyPr/>
          <a:lstStyle/>
          <a:p>
            <a:fld id="{E1EC4E9D-CF7A-4D5C-A63B-1E6C1E9037AA}" type="slidenum">
              <a:rPr lang="en-US" smtClean="0"/>
              <a:t>‹#›</a:t>
            </a:fld>
            <a:endParaRPr lang="en-US"/>
          </a:p>
        </p:txBody>
      </p:sp>
    </p:spTree>
    <p:extLst>
      <p:ext uri="{BB962C8B-B14F-4D97-AF65-F5344CB8AC3E}">
        <p14:creationId xmlns:p14="http://schemas.microsoft.com/office/powerpoint/2010/main" val="32920608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FBC2B-0D07-B4F8-329E-5CB056EEDDE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B70CB02-FF66-AC0A-D2C8-B0F7787AC46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F1D5A88-A474-E584-05C5-C8EBD64D3DF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FD2CBBC-13DB-367A-4570-DE6A8A1C35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EC6D9E-498D-1683-0C6D-DEFB73B8CBF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90624A9-52C5-28B4-239F-2D8B8B9AEF71}"/>
              </a:ext>
            </a:extLst>
          </p:cNvPr>
          <p:cNvSpPr>
            <a:spLocks noGrp="1"/>
          </p:cNvSpPr>
          <p:nvPr>
            <p:ph type="dt" sz="half" idx="10"/>
          </p:nvPr>
        </p:nvSpPr>
        <p:spPr/>
        <p:txBody>
          <a:bodyPr/>
          <a:lstStyle/>
          <a:p>
            <a:fld id="{F39A5666-EA16-4189-B53D-B4226FE24B5F}" type="datetimeFigureOut">
              <a:rPr lang="en-US" smtClean="0"/>
              <a:t>10/20/2026</a:t>
            </a:fld>
            <a:endParaRPr lang="en-US"/>
          </a:p>
        </p:txBody>
      </p:sp>
      <p:sp>
        <p:nvSpPr>
          <p:cNvPr id="8" name="Footer Placeholder 7">
            <a:extLst>
              <a:ext uri="{FF2B5EF4-FFF2-40B4-BE49-F238E27FC236}">
                <a16:creationId xmlns:a16="http://schemas.microsoft.com/office/drawing/2014/main" id="{0C84495F-F667-A32B-9BF9-EDC422A8827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D4B7A61-E5DB-02FE-00D4-286FADB0BD32}"/>
              </a:ext>
            </a:extLst>
          </p:cNvPr>
          <p:cNvSpPr>
            <a:spLocks noGrp="1"/>
          </p:cNvSpPr>
          <p:nvPr>
            <p:ph type="sldNum" sz="quarter" idx="12"/>
          </p:nvPr>
        </p:nvSpPr>
        <p:spPr/>
        <p:txBody>
          <a:bodyPr/>
          <a:lstStyle/>
          <a:p>
            <a:fld id="{E1EC4E9D-CF7A-4D5C-A63B-1E6C1E9037AA}" type="slidenum">
              <a:rPr lang="en-US" smtClean="0"/>
              <a:t>‹#›</a:t>
            </a:fld>
            <a:endParaRPr lang="en-US"/>
          </a:p>
        </p:txBody>
      </p:sp>
    </p:spTree>
    <p:extLst>
      <p:ext uri="{BB962C8B-B14F-4D97-AF65-F5344CB8AC3E}">
        <p14:creationId xmlns:p14="http://schemas.microsoft.com/office/powerpoint/2010/main" val="41630934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C70B8-C947-09D2-EAE5-019827CBC5B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41C19F6-76F3-91AE-18C7-63CB0FBF8C67}"/>
              </a:ext>
            </a:extLst>
          </p:cNvPr>
          <p:cNvSpPr>
            <a:spLocks noGrp="1"/>
          </p:cNvSpPr>
          <p:nvPr>
            <p:ph type="dt" sz="half" idx="10"/>
          </p:nvPr>
        </p:nvSpPr>
        <p:spPr/>
        <p:txBody>
          <a:bodyPr/>
          <a:lstStyle/>
          <a:p>
            <a:fld id="{F39A5666-EA16-4189-B53D-B4226FE24B5F}" type="datetimeFigureOut">
              <a:rPr lang="en-US" smtClean="0"/>
              <a:t>10/20/2026</a:t>
            </a:fld>
            <a:endParaRPr lang="en-US"/>
          </a:p>
        </p:txBody>
      </p:sp>
      <p:sp>
        <p:nvSpPr>
          <p:cNvPr id="4" name="Footer Placeholder 3">
            <a:extLst>
              <a:ext uri="{FF2B5EF4-FFF2-40B4-BE49-F238E27FC236}">
                <a16:creationId xmlns:a16="http://schemas.microsoft.com/office/drawing/2014/main" id="{B46484C0-8200-521A-6BA2-DC06DC99951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758734A-03D8-A919-A087-561D0A268D33}"/>
              </a:ext>
            </a:extLst>
          </p:cNvPr>
          <p:cNvSpPr>
            <a:spLocks noGrp="1"/>
          </p:cNvSpPr>
          <p:nvPr>
            <p:ph type="sldNum" sz="quarter" idx="12"/>
          </p:nvPr>
        </p:nvSpPr>
        <p:spPr/>
        <p:txBody>
          <a:bodyPr/>
          <a:lstStyle/>
          <a:p>
            <a:fld id="{E1EC4E9D-CF7A-4D5C-A63B-1E6C1E9037AA}" type="slidenum">
              <a:rPr lang="en-US" smtClean="0"/>
              <a:t>‹#›</a:t>
            </a:fld>
            <a:endParaRPr lang="en-US"/>
          </a:p>
        </p:txBody>
      </p:sp>
    </p:spTree>
    <p:extLst>
      <p:ext uri="{BB962C8B-B14F-4D97-AF65-F5344CB8AC3E}">
        <p14:creationId xmlns:p14="http://schemas.microsoft.com/office/powerpoint/2010/main" val="1853155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113D3B-2322-123B-C5F0-644BBC413C84}"/>
              </a:ext>
            </a:extLst>
          </p:cNvPr>
          <p:cNvSpPr>
            <a:spLocks noGrp="1"/>
          </p:cNvSpPr>
          <p:nvPr>
            <p:ph type="dt" sz="half" idx="10"/>
          </p:nvPr>
        </p:nvSpPr>
        <p:spPr/>
        <p:txBody>
          <a:bodyPr/>
          <a:lstStyle/>
          <a:p>
            <a:fld id="{F39A5666-EA16-4189-B53D-B4226FE24B5F}" type="datetimeFigureOut">
              <a:rPr lang="en-US" smtClean="0"/>
              <a:t>10/20/2026</a:t>
            </a:fld>
            <a:endParaRPr lang="en-US"/>
          </a:p>
        </p:txBody>
      </p:sp>
      <p:sp>
        <p:nvSpPr>
          <p:cNvPr id="3" name="Footer Placeholder 2">
            <a:extLst>
              <a:ext uri="{FF2B5EF4-FFF2-40B4-BE49-F238E27FC236}">
                <a16:creationId xmlns:a16="http://schemas.microsoft.com/office/drawing/2014/main" id="{69598DD0-309A-6FA1-53A7-45F1372F8A3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63D4E6C-9392-E6BD-8458-D29BEBE450F9}"/>
              </a:ext>
            </a:extLst>
          </p:cNvPr>
          <p:cNvSpPr>
            <a:spLocks noGrp="1"/>
          </p:cNvSpPr>
          <p:nvPr>
            <p:ph type="sldNum" sz="quarter" idx="12"/>
          </p:nvPr>
        </p:nvSpPr>
        <p:spPr/>
        <p:txBody>
          <a:bodyPr/>
          <a:lstStyle/>
          <a:p>
            <a:fld id="{E1EC4E9D-CF7A-4D5C-A63B-1E6C1E9037AA}" type="slidenum">
              <a:rPr lang="en-US" smtClean="0"/>
              <a:t>‹#›</a:t>
            </a:fld>
            <a:endParaRPr lang="en-US"/>
          </a:p>
        </p:txBody>
      </p:sp>
    </p:spTree>
    <p:extLst>
      <p:ext uri="{BB962C8B-B14F-4D97-AF65-F5344CB8AC3E}">
        <p14:creationId xmlns:p14="http://schemas.microsoft.com/office/powerpoint/2010/main" val="23875446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9EF99-3481-44D1-7C80-1233B45674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3BFE45C-CC90-D975-28EC-6D1A0823C8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653238B-9A8B-921A-9CA4-E1D4D743B5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76F355-A49F-E890-20A7-DDDE3F1C406E}"/>
              </a:ext>
            </a:extLst>
          </p:cNvPr>
          <p:cNvSpPr>
            <a:spLocks noGrp="1"/>
          </p:cNvSpPr>
          <p:nvPr>
            <p:ph type="dt" sz="half" idx="10"/>
          </p:nvPr>
        </p:nvSpPr>
        <p:spPr/>
        <p:txBody>
          <a:bodyPr/>
          <a:lstStyle/>
          <a:p>
            <a:fld id="{F39A5666-EA16-4189-B53D-B4226FE24B5F}" type="datetimeFigureOut">
              <a:rPr lang="en-US" smtClean="0"/>
              <a:t>10/20/2026</a:t>
            </a:fld>
            <a:endParaRPr lang="en-US"/>
          </a:p>
        </p:txBody>
      </p:sp>
      <p:sp>
        <p:nvSpPr>
          <p:cNvPr id="6" name="Footer Placeholder 5">
            <a:extLst>
              <a:ext uri="{FF2B5EF4-FFF2-40B4-BE49-F238E27FC236}">
                <a16:creationId xmlns:a16="http://schemas.microsoft.com/office/drawing/2014/main" id="{1CCD9142-C1BA-A58F-0FCD-D3C70486BF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8FC630-959C-DC13-7869-734AEC3712D4}"/>
              </a:ext>
            </a:extLst>
          </p:cNvPr>
          <p:cNvSpPr>
            <a:spLocks noGrp="1"/>
          </p:cNvSpPr>
          <p:nvPr>
            <p:ph type="sldNum" sz="quarter" idx="12"/>
          </p:nvPr>
        </p:nvSpPr>
        <p:spPr/>
        <p:txBody>
          <a:bodyPr/>
          <a:lstStyle/>
          <a:p>
            <a:fld id="{E1EC4E9D-CF7A-4D5C-A63B-1E6C1E9037AA}" type="slidenum">
              <a:rPr lang="en-US" smtClean="0"/>
              <a:t>‹#›</a:t>
            </a:fld>
            <a:endParaRPr lang="en-US"/>
          </a:p>
        </p:txBody>
      </p:sp>
    </p:spTree>
    <p:extLst>
      <p:ext uri="{BB962C8B-B14F-4D97-AF65-F5344CB8AC3E}">
        <p14:creationId xmlns:p14="http://schemas.microsoft.com/office/powerpoint/2010/main" val="3926780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C3EBE-655A-A68B-18E5-A78EA2B70F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C9F5619-E565-D59B-439A-9E82DF5BF62E}"/>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4A37A76-5655-057D-29E7-1E81C386F2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CAD83E-B136-7DA2-D8F2-71C908406C9A}"/>
              </a:ext>
            </a:extLst>
          </p:cNvPr>
          <p:cNvSpPr>
            <a:spLocks noGrp="1"/>
          </p:cNvSpPr>
          <p:nvPr>
            <p:ph type="dt" sz="half" idx="10"/>
          </p:nvPr>
        </p:nvSpPr>
        <p:spPr/>
        <p:txBody>
          <a:bodyPr/>
          <a:lstStyle/>
          <a:p>
            <a:fld id="{F39A5666-EA16-4189-B53D-B4226FE24B5F}" type="datetimeFigureOut">
              <a:rPr lang="en-US" smtClean="0"/>
              <a:t>10/20/2026</a:t>
            </a:fld>
            <a:endParaRPr lang="en-US"/>
          </a:p>
        </p:txBody>
      </p:sp>
      <p:sp>
        <p:nvSpPr>
          <p:cNvPr id="6" name="Footer Placeholder 5">
            <a:extLst>
              <a:ext uri="{FF2B5EF4-FFF2-40B4-BE49-F238E27FC236}">
                <a16:creationId xmlns:a16="http://schemas.microsoft.com/office/drawing/2014/main" id="{0B04F9E2-037C-A9DB-CA1B-E31620F363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FF4B7D-2344-6E5B-B8C9-991786325CC8}"/>
              </a:ext>
            </a:extLst>
          </p:cNvPr>
          <p:cNvSpPr>
            <a:spLocks noGrp="1"/>
          </p:cNvSpPr>
          <p:nvPr>
            <p:ph type="sldNum" sz="quarter" idx="12"/>
          </p:nvPr>
        </p:nvSpPr>
        <p:spPr/>
        <p:txBody>
          <a:bodyPr/>
          <a:lstStyle/>
          <a:p>
            <a:fld id="{E1EC4E9D-CF7A-4D5C-A63B-1E6C1E9037AA}" type="slidenum">
              <a:rPr lang="en-US" smtClean="0"/>
              <a:t>‹#›</a:t>
            </a:fld>
            <a:endParaRPr lang="en-US"/>
          </a:p>
        </p:txBody>
      </p:sp>
    </p:spTree>
    <p:extLst>
      <p:ext uri="{BB962C8B-B14F-4D97-AF65-F5344CB8AC3E}">
        <p14:creationId xmlns:p14="http://schemas.microsoft.com/office/powerpoint/2010/main" val="23834578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14642-7F0D-E336-EC08-406A6915BF6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4FE972E-EB88-8731-C99A-C34DA3BAA6D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2892C5-364D-300C-597A-0F4F718822A1}"/>
              </a:ext>
            </a:extLst>
          </p:cNvPr>
          <p:cNvSpPr>
            <a:spLocks noGrp="1"/>
          </p:cNvSpPr>
          <p:nvPr>
            <p:ph type="dt" sz="half" idx="10"/>
          </p:nvPr>
        </p:nvSpPr>
        <p:spPr/>
        <p:txBody>
          <a:bodyPr/>
          <a:lstStyle/>
          <a:p>
            <a:fld id="{F39A5666-EA16-4189-B53D-B4226FE24B5F}" type="datetimeFigureOut">
              <a:rPr lang="en-US" smtClean="0"/>
              <a:t>10/20/2026</a:t>
            </a:fld>
            <a:endParaRPr lang="en-US"/>
          </a:p>
        </p:txBody>
      </p:sp>
      <p:sp>
        <p:nvSpPr>
          <p:cNvPr id="5" name="Footer Placeholder 4">
            <a:extLst>
              <a:ext uri="{FF2B5EF4-FFF2-40B4-BE49-F238E27FC236}">
                <a16:creationId xmlns:a16="http://schemas.microsoft.com/office/drawing/2014/main" id="{98A7C600-51B0-22DA-D7F3-16E62A60C0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BC1528-4EFE-C78A-A0D1-494107D88A2A}"/>
              </a:ext>
            </a:extLst>
          </p:cNvPr>
          <p:cNvSpPr>
            <a:spLocks noGrp="1"/>
          </p:cNvSpPr>
          <p:nvPr>
            <p:ph type="sldNum" sz="quarter" idx="12"/>
          </p:nvPr>
        </p:nvSpPr>
        <p:spPr/>
        <p:txBody>
          <a:bodyPr/>
          <a:lstStyle/>
          <a:p>
            <a:fld id="{E1EC4E9D-CF7A-4D5C-A63B-1E6C1E9037AA}" type="slidenum">
              <a:rPr lang="en-US" smtClean="0"/>
              <a:t>‹#›</a:t>
            </a:fld>
            <a:endParaRPr lang="en-US"/>
          </a:p>
        </p:txBody>
      </p:sp>
    </p:spTree>
    <p:extLst>
      <p:ext uri="{BB962C8B-B14F-4D97-AF65-F5344CB8AC3E}">
        <p14:creationId xmlns:p14="http://schemas.microsoft.com/office/powerpoint/2010/main" val="830844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388A5C-A1E4-EF52-11D7-EA4C7D9C2E3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5103C00-33C6-F706-EA7B-F62B89604DA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123E29-040F-F1EC-D4CF-601A5370E28E}"/>
              </a:ext>
            </a:extLst>
          </p:cNvPr>
          <p:cNvSpPr>
            <a:spLocks noGrp="1"/>
          </p:cNvSpPr>
          <p:nvPr>
            <p:ph type="dt" sz="half" idx="10"/>
          </p:nvPr>
        </p:nvSpPr>
        <p:spPr/>
        <p:txBody>
          <a:bodyPr/>
          <a:lstStyle/>
          <a:p>
            <a:fld id="{F39A5666-EA16-4189-B53D-B4226FE24B5F}" type="datetimeFigureOut">
              <a:rPr lang="en-US" smtClean="0"/>
              <a:t>10/20/2026</a:t>
            </a:fld>
            <a:endParaRPr lang="en-US"/>
          </a:p>
        </p:txBody>
      </p:sp>
      <p:sp>
        <p:nvSpPr>
          <p:cNvPr id="5" name="Footer Placeholder 4">
            <a:extLst>
              <a:ext uri="{FF2B5EF4-FFF2-40B4-BE49-F238E27FC236}">
                <a16:creationId xmlns:a16="http://schemas.microsoft.com/office/drawing/2014/main" id="{6A004900-7C3C-028E-F2DE-F409C8C68B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A6718B-BE1A-828B-76CF-34C170A982A3}"/>
              </a:ext>
            </a:extLst>
          </p:cNvPr>
          <p:cNvSpPr>
            <a:spLocks noGrp="1"/>
          </p:cNvSpPr>
          <p:nvPr>
            <p:ph type="sldNum" sz="quarter" idx="12"/>
          </p:nvPr>
        </p:nvSpPr>
        <p:spPr/>
        <p:txBody>
          <a:bodyPr/>
          <a:lstStyle/>
          <a:p>
            <a:fld id="{E1EC4E9D-CF7A-4D5C-A63B-1E6C1E9037AA}" type="slidenum">
              <a:rPr lang="en-US" smtClean="0"/>
              <a:t>‹#›</a:t>
            </a:fld>
            <a:endParaRPr lang="en-US"/>
          </a:p>
        </p:txBody>
      </p:sp>
    </p:spTree>
    <p:extLst>
      <p:ext uri="{BB962C8B-B14F-4D97-AF65-F5344CB8AC3E}">
        <p14:creationId xmlns:p14="http://schemas.microsoft.com/office/powerpoint/2010/main" val="15465826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0D9CDE3-FC6C-4BFE-F775-0508931520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12A7C93-B1B2-46F9-9FA8-870AD843C4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DB0878-FC7F-4615-AA1E-72FD2BDF4E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39A5666-EA16-4189-B53D-B4226FE24B5F}" type="datetimeFigureOut">
              <a:rPr lang="en-US" smtClean="0"/>
              <a:t>10/20/2026</a:t>
            </a:fld>
            <a:endParaRPr lang="en-US"/>
          </a:p>
        </p:txBody>
      </p:sp>
      <p:sp>
        <p:nvSpPr>
          <p:cNvPr id="5" name="Footer Placeholder 4">
            <a:extLst>
              <a:ext uri="{FF2B5EF4-FFF2-40B4-BE49-F238E27FC236}">
                <a16:creationId xmlns:a16="http://schemas.microsoft.com/office/drawing/2014/main" id="{D6A8273C-3861-9D55-5FF5-B4C1ADFAC50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0F3FF6-AD23-CF01-1D0F-A20BA4D144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1EC4E9D-CF7A-4D5C-A63B-1E6C1E9037AA}" type="slidenum">
              <a:rPr lang="en-US" smtClean="0"/>
              <a:t>‹#›</a:t>
            </a:fld>
            <a:endParaRPr lang="en-US"/>
          </a:p>
        </p:txBody>
      </p:sp>
    </p:spTree>
    <p:extLst>
      <p:ext uri="{BB962C8B-B14F-4D97-AF65-F5344CB8AC3E}">
        <p14:creationId xmlns:p14="http://schemas.microsoft.com/office/powerpoint/2010/main" val="18024783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C2B8FBF-C74C-A052-24CD-52F68D83EF09}"/>
              </a:ext>
            </a:extLst>
          </p:cNvPr>
          <p:cNvSpPr txBox="1"/>
          <p:nvPr/>
        </p:nvSpPr>
        <p:spPr>
          <a:xfrm>
            <a:off x="609600" y="444500"/>
            <a:ext cx="10972800" cy="523220"/>
          </a:xfrm>
          <a:prstGeom prst="rect">
            <a:avLst/>
          </a:prstGeom>
          <a:noFill/>
        </p:spPr>
        <p:txBody>
          <a:bodyPr vert="horz" wrap="square" lIns="0" tIns="0" rIns="0" bIns="0" rtlCol="0">
            <a:spAutoFit/>
          </a:bodyPr>
          <a:lstStyle/>
          <a:p>
            <a:r>
              <a:rPr lang="en-US" sz="3400" b="1">
                <a:solidFill>
                  <a:srgbClr val="142735"/>
                </a:solidFill>
                <a:latin typeface="Aptos" panose="020B0004020202020204" pitchFamily="34" charset="0"/>
              </a:rPr>
              <a:t>Opportunities in SQL generation</a:t>
            </a:r>
          </a:p>
        </p:txBody>
      </p:sp>
      <p:sp>
        <p:nvSpPr>
          <p:cNvPr id="3" name="TextBox 2">
            <a:extLst>
              <a:ext uri="{FF2B5EF4-FFF2-40B4-BE49-F238E27FC236}">
                <a16:creationId xmlns:a16="http://schemas.microsoft.com/office/drawing/2014/main" id="{A847E96E-7F07-1DDC-78D6-501DF84BE0CE}"/>
              </a:ext>
            </a:extLst>
          </p:cNvPr>
          <p:cNvSpPr txBox="1"/>
          <p:nvPr/>
        </p:nvSpPr>
        <p:spPr>
          <a:xfrm>
            <a:off x="609600" y="6464300"/>
            <a:ext cx="10414000" cy="169277"/>
          </a:xfrm>
          <a:prstGeom prst="rect">
            <a:avLst/>
          </a:prstGeom>
          <a:noFill/>
        </p:spPr>
        <p:txBody>
          <a:bodyPr vert="horz" wrap="square" lIns="0" tIns="0" rIns="0" bIns="0" rtlCol="0">
            <a:spAutoFit/>
          </a:bodyPr>
          <a:lstStyle/>
          <a:p>
            <a:r>
              <a:rPr lang="en-US" sz="1100">
                <a:solidFill>
                  <a:srgbClr val="526471"/>
                </a:solidFill>
                <a:latin typeface="Aptos" panose="020B0004020202020204" pitchFamily="34" charset="0"/>
              </a:rPr>
              <a:t>Po-wei Huang / Golden query prototype / October 2026</a:t>
            </a:r>
          </a:p>
        </p:txBody>
      </p:sp>
      <p:sp>
        <p:nvSpPr>
          <p:cNvPr id="4" name="TextBox 3">
            <a:extLst>
              <a:ext uri="{FF2B5EF4-FFF2-40B4-BE49-F238E27FC236}">
                <a16:creationId xmlns:a16="http://schemas.microsoft.com/office/drawing/2014/main" id="{A9E42C47-5EC2-DBA3-613A-CED86AD96BDF}"/>
              </a:ext>
            </a:extLst>
          </p:cNvPr>
          <p:cNvSpPr txBox="1"/>
          <p:nvPr/>
        </p:nvSpPr>
        <p:spPr>
          <a:xfrm>
            <a:off x="11430000" y="6464300"/>
            <a:ext cx="381000" cy="169277"/>
          </a:xfrm>
          <a:prstGeom prst="rect">
            <a:avLst/>
          </a:prstGeom>
          <a:noFill/>
        </p:spPr>
        <p:txBody>
          <a:bodyPr vert="horz" wrap="square" lIns="0" tIns="0" rIns="0" bIns="0" rtlCol="0">
            <a:spAutoFit/>
          </a:bodyPr>
          <a:lstStyle/>
          <a:p>
            <a:r>
              <a:rPr lang="en-US" sz="1100">
                <a:solidFill>
                  <a:srgbClr val="526471"/>
                </a:solidFill>
                <a:latin typeface="Aptos" panose="020B0004020202020204" pitchFamily="34" charset="0"/>
              </a:rPr>
              <a:t>1</a:t>
            </a:r>
          </a:p>
        </p:txBody>
      </p:sp>
      <p:sp>
        <p:nvSpPr>
          <p:cNvPr id="5" name="TextBox 4">
            <a:extLst>
              <a:ext uri="{FF2B5EF4-FFF2-40B4-BE49-F238E27FC236}">
                <a16:creationId xmlns:a16="http://schemas.microsoft.com/office/drawing/2014/main" id="{9EA180C4-01B0-27CA-F6B1-7170C88C2A25}"/>
              </a:ext>
            </a:extLst>
          </p:cNvPr>
          <p:cNvSpPr txBox="1"/>
          <p:nvPr/>
        </p:nvSpPr>
        <p:spPr>
          <a:xfrm>
            <a:off x="609600" y="1651000"/>
            <a:ext cx="10795000" cy="400110"/>
          </a:xfrm>
          <a:prstGeom prst="rect">
            <a:avLst/>
          </a:prstGeom>
          <a:noFill/>
        </p:spPr>
        <p:txBody>
          <a:bodyPr vert="horz" wrap="square" lIns="0" tIns="0" rIns="0" bIns="0" rtlCol="0">
            <a:spAutoFit/>
          </a:bodyPr>
          <a:lstStyle/>
          <a:p>
            <a:r>
              <a:rPr lang="en-US" sz="2600">
                <a:solidFill>
                  <a:srgbClr val="526471"/>
                </a:solidFill>
                <a:latin typeface="Aptos" panose="020B0004020202020204" pitchFamily="34" charset="0"/>
              </a:rPr>
              <a:t>A proposed query layer beneath the dashboard</a:t>
            </a:r>
          </a:p>
        </p:txBody>
      </p:sp>
      <p:sp>
        <p:nvSpPr>
          <p:cNvPr id="6" name="Rectangle 5">
            <a:extLst>
              <a:ext uri="{FF2B5EF4-FFF2-40B4-BE49-F238E27FC236}">
                <a16:creationId xmlns:a16="http://schemas.microsoft.com/office/drawing/2014/main" id="{952344D6-9B8A-D2EB-9246-CAB1D0400EB7}"/>
              </a:ext>
            </a:extLst>
          </p:cNvPr>
          <p:cNvSpPr/>
          <p:nvPr/>
        </p:nvSpPr>
        <p:spPr>
          <a:xfrm>
            <a:off x="609600" y="2984500"/>
            <a:ext cx="2413000" cy="1143000"/>
          </a:xfrm>
          <a:prstGeom prst="rect">
            <a:avLst/>
          </a:prstGeom>
          <a:solidFill>
            <a:srgbClr val="EDF4F2"/>
          </a:solidFill>
          <a:ln w="12700">
            <a:solidFill>
              <a:srgbClr val="087F6B"/>
            </a:solidFill>
          </a:ln>
        </p:spPr>
        <p:style>
          <a:lnRef idx="2">
            <a:schemeClr val="accent1">
              <a:shade val="15000"/>
            </a:schemeClr>
          </a:lnRef>
          <a:fillRef idx="1">
            <a:schemeClr val="accent1"/>
          </a:fillRef>
          <a:effectRef idx="0">
            <a:schemeClr val="accent1"/>
          </a:effectRef>
          <a:fontRef idx="minor">
            <a:schemeClr val="lt1"/>
          </a:fontRef>
        </p:style>
        <p:txBody>
          <a:bodyPr lIns="152400" tIns="114300" rIns="152400" bIns="114300" rtlCol="0" anchor="ctr"/>
          <a:lstStyle/>
          <a:p>
            <a:pPr algn="ctr"/>
            <a:r>
              <a:rPr lang="en-US" sz="2200">
                <a:solidFill>
                  <a:srgbClr val="142735"/>
                </a:solidFill>
                <a:latin typeface="Aptos" panose="020B0004020202020204" pitchFamily="34" charset="0"/>
              </a:rPr>
              <a:t>User intent
Metrics and scope</a:t>
            </a:r>
          </a:p>
        </p:txBody>
      </p:sp>
      <p:sp>
        <p:nvSpPr>
          <p:cNvPr id="7" name="Rectangle 6">
            <a:extLst>
              <a:ext uri="{FF2B5EF4-FFF2-40B4-BE49-F238E27FC236}">
                <a16:creationId xmlns:a16="http://schemas.microsoft.com/office/drawing/2014/main" id="{5A611255-EDA9-52A4-4C0A-1D1E5189867C}"/>
              </a:ext>
            </a:extLst>
          </p:cNvPr>
          <p:cNvSpPr/>
          <p:nvPr/>
        </p:nvSpPr>
        <p:spPr>
          <a:xfrm>
            <a:off x="3467100" y="2984500"/>
            <a:ext cx="2413000" cy="1143000"/>
          </a:xfrm>
          <a:prstGeom prst="rect">
            <a:avLst/>
          </a:prstGeom>
          <a:solidFill>
            <a:srgbClr val="EDF4F2"/>
          </a:solidFill>
          <a:ln w="12700">
            <a:solidFill>
              <a:srgbClr val="087F6B"/>
            </a:solidFill>
          </a:ln>
        </p:spPr>
        <p:style>
          <a:lnRef idx="2">
            <a:schemeClr val="accent1">
              <a:shade val="15000"/>
            </a:schemeClr>
          </a:lnRef>
          <a:fillRef idx="1">
            <a:schemeClr val="accent1"/>
          </a:fillRef>
          <a:effectRef idx="0">
            <a:schemeClr val="accent1"/>
          </a:effectRef>
          <a:fontRef idx="minor">
            <a:schemeClr val="lt1"/>
          </a:fontRef>
        </p:style>
        <p:txBody>
          <a:bodyPr lIns="152400" tIns="114300" rIns="152400" bIns="114300" rtlCol="0" anchor="ctr"/>
          <a:lstStyle/>
          <a:p>
            <a:pPr algn="ctr"/>
            <a:r>
              <a:rPr lang="en-US" sz="2200">
                <a:solidFill>
                  <a:srgbClr val="142735"/>
                </a:solidFill>
                <a:latin typeface="Aptos" panose="020B0004020202020204" pitchFamily="34" charset="0"/>
              </a:rPr>
              <a:t>Query structure
Compose changes</a:t>
            </a:r>
          </a:p>
        </p:txBody>
      </p:sp>
      <p:sp>
        <p:nvSpPr>
          <p:cNvPr id="8" name="Rectangle 7">
            <a:extLst>
              <a:ext uri="{FF2B5EF4-FFF2-40B4-BE49-F238E27FC236}">
                <a16:creationId xmlns:a16="http://schemas.microsoft.com/office/drawing/2014/main" id="{418F802F-10D0-C4A5-D83F-D9C6E66C1F5A}"/>
              </a:ext>
            </a:extLst>
          </p:cNvPr>
          <p:cNvSpPr/>
          <p:nvPr/>
        </p:nvSpPr>
        <p:spPr>
          <a:xfrm>
            <a:off x="6324600" y="2984500"/>
            <a:ext cx="2413000" cy="1143000"/>
          </a:xfrm>
          <a:prstGeom prst="rect">
            <a:avLst/>
          </a:prstGeom>
          <a:solidFill>
            <a:srgbClr val="EDF4F2"/>
          </a:solidFill>
          <a:ln w="12700">
            <a:solidFill>
              <a:srgbClr val="087F6B"/>
            </a:solidFill>
          </a:ln>
        </p:spPr>
        <p:style>
          <a:lnRef idx="2">
            <a:schemeClr val="accent1">
              <a:shade val="15000"/>
            </a:schemeClr>
          </a:lnRef>
          <a:fillRef idx="1">
            <a:schemeClr val="accent1"/>
          </a:fillRef>
          <a:effectRef idx="0">
            <a:schemeClr val="accent1"/>
          </a:effectRef>
          <a:fontRef idx="minor">
            <a:schemeClr val="lt1"/>
          </a:fontRef>
        </p:style>
        <p:txBody>
          <a:bodyPr lIns="152400" tIns="114300" rIns="152400" bIns="114300" rtlCol="0" anchor="ctr"/>
          <a:lstStyle/>
          <a:p>
            <a:pPr algn="ctr"/>
            <a:r>
              <a:rPr lang="en-US" sz="2200">
                <a:solidFill>
                  <a:srgbClr val="142735"/>
                </a:solidFill>
                <a:latin typeface="Aptos" panose="020B0004020202020204" pitchFamily="34" charset="0"/>
              </a:rPr>
              <a:t>Backend SQL
Choose lowering</a:t>
            </a:r>
          </a:p>
        </p:txBody>
      </p:sp>
      <p:sp>
        <p:nvSpPr>
          <p:cNvPr id="9" name="Rectangle 8">
            <a:extLst>
              <a:ext uri="{FF2B5EF4-FFF2-40B4-BE49-F238E27FC236}">
                <a16:creationId xmlns:a16="http://schemas.microsoft.com/office/drawing/2014/main" id="{0BFD8200-84ED-072C-13A7-9F302A5ED581}"/>
              </a:ext>
            </a:extLst>
          </p:cNvPr>
          <p:cNvSpPr/>
          <p:nvPr/>
        </p:nvSpPr>
        <p:spPr>
          <a:xfrm>
            <a:off x="9182100" y="2984500"/>
            <a:ext cx="2413000" cy="1143000"/>
          </a:xfrm>
          <a:prstGeom prst="rect">
            <a:avLst/>
          </a:prstGeom>
          <a:solidFill>
            <a:srgbClr val="087F6B"/>
          </a:solidFill>
          <a:ln w="12700">
            <a:solidFill>
              <a:srgbClr val="087F6B"/>
            </a:solidFill>
          </a:ln>
        </p:spPr>
        <p:style>
          <a:lnRef idx="2">
            <a:schemeClr val="accent1">
              <a:shade val="15000"/>
            </a:schemeClr>
          </a:lnRef>
          <a:fillRef idx="1">
            <a:schemeClr val="accent1"/>
          </a:fillRef>
          <a:effectRef idx="0">
            <a:schemeClr val="accent1"/>
          </a:effectRef>
          <a:fontRef idx="minor">
            <a:schemeClr val="lt1"/>
          </a:fontRef>
        </p:style>
        <p:txBody>
          <a:bodyPr lIns="152400" tIns="114300" rIns="152400" bIns="114300" rtlCol="0" anchor="ctr"/>
          <a:lstStyle/>
          <a:p>
            <a:pPr algn="ctr"/>
            <a:r>
              <a:rPr lang="en-US" sz="2200">
                <a:solidFill>
                  <a:srgbClr val="FFFFFF"/>
                </a:solidFill>
                <a:latin typeface="Aptos" panose="020B0004020202020204" pitchFamily="34" charset="0"/>
              </a:rPr>
              <a:t>Evidence
Test and measure</a:t>
            </a:r>
          </a:p>
        </p:txBody>
      </p:sp>
      <p:cxnSp>
        <p:nvCxnSpPr>
          <p:cNvPr id="10" name="Straight Connector 9">
            <a:extLst>
              <a:ext uri="{FF2B5EF4-FFF2-40B4-BE49-F238E27FC236}">
                <a16:creationId xmlns:a16="http://schemas.microsoft.com/office/drawing/2014/main" id="{9178D474-AC73-4F40-2AD6-A621C5961749}"/>
              </a:ext>
            </a:extLst>
          </p:cNvPr>
          <p:cNvCxnSpPr/>
          <p:nvPr/>
        </p:nvCxnSpPr>
        <p:spPr>
          <a:xfrm>
            <a:off x="3022600" y="3556000"/>
            <a:ext cx="444500" cy="0"/>
          </a:xfrm>
          <a:prstGeom prst="line">
            <a:avLst/>
          </a:prstGeom>
          <a:ln w="25400">
            <a:solidFill>
              <a:srgbClr val="087F6B"/>
            </a:solidFill>
            <a:tailEnd type="arrow"/>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46EEFD07-4709-E566-9E06-B574CEA03BD6}"/>
              </a:ext>
            </a:extLst>
          </p:cNvPr>
          <p:cNvCxnSpPr/>
          <p:nvPr/>
        </p:nvCxnSpPr>
        <p:spPr>
          <a:xfrm>
            <a:off x="5880100" y="3556000"/>
            <a:ext cx="444500" cy="0"/>
          </a:xfrm>
          <a:prstGeom prst="line">
            <a:avLst/>
          </a:prstGeom>
          <a:ln w="25400">
            <a:solidFill>
              <a:srgbClr val="087F6B"/>
            </a:solidFill>
            <a:tailEnd type="arrow"/>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701A83E4-9D0F-5C64-895E-2994B67566AD}"/>
              </a:ext>
            </a:extLst>
          </p:cNvPr>
          <p:cNvCxnSpPr/>
          <p:nvPr/>
        </p:nvCxnSpPr>
        <p:spPr>
          <a:xfrm>
            <a:off x="8737600" y="3556000"/>
            <a:ext cx="444500" cy="0"/>
          </a:xfrm>
          <a:prstGeom prst="line">
            <a:avLst/>
          </a:prstGeom>
          <a:ln w="25400">
            <a:solidFill>
              <a:srgbClr val="087F6B"/>
            </a:solidFill>
            <a:tailEnd type="arrow"/>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50F6662E-9E6F-C5F9-6693-F9F70F73A857}"/>
              </a:ext>
            </a:extLst>
          </p:cNvPr>
          <p:cNvSpPr txBox="1"/>
          <p:nvPr/>
        </p:nvSpPr>
        <p:spPr>
          <a:xfrm>
            <a:off x="609600" y="5651500"/>
            <a:ext cx="10972800" cy="353943"/>
          </a:xfrm>
          <a:prstGeom prst="rect">
            <a:avLst/>
          </a:prstGeom>
          <a:noFill/>
        </p:spPr>
        <p:txBody>
          <a:bodyPr vert="horz" wrap="square" lIns="0" tIns="0" rIns="0" bIns="0" rtlCol="0">
            <a:spAutoFit/>
          </a:bodyPr>
          <a:lstStyle/>
          <a:p>
            <a:r>
              <a:rPr lang="en-US" sz="2300" b="1">
                <a:solidFill>
                  <a:srgbClr val="087F6B"/>
                </a:solidFill>
                <a:latin typeface="Aptos" panose="020B0004020202020204" pitchFamily="34" charset="0"/>
              </a:rPr>
              <a:t>Success means correct changes with acceptable execution cost.</a:t>
            </a:r>
          </a:p>
        </p:txBody>
      </p:sp>
    </p:spTree>
    <p:extLst>
      <p:ext uri="{BB962C8B-B14F-4D97-AF65-F5344CB8AC3E}">
        <p14:creationId xmlns:p14="http://schemas.microsoft.com/office/powerpoint/2010/main" val="7499900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18A433-1FB7-031D-2A96-F27F0746A837}"/>
              </a:ext>
            </a:extLst>
          </p:cNvPr>
          <p:cNvSpPr txBox="1"/>
          <p:nvPr/>
        </p:nvSpPr>
        <p:spPr>
          <a:xfrm>
            <a:off x="609600" y="444500"/>
            <a:ext cx="10972800" cy="523220"/>
          </a:xfrm>
          <a:prstGeom prst="rect">
            <a:avLst/>
          </a:prstGeom>
          <a:noFill/>
        </p:spPr>
        <p:txBody>
          <a:bodyPr vert="horz" wrap="square" lIns="0" tIns="0" rIns="0" bIns="0" rtlCol="0">
            <a:spAutoFit/>
          </a:bodyPr>
          <a:lstStyle/>
          <a:p>
            <a:r>
              <a:rPr lang="en-US" sz="3400" b="1">
                <a:solidFill>
                  <a:srgbClr val="142735"/>
                </a:solidFill>
                <a:latin typeface="Aptos" panose="020B0004020202020204" pitchFamily="34" charset="0"/>
              </a:rPr>
              <a:t>Reusable definitions with explicit filter scope</a:t>
            </a:r>
          </a:p>
        </p:txBody>
      </p:sp>
      <p:sp>
        <p:nvSpPr>
          <p:cNvPr id="3" name="TextBox 2">
            <a:extLst>
              <a:ext uri="{FF2B5EF4-FFF2-40B4-BE49-F238E27FC236}">
                <a16:creationId xmlns:a16="http://schemas.microsoft.com/office/drawing/2014/main" id="{30D23500-150D-9456-3737-156059E3F871}"/>
              </a:ext>
            </a:extLst>
          </p:cNvPr>
          <p:cNvSpPr txBox="1"/>
          <p:nvPr/>
        </p:nvSpPr>
        <p:spPr>
          <a:xfrm>
            <a:off x="609600" y="6464300"/>
            <a:ext cx="10414000" cy="169277"/>
          </a:xfrm>
          <a:prstGeom prst="rect">
            <a:avLst/>
          </a:prstGeom>
          <a:noFill/>
        </p:spPr>
        <p:txBody>
          <a:bodyPr vert="horz" wrap="square" lIns="0" tIns="0" rIns="0" bIns="0" rtlCol="0">
            <a:spAutoFit/>
          </a:bodyPr>
          <a:lstStyle/>
          <a:p>
            <a:r>
              <a:rPr lang="en-US" sz="1100">
                <a:solidFill>
                  <a:srgbClr val="526471"/>
                </a:solidFill>
                <a:latin typeface="Aptos" panose="020B0004020202020204" pitchFamily="34" charset="0"/>
              </a:rPr>
              <a:t>Po-wei Huang / Golden query prototype / October 2026</a:t>
            </a:r>
          </a:p>
        </p:txBody>
      </p:sp>
      <p:sp>
        <p:nvSpPr>
          <p:cNvPr id="4" name="TextBox 3">
            <a:extLst>
              <a:ext uri="{FF2B5EF4-FFF2-40B4-BE49-F238E27FC236}">
                <a16:creationId xmlns:a16="http://schemas.microsoft.com/office/drawing/2014/main" id="{9B13D6B0-BC63-A485-E7FC-2EA9642687DB}"/>
              </a:ext>
            </a:extLst>
          </p:cNvPr>
          <p:cNvSpPr txBox="1"/>
          <p:nvPr/>
        </p:nvSpPr>
        <p:spPr>
          <a:xfrm>
            <a:off x="11430000" y="6464300"/>
            <a:ext cx="381000" cy="169277"/>
          </a:xfrm>
          <a:prstGeom prst="rect">
            <a:avLst/>
          </a:prstGeom>
          <a:noFill/>
        </p:spPr>
        <p:txBody>
          <a:bodyPr vert="horz" wrap="square" lIns="0" tIns="0" rIns="0" bIns="0" rtlCol="0">
            <a:spAutoFit/>
          </a:bodyPr>
          <a:lstStyle/>
          <a:p>
            <a:r>
              <a:rPr lang="en-US" sz="1100">
                <a:solidFill>
                  <a:srgbClr val="526471"/>
                </a:solidFill>
                <a:latin typeface="Aptos" panose="020B0004020202020204" pitchFamily="34" charset="0"/>
              </a:rPr>
              <a:t>2</a:t>
            </a:r>
          </a:p>
        </p:txBody>
      </p:sp>
      <p:sp>
        <p:nvSpPr>
          <p:cNvPr id="5" name="Rectangle 4">
            <a:extLst>
              <a:ext uri="{FF2B5EF4-FFF2-40B4-BE49-F238E27FC236}">
                <a16:creationId xmlns:a16="http://schemas.microsoft.com/office/drawing/2014/main" id="{25E50BBF-045E-2CB6-83BC-EBC0E4A3F8F6}"/>
              </a:ext>
            </a:extLst>
          </p:cNvPr>
          <p:cNvSpPr/>
          <p:nvPr/>
        </p:nvSpPr>
        <p:spPr>
          <a:xfrm>
            <a:off x="4127500" y="1587500"/>
            <a:ext cx="3937000" cy="825500"/>
          </a:xfrm>
          <a:prstGeom prst="rect">
            <a:avLst/>
          </a:prstGeom>
          <a:solidFill>
            <a:srgbClr val="087F6B"/>
          </a:solidFill>
          <a:ln w="12700">
            <a:solidFill>
              <a:srgbClr val="087F6B"/>
            </a:solidFill>
          </a:ln>
        </p:spPr>
        <p:style>
          <a:lnRef idx="2">
            <a:schemeClr val="accent1">
              <a:shade val="15000"/>
            </a:schemeClr>
          </a:lnRef>
          <a:fillRef idx="1">
            <a:schemeClr val="accent1"/>
          </a:fillRef>
          <a:effectRef idx="0">
            <a:schemeClr val="accent1"/>
          </a:effectRef>
          <a:fontRef idx="minor">
            <a:schemeClr val="lt1"/>
          </a:fontRef>
        </p:style>
        <p:txBody>
          <a:bodyPr lIns="152400" tIns="114300" rIns="152400" bIns="114300" rtlCol="0" anchor="ctr"/>
          <a:lstStyle/>
          <a:p>
            <a:pPr algn="ctr"/>
            <a:r>
              <a:rPr lang="en-US" sz="2200">
                <a:solidFill>
                  <a:srgbClr val="FFFFFF"/>
                </a:solidFill>
                <a:latin typeface="Aptos" panose="020B0004020202020204" pitchFamily="34" charset="0"/>
              </a:rPr>
              <a:t>pricedOrders: one row per order</a:t>
            </a:r>
          </a:p>
        </p:txBody>
      </p:sp>
      <p:sp>
        <p:nvSpPr>
          <p:cNvPr id="6" name="Rectangle 5">
            <a:extLst>
              <a:ext uri="{FF2B5EF4-FFF2-40B4-BE49-F238E27FC236}">
                <a16:creationId xmlns:a16="http://schemas.microsoft.com/office/drawing/2014/main" id="{95FF34CF-8EAB-783A-4D2D-2B359B654155}"/>
              </a:ext>
            </a:extLst>
          </p:cNvPr>
          <p:cNvSpPr/>
          <p:nvPr/>
        </p:nvSpPr>
        <p:spPr>
          <a:xfrm>
            <a:off x="4127500" y="2794000"/>
            <a:ext cx="3937000" cy="762000"/>
          </a:xfrm>
          <a:prstGeom prst="rect">
            <a:avLst/>
          </a:prstGeom>
          <a:solidFill>
            <a:srgbClr val="EDF4F2"/>
          </a:solidFill>
          <a:ln w="12700">
            <a:solidFill>
              <a:srgbClr val="087F6B"/>
            </a:solidFill>
          </a:ln>
        </p:spPr>
        <p:style>
          <a:lnRef idx="2">
            <a:schemeClr val="accent1">
              <a:shade val="15000"/>
            </a:schemeClr>
          </a:lnRef>
          <a:fillRef idx="1">
            <a:schemeClr val="accent1"/>
          </a:fillRef>
          <a:effectRef idx="0">
            <a:schemeClr val="accent1"/>
          </a:effectRef>
          <a:fontRef idx="minor">
            <a:schemeClr val="lt1"/>
          </a:fontRef>
        </p:style>
        <p:txBody>
          <a:bodyPr lIns="152400" tIns="114300" rIns="152400" bIns="114300" rtlCol="0" anchor="ctr"/>
          <a:lstStyle/>
          <a:p>
            <a:pPr algn="ctr"/>
            <a:r>
              <a:rPr lang="en-US" sz="2200">
                <a:solidFill>
                  <a:srgbClr val="142735"/>
                </a:solidFill>
                <a:latin typeface="Aptos" panose="020B0004020202020204" pitchFamily="34" charset="0"/>
              </a:rPr>
              <a:t>Apply selected dates</a:t>
            </a:r>
          </a:p>
        </p:txBody>
      </p:sp>
      <p:cxnSp>
        <p:nvCxnSpPr>
          <p:cNvPr id="7" name="Straight Connector 6">
            <a:extLst>
              <a:ext uri="{FF2B5EF4-FFF2-40B4-BE49-F238E27FC236}">
                <a16:creationId xmlns:a16="http://schemas.microsoft.com/office/drawing/2014/main" id="{CAA22F9F-4B7C-DC67-2DD8-791D7103626D}"/>
              </a:ext>
            </a:extLst>
          </p:cNvPr>
          <p:cNvCxnSpPr/>
          <p:nvPr/>
        </p:nvCxnSpPr>
        <p:spPr>
          <a:xfrm>
            <a:off x="6096000" y="2413000"/>
            <a:ext cx="0" cy="381000"/>
          </a:xfrm>
          <a:prstGeom prst="line">
            <a:avLst/>
          </a:prstGeom>
          <a:ln w="25400">
            <a:solidFill>
              <a:srgbClr val="087F6B"/>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A559474-3580-A929-8D69-9BBBDDBE37D0}"/>
              </a:ext>
            </a:extLst>
          </p:cNvPr>
          <p:cNvCxnSpPr/>
          <p:nvPr/>
        </p:nvCxnSpPr>
        <p:spPr>
          <a:xfrm flipH="1">
            <a:off x="2857500" y="3556000"/>
            <a:ext cx="2095500" cy="635000"/>
          </a:xfrm>
          <a:prstGeom prst="line">
            <a:avLst/>
          </a:prstGeom>
          <a:ln w="25400">
            <a:solidFill>
              <a:srgbClr val="087F6B"/>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2EC658DB-3B4A-92E3-CC6A-24871C855A3D}"/>
              </a:ext>
            </a:extLst>
          </p:cNvPr>
          <p:cNvCxnSpPr/>
          <p:nvPr/>
        </p:nvCxnSpPr>
        <p:spPr>
          <a:xfrm>
            <a:off x="7239000" y="3556000"/>
            <a:ext cx="2095500" cy="635000"/>
          </a:xfrm>
          <a:prstGeom prst="line">
            <a:avLst/>
          </a:prstGeom>
          <a:ln w="25400">
            <a:solidFill>
              <a:srgbClr val="087F6B"/>
            </a:solidFill>
            <a:tailEnd type="arrow"/>
          </a:ln>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5454319B-0265-0864-DDB9-51333C456B7B}"/>
              </a:ext>
            </a:extLst>
          </p:cNvPr>
          <p:cNvSpPr/>
          <p:nvPr/>
        </p:nvSpPr>
        <p:spPr>
          <a:xfrm>
            <a:off x="825500" y="4191000"/>
            <a:ext cx="4064000" cy="952500"/>
          </a:xfrm>
          <a:prstGeom prst="rect">
            <a:avLst/>
          </a:prstGeom>
          <a:solidFill>
            <a:srgbClr val="EDF4F2"/>
          </a:solidFill>
          <a:ln w="12700">
            <a:solidFill>
              <a:srgbClr val="087F6B"/>
            </a:solidFill>
          </a:ln>
        </p:spPr>
        <p:style>
          <a:lnRef idx="2">
            <a:schemeClr val="accent1">
              <a:shade val="15000"/>
            </a:schemeClr>
          </a:lnRef>
          <a:fillRef idx="1">
            <a:schemeClr val="accent1"/>
          </a:fillRef>
          <a:effectRef idx="0">
            <a:schemeClr val="accent1"/>
          </a:effectRef>
          <a:fontRef idx="minor">
            <a:schemeClr val="lt1"/>
          </a:fontRef>
        </p:style>
        <p:txBody>
          <a:bodyPr lIns="152400" tIns="114300" rIns="152400" bIns="114300" rtlCol="0" anchor="ctr"/>
          <a:lstStyle/>
          <a:p>
            <a:pPr algn="ctr"/>
            <a:r>
              <a:rPr lang="en-US" sz="2200">
                <a:solidFill>
                  <a:srgbClr val="142735"/>
                </a:solidFill>
                <a:latin typeface="Aptos" panose="020B0004020202020204" pitchFamily="34" charset="0"/>
              </a:rPr>
              <a:t>Keep all countries
Country comparison and P75</a:t>
            </a:r>
          </a:p>
        </p:txBody>
      </p:sp>
      <p:sp>
        <p:nvSpPr>
          <p:cNvPr id="11" name="Rectangle 10">
            <a:extLst>
              <a:ext uri="{FF2B5EF4-FFF2-40B4-BE49-F238E27FC236}">
                <a16:creationId xmlns:a16="http://schemas.microsoft.com/office/drawing/2014/main" id="{D94A6CBC-12B1-4DD6-EC80-C64C70909BA5}"/>
              </a:ext>
            </a:extLst>
          </p:cNvPr>
          <p:cNvSpPr/>
          <p:nvPr/>
        </p:nvSpPr>
        <p:spPr>
          <a:xfrm>
            <a:off x="7302500" y="4191000"/>
            <a:ext cx="4064000" cy="952500"/>
          </a:xfrm>
          <a:prstGeom prst="rect">
            <a:avLst/>
          </a:prstGeom>
          <a:solidFill>
            <a:srgbClr val="EDF4F2"/>
          </a:solidFill>
          <a:ln w="12700">
            <a:solidFill>
              <a:srgbClr val="087F6B"/>
            </a:solidFill>
          </a:ln>
        </p:spPr>
        <p:style>
          <a:lnRef idx="2">
            <a:schemeClr val="accent1">
              <a:shade val="15000"/>
            </a:schemeClr>
          </a:lnRef>
          <a:fillRef idx="1">
            <a:schemeClr val="accent1"/>
          </a:fillRef>
          <a:effectRef idx="0">
            <a:schemeClr val="accent1"/>
          </a:effectRef>
          <a:fontRef idx="minor">
            <a:schemeClr val="lt1"/>
          </a:fontRef>
        </p:style>
        <p:txBody>
          <a:bodyPr lIns="152400" tIns="114300" rIns="152400" bIns="114300" rtlCol="0" anchor="ctr"/>
          <a:lstStyle/>
          <a:p>
            <a:pPr algn="ctr"/>
            <a:r>
              <a:rPr lang="en-US" sz="2200">
                <a:solidFill>
                  <a:srgbClr val="142735"/>
                </a:solidFill>
                <a:latin typeface="Aptos" panose="020B0004020202020204" pitchFamily="34" charset="0"/>
              </a:rPr>
              <a:t>Apply selected country
KPI and Top customers</a:t>
            </a:r>
          </a:p>
        </p:txBody>
      </p:sp>
      <p:sp>
        <p:nvSpPr>
          <p:cNvPr id="12" name="TextBox 11">
            <a:extLst>
              <a:ext uri="{FF2B5EF4-FFF2-40B4-BE49-F238E27FC236}">
                <a16:creationId xmlns:a16="http://schemas.microsoft.com/office/drawing/2014/main" id="{521966E9-4854-E979-FF51-E2B9C8F83B32}"/>
              </a:ext>
            </a:extLst>
          </p:cNvPr>
          <p:cNvSpPr txBox="1"/>
          <p:nvPr/>
        </p:nvSpPr>
        <p:spPr>
          <a:xfrm>
            <a:off x="609600" y="5651500"/>
            <a:ext cx="10972800" cy="353943"/>
          </a:xfrm>
          <a:prstGeom prst="rect">
            <a:avLst/>
          </a:prstGeom>
          <a:noFill/>
        </p:spPr>
        <p:txBody>
          <a:bodyPr vert="horz" wrap="square" lIns="0" tIns="0" rIns="0" bIns="0" rtlCol="0">
            <a:spAutoFit/>
          </a:bodyPr>
          <a:lstStyle/>
          <a:p>
            <a:r>
              <a:rPr lang="en-US" sz="2300" b="1">
                <a:solidFill>
                  <a:srgbClr val="087F6B"/>
                </a:solidFill>
                <a:latin typeface="Aptos" panose="020B0004020202020204" pitchFamily="34" charset="0"/>
              </a:rPr>
              <a:t>The semantic layer decides which filters each dataset inherits.</a:t>
            </a:r>
          </a:p>
        </p:txBody>
      </p:sp>
    </p:spTree>
    <p:extLst>
      <p:ext uri="{BB962C8B-B14F-4D97-AF65-F5344CB8AC3E}">
        <p14:creationId xmlns:p14="http://schemas.microsoft.com/office/powerpoint/2010/main" val="17708027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5C83F8-516F-119C-9C98-689CD0FED384}"/>
              </a:ext>
            </a:extLst>
          </p:cNvPr>
          <p:cNvSpPr txBox="1"/>
          <p:nvPr/>
        </p:nvSpPr>
        <p:spPr>
          <a:xfrm>
            <a:off x="609600" y="444500"/>
            <a:ext cx="10972800" cy="523220"/>
          </a:xfrm>
          <a:prstGeom prst="rect">
            <a:avLst/>
          </a:prstGeom>
          <a:noFill/>
        </p:spPr>
        <p:txBody>
          <a:bodyPr vert="horz" wrap="square" lIns="0" tIns="0" rIns="0" bIns="0" rtlCol="0">
            <a:spAutoFit/>
          </a:bodyPr>
          <a:lstStyle/>
          <a:p>
            <a:r>
              <a:rPr lang="en-US" sz="3400" b="1">
                <a:solidFill>
                  <a:srgbClr val="142735"/>
                </a:solidFill>
                <a:latin typeface="Aptos" panose="020B0004020202020204" pitchFamily="34" charset="0"/>
              </a:rPr>
              <a:t>Operation order changes the answer</a:t>
            </a:r>
          </a:p>
        </p:txBody>
      </p:sp>
      <p:sp>
        <p:nvSpPr>
          <p:cNvPr id="3" name="TextBox 2">
            <a:extLst>
              <a:ext uri="{FF2B5EF4-FFF2-40B4-BE49-F238E27FC236}">
                <a16:creationId xmlns:a16="http://schemas.microsoft.com/office/drawing/2014/main" id="{2D95ECDD-614C-4A7B-CB3C-5E6E1388D653}"/>
              </a:ext>
            </a:extLst>
          </p:cNvPr>
          <p:cNvSpPr txBox="1"/>
          <p:nvPr/>
        </p:nvSpPr>
        <p:spPr>
          <a:xfrm>
            <a:off x="609600" y="6464300"/>
            <a:ext cx="10414000" cy="169277"/>
          </a:xfrm>
          <a:prstGeom prst="rect">
            <a:avLst/>
          </a:prstGeom>
          <a:noFill/>
        </p:spPr>
        <p:txBody>
          <a:bodyPr vert="horz" wrap="square" lIns="0" tIns="0" rIns="0" bIns="0" rtlCol="0">
            <a:spAutoFit/>
          </a:bodyPr>
          <a:lstStyle/>
          <a:p>
            <a:r>
              <a:rPr lang="en-US" sz="1100">
                <a:solidFill>
                  <a:srgbClr val="526471"/>
                </a:solidFill>
                <a:latin typeface="Aptos" panose="020B0004020202020204" pitchFamily="34" charset="0"/>
              </a:rPr>
              <a:t>Po-wei Huang / Golden query prototype / October 2026</a:t>
            </a:r>
          </a:p>
        </p:txBody>
      </p:sp>
      <p:sp>
        <p:nvSpPr>
          <p:cNvPr id="4" name="TextBox 3">
            <a:extLst>
              <a:ext uri="{FF2B5EF4-FFF2-40B4-BE49-F238E27FC236}">
                <a16:creationId xmlns:a16="http://schemas.microsoft.com/office/drawing/2014/main" id="{9B89A376-2ABC-58A6-1F25-AEC9314F68E6}"/>
              </a:ext>
            </a:extLst>
          </p:cNvPr>
          <p:cNvSpPr txBox="1"/>
          <p:nvPr/>
        </p:nvSpPr>
        <p:spPr>
          <a:xfrm>
            <a:off x="11430000" y="6464300"/>
            <a:ext cx="381000" cy="169277"/>
          </a:xfrm>
          <a:prstGeom prst="rect">
            <a:avLst/>
          </a:prstGeom>
          <a:noFill/>
        </p:spPr>
        <p:txBody>
          <a:bodyPr vert="horz" wrap="square" lIns="0" tIns="0" rIns="0" bIns="0" rtlCol="0">
            <a:spAutoFit/>
          </a:bodyPr>
          <a:lstStyle/>
          <a:p>
            <a:r>
              <a:rPr lang="en-US" sz="1100">
                <a:solidFill>
                  <a:srgbClr val="526471"/>
                </a:solidFill>
                <a:latin typeface="Aptos" panose="020B0004020202020204" pitchFamily="34" charset="0"/>
              </a:rPr>
              <a:t>3</a:t>
            </a:r>
          </a:p>
        </p:txBody>
      </p:sp>
      <p:sp>
        <p:nvSpPr>
          <p:cNvPr id="5" name="TextBox 4">
            <a:extLst>
              <a:ext uri="{FF2B5EF4-FFF2-40B4-BE49-F238E27FC236}">
                <a16:creationId xmlns:a16="http://schemas.microsoft.com/office/drawing/2014/main" id="{4DCB347A-9471-1901-52AB-780A291D4E22}"/>
              </a:ext>
            </a:extLst>
          </p:cNvPr>
          <p:cNvSpPr txBox="1"/>
          <p:nvPr/>
        </p:nvSpPr>
        <p:spPr>
          <a:xfrm>
            <a:off x="609600" y="1587500"/>
            <a:ext cx="10972800" cy="384721"/>
          </a:xfrm>
          <a:prstGeom prst="rect">
            <a:avLst/>
          </a:prstGeom>
          <a:noFill/>
        </p:spPr>
        <p:txBody>
          <a:bodyPr vert="horz" wrap="square" lIns="0" tIns="0" rIns="0" bIns="0" rtlCol="0">
            <a:spAutoFit/>
          </a:bodyPr>
          <a:lstStyle/>
          <a:p>
            <a:r>
              <a:rPr lang="en-US" sz="2500">
                <a:solidFill>
                  <a:srgbClr val="526471"/>
                </a:solidFill>
                <a:latin typeface="Aptos" panose="020B0004020202020204" pitchFamily="34" charset="0"/>
              </a:rPr>
              <a:t>Starting relation: revenue per customer</a:t>
            </a:r>
          </a:p>
        </p:txBody>
      </p:sp>
      <p:sp>
        <p:nvSpPr>
          <p:cNvPr id="6" name="Rectangle 5">
            <a:extLst>
              <a:ext uri="{FF2B5EF4-FFF2-40B4-BE49-F238E27FC236}">
                <a16:creationId xmlns:a16="http://schemas.microsoft.com/office/drawing/2014/main" id="{BD65C210-4864-8E51-5FA7-F1F9B548B490}"/>
              </a:ext>
            </a:extLst>
          </p:cNvPr>
          <p:cNvSpPr/>
          <p:nvPr/>
        </p:nvSpPr>
        <p:spPr>
          <a:xfrm>
            <a:off x="609600" y="2603500"/>
            <a:ext cx="2921000" cy="825500"/>
          </a:xfrm>
          <a:prstGeom prst="rect">
            <a:avLst/>
          </a:prstGeom>
          <a:solidFill>
            <a:srgbClr val="EDF4F2"/>
          </a:solidFill>
          <a:ln w="12700">
            <a:solidFill>
              <a:srgbClr val="087F6B"/>
            </a:solidFill>
          </a:ln>
        </p:spPr>
        <p:style>
          <a:lnRef idx="2">
            <a:schemeClr val="accent1">
              <a:shade val="15000"/>
            </a:schemeClr>
          </a:lnRef>
          <a:fillRef idx="1">
            <a:schemeClr val="accent1"/>
          </a:fillRef>
          <a:effectRef idx="0">
            <a:schemeClr val="accent1"/>
          </a:effectRef>
          <a:fontRef idx="minor">
            <a:schemeClr val="lt1"/>
          </a:fontRef>
        </p:style>
        <p:txBody>
          <a:bodyPr lIns="152400" tIns="114300" rIns="152400" bIns="114300" rtlCol="0" anchor="ctr"/>
          <a:lstStyle/>
          <a:p>
            <a:pPr algn="ctr"/>
            <a:r>
              <a:rPr lang="en-US" sz="2200">
                <a:solidFill>
                  <a:srgbClr val="142735"/>
                </a:solidFill>
                <a:latin typeface="Aptos" panose="020B0004020202020204" pitchFamily="34" charset="0"/>
              </a:rPr>
              <a:t>Filter Germany</a:t>
            </a:r>
          </a:p>
        </p:txBody>
      </p:sp>
      <p:sp>
        <p:nvSpPr>
          <p:cNvPr id="7" name="Rectangle 6">
            <a:extLst>
              <a:ext uri="{FF2B5EF4-FFF2-40B4-BE49-F238E27FC236}">
                <a16:creationId xmlns:a16="http://schemas.microsoft.com/office/drawing/2014/main" id="{45D7A201-517B-7864-6353-F83A5DF3D62D}"/>
              </a:ext>
            </a:extLst>
          </p:cNvPr>
          <p:cNvSpPr/>
          <p:nvPr/>
        </p:nvSpPr>
        <p:spPr>
          <a:xfrm>
            <a:off x="4254500" y="2603500"/>
            <a:ext cx="2921000" cy="825500"/>
          </a:xfrm>
          <a:prstGeom prst="rect">
            <a:avLst/>
          </a:prstGeom>
          <a:solidFill>
            <a:srgbClr val="EDF4F2"/>
          </a:solidFill>
          <a:ln w="12700">
            <a:solidFill>
              <a:srgbClr val="087F6B"/>
            </a:solidFill>
          </a:ln>
        </p:spPr>
        <p:style>
          <a:lnRef idx="2">
            <a:schemeClr val="accent1">
              <a:shade val="15000"/>
            </a:schemeClr>
          </a:lnRef>
          <a:fillRef idx="1">
            <a:schemeClr val="accent1"/>
          </a:fillRef>
          <a:effectRef idx="0">
            <a:schemeClr val="accent1"/>
          </a:effectRef>
          <a:fontRef idx="minor">
            <a:schemeClr val="lt1"/>
          </a:fontRef>
        </p:style>
        <p:txBody>
          <a:bodyPr lIns="152400" tIns="114300" rIns="152400" bIns="114300" rtlCol="0" anchor="ctr"/>
          <a:lstStyle/>
          <a:p>
            <a:pPr algn="ctr"/>
            <a:r>
              <a:rPr lang="en-US" sz="2200">
                <a:solidFill>
                  <a:srgbClr val="142735"/>
                </a:solidFill>
                <a:latin typeface="Aptos" panose="020B0004020202020204" pitchFamily="34" charset="0"/>
              </a:rPr>
              <a:t>Revenue Top 10</a:t>
            </a:r>
          </a:p>
        </p:txBody>
      </p:sp>
      <p:sp>
        <p:nvSpPr>
          <p:cNvPr id="8" name="Rectangle 7">
            <a:extLst>
              <a:ext uri="{FF2B5EF4-FFF2-40B4-BE49-F238E27FC236}">
                <a16:creationId xmlns:a16="http://schemas.microsoft.com/office/drawing/2014/main" id="{C8725D38-9AB3-8165-FF19-4E63EB9D8932}"/>
              </a:ext>
            </a:extLst>
          </p:cNvPr>
          <p:cNvSpPr/>
          <p:nvPr/>
        </p:nvSpPr>
        <p:spPr>
          <a:xfrm>
            <a:off x="7899400" y="2603500"/>
            <a:ext cx="3683000" cy="825500"/>
          </a:xfrm>
          <a:prstGeom prst="rect">
            <a:avLst/>
          </a:prstGeom>
          <a:solidFill>
            <a:srgbClr val="087F6B"/>
          </a:solidFill>
          <a:ln w="12700">
            <a:solidFill>
              <a:srgbClr val="087F6B"/>
            </a:solidFill>
          </a:ln>
        </p:spPr>
        <p:style>
          <a:lnRef idx="2">
            <a:schemeClr val="accent1">
              <a:shade val="15000"/>
            </a:schemeClr>
          </a:lnRef>
          <a:fillRef idx="1">
            <a:schemeClr val="accent1"/>
          </a:fillRef>
          <a:effectRef idx="0">
            <a:schemeClr val="accent1"/>
          </a:effectRef>
          <a:fontRef idx="minor">
            <a:schemeClr val="lt1"/>
          </a:fontRef>
        </p:style>
        <p:txBody>
          <a:bodyPr lIns="152400" tIns="114300" rIns="152400" bIns="114300" rtlCol="0" anchor="ctr"/>
          <a:lstStyle/>
          <a:p>
            <a:pPr algn="ctr"/>
            <a:r>
              <a:rPr lang="en-US" sz="2200">
                <a:solidFill>
                  <a:srgbClr val="FFFFFF"/>
                </a:solidFill>
                <a:latin typeface="Aptos" panose="020B0004020202020204" pitchFamily="34" charset="0"/>
              </a:rPr>
              <a:t>Top customers in Germany</a:t>
            </a:r>
          </a:p>
        </p:txBody>
      </p:sp>
      <p:cxnSp>
        <p:nvCxnSpPr>
          <p:cNvPr id="9" name="Straight Connector 8">
            <a:extLst>
              <a:ext uri="{FF2B5EF4-FFF2-40B4-BE49-F238E27FC236}">
                <a16:creationId xmlns:a16="http://schemas.microsoft.com/office/drawing/2014/main" id="{79DD6892-8E80-4F4B-50A9-84548E07CE00}"/>
              </a:ext>
            </a:extLst>
          </p:cNvPr>
          <p:cNvCxnSpPr/>
          <p:nvPr/>
        </p:nvCxnSpPr>
        <p:spPr>
          <a:xfrm>
            <a:off x="3530600" y="3009900"/>
            <a:ext cx="723900" cy="0"/>
          </a:xfrm>
          <a:prstGeom prst="line">
            <a:avLst/>
          </a:prstGeom>
          <a:ln w="25400">
            <a:solidFill>
              <a:srgbClr val="087F6B"/>
            </a:solidFill>
            <a:tailEnd type="arrow"/>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EF54E966-C492-6883-CE84-3B5ED9E4576C}"/>
              </a:ext>
            </a:extLst>
          </p:cNvPr>
          <p:cNvCxnSpPr/>
          <p:nvPr/>
        </p:nvCxnSpPr>
        <p:spPr>
          <a:xfrm>
            <a:off x="7175500" y="3009900"/>
            <a:ext cx="723900" cy="0"/>
          </a:xfrm>
          <a:prstGeom prst="line">
            <a:avLst/>
          </a:prstGeom>
          <a:ln w="25400">
            <a:solidFill>
              <a:srgbClr val="087F6B"/>
            </a:solidFill>
            <a:tailEnd type="arrow"/>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49B805EE-5F10-8721-BA20-EB7AB412BDEA}"/>
              </a:ext>
            </a:extLst>
          </p:cNvPr>
          <p:cNvSpPr/>
          <p:nvPr/>
        </p:nvSpPr>
        <p:spPr>
          <a:xfrm>
            <a:off x="609600" y="4127500"/>
            <a:ext cx="2921000" cy="825500"/>
          </a:xfrm>
          <a:prstGeom prst="rect">
            <a:avLst/>
          </a:prstGeom>
          <a:solidFill>
            <a:srgbClr val="EDF4F2"/>
          </a:solidFill>
          <a:ln w="12700">
            <a:solidFill>
              <a:srgbClr val="087F6B"/>
            </a:solidFill>
          </a:ln>
        </p:spPr>
        <p:style>
          <a:lnRef idx="2">
            <a:schemeClr val="accent1">
              <a:shade val="15000"/>
            </a:schemeClr>
          </a:lnRef>
          <a:fillRef idx="1">
            <a:schemeClr val="accent1"/>
          </a:fillRef>
          <a:effectRef idx="0">
            <a:schemeClr val="accent1"/>
          </a:effectRef>
          <a:fontRef idx="minor">
            <a:schemeClr val="lt1"/>
          </a:fontRef>
        </p:style>
        <p:txBody>
          <a:bodyPr lIns="152400" tIns="114300" rIns="152400" bIns="114300" rtlCol="0" anchor="ctr"/>
          <a:lstStyle/>
          <a:p>
            <a:pPr algn="ctr"/>
            <a:r>
              <a:rPr lang="en-US" sz="2200">
                <a:solidFill>
                  <a:srgbClr val="142735"/>
                </a:solidFill>
                <a:latin typeface="Aptos" panose="020B0004020202020204" pitchFamily="34" charset="0"/>
              </a:rPr>
              <a:t>Revenue Top 10</a:t>
            </a:r>
          </a:p>
        </p:txBody>
      </p:sp>
      <p:sp>
        <p:nvSpPr>
          <p:cNvPr id="12" name="Rectangle 11">
            <a:extLst>
              <a:ext uri="{FF2B5EF4-FFF2-40B4-BE49-F238E27FC236}">
                <a16:creationId xmlns:a16="http://schemas.microsoft.com/office/drawing/2014/main" id="{01FF3181-0C00-2F4B-7374-2069CA49E0E6}"/>
              </a:ext>
            </a:extLst>
          </p:cNvPr>
          <p:cNvSpPr/>
          <p:nvPr/>
        </p:nvSpPr>
        <p:spPr>
          <a:xfrm>
            <a:off x="4254500" y="4127500"/>
            <a:ext cx="2921000" cy="825500"/>
          </a:xfrm>
          <a:prstGeom prst="rect">
            <a:avLst/>
          </a:prstGeom>
          <a:solidFill>
            <a:srgbClr val="EDF4F2"/>
          </a:solidFill>
          <a:ln w="12700">
            <a:solidFill>
              <a:srgbClr val="087F6B"/>
            </a:solidFill>
          </a:ln>
        </p:spPr>
        <p:style>
          <a:lnRef idx="2">
            <a:schemeClr val="accent1">
              <a:shade val="15000"/>
            </a:schemeClr>
          </a:lnRef>
          <a:fillRef idx="1">
            <a:schemeClr val="accent1"/>
          </a:fillRef>
          <a:effectRef idx="0">
            <a:schemeClr val="accent1"/>
          </a:effectRef>
          <a:fontRef idx="minor">
            <a:schemeClr val="lt1"/>
          </a:fontRef>
        </p:style>
        <p:txBody>
          <a:bodyPr lIns="152400" tIns="114300" rIns="152400" bIns="114300" rtlCol="0" anchor="ctr"/>
          <a:lstStyle/>
          <a:p>
            <a:pPr algn="ctr"/>
            <a:r>
              <a:rPr lang="en-US" sz="2200">
                <a:solidFill>
                  <a:srgbClr val="142735"/>
                </a:solidFill>
                <a:latin typeface="Aptos" panose="020B0004020202020204" pitchFamily="34" charset="0"/>
              </a:rPr>
              <a:t>Filter Germany</a:t>
            </a:r>
          </a:p>
        </p:txBody>
      </p:sp>
      <p:sp>
        <p:nvSpPr>
          <p:cNvPr id="13" name="Rectangle 12">
            <a:extLst>
              <a:ext uri="{FF2B5EF4-FFF2-40B4-BE49-F238E27FC236}">
                <a16:creationId xmlns:a16="http://schemas.microsoft.com/office/drawing/2014/main" id="{8B489197-A5E3-807D-CFF3-0F935ECCC363}"/>
              </a:ext>
            </a:extLst>
          </p:cNvPr>
          <p:cNvSpPr/>
          <p:nvPr/>
        </p:nvSpPr>
        <p:spPr>
          <a:xfrm>
            <a:off x="7899400" y="4127500"/>
            <a:ext cx="3683000" cy="825500"/>
          </a:xfrm>
          <a:prstGeom prst="rect">
            <a:avLst/>
          </a:prstGeom>
          <a:solidFill>
            <a:srgbClr val="087F6B"/>
          </a:solidFill>
          <a:ln w="12700">
            <a:solidFill>
              <a:srgbClr val="087F6B"/>
            </a:solidFill>
          </a:ln>
        </p:spPr>
        <p:style>
          <a:lnRef idx="2">
            <a:schemeClr val="accent1">
              <a:shade val="15000"/>
            </a:schemeClr>
          </a:lnRef>
          <a:fillRef idx="1">
            <a:schemeClr val="accent1"/>
          </a:fillRef>
          <a:effectRef idx="0">
            <a:schemeClr val="accent1"/>
          </a:effectRef>
          <a:fontRef idx="minor">
            <a:schemeClr val="lt1"/>
          </a:fontRef>
        </p:style>
        <p:txBody>
          <a:bodyPr lIns="152400" tIns="114300" rIns="152400" bIns="114300" rtlCol="0" anchor="ctr"/>
          <a:lstStyle/>
          <a:p>
            <a:pPr algn="ctr"/>
            <a:r>
              <a:rPr lang="en-US" sz="2200">
                <a:solidFill>
                  <a:srgbClr val="FFFFFF"/>
                </a:solidFill>
                <a:latin typeface="Aptos" panose="020B0004020202020204" pitchFamily="34" charset="0"/>
              </a:rPr>
              <a:t>German customers in global Top 10</a:t>
            </a:r>
          </a:p>
        </p:txBody>
      </p:sp>
      <p:cxnSp>
        <p:nvCxnSpPr>
          <p:cNvPr id="14" name="Straight Connector 13">
            <a:extLst>
              <a:ext uri="{FF2B5EF4-FFF2-40B4-BE49-F238E27FC236}">
                <a16:creationId xmlns:a16="http://schemas.microsoft.com/office/drawing/2014/main" id="{FB5D0B2C-FDD6-313B-131B-125E997981DA}"/>
              </a:ext>
            </a:extLst>
          </p:cNvPr>
          <p:cNvCxnSpPr/>
          <p:nvPr/>
        </p:nvCxnSpPr>
        <p:spPr>
          <a:xfrm>
            <a:off x="3530600" y="4533900"/>
            <a:ext cx="723900" cy="0"/>
          </a:xfrm>
          <a:prstGeom prst="line">
            <a:avLst/>
          </a:prstGeom>
          <a:ln w="25400">
            <a:solidFill>
              <a:srgbClr val="087F6B"/>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AF9335FE-CEEE-D4B1-BF2C-EA01601865F3}"/>
              </a:ext>
            </a:extLst>
          </p:cNvPr>
          <p:cNvCxnSpPr/>
          <p:nvPr/>
        </p:nvCxnSpPr>
        <p:spPr>
          <a:xfrm>
            <a:off x="7175500" y="4533900"/>
            <a:ext cx="723900" cy="0"/>
          </a:xfrm>
          <a:prstGeom prst="line">
            <a:avLst/>
          </a:prstGeom>
          <a:ln w="25400">
            <a:solidFill>
              <a:srgbClr val="087F6B"/>
            </a:solidFill>
            <a:tailEnd type="arrow"/>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09E4E007-0093-FD50-940C-CFB43935EAC6}"/>
              </a:ext>
            </a:extLst>
          </p:cNvPr>
          <p:cNvSpPr txBox="1"/>
          <p:nvPr/>
        </p:nvSpPr>
        <p:spPr>
          <a:xfrm>
            <a:off x="609600" y="5651500"/>
            <a:ext cx="10972800" cy="353943"/>
          </a:xfrm>
          <a:prstGeom prst="rect">
            <a:avLst/>
          </a:prstGeom>
          <a:noFill/>
        </p:spPr>
        <p:txBody>
          <a:bodyPr vert="horz" wrap="square" lIns="0" tIns="0" rIns="0" bIns="0" rtlCol="0">
            <a:spAutoFit/>
          </a:bodyPr>
          <a:lstStyle/>
          <a:p>
            <a:r>
              <a:rPr lang="en-US" sz="2300" b="1">
                <a:solidFill>
                  <a:srgbClr val="087F6B"/>
                </a:solidFill>
                <a:latin typeface="Aptos" panose="020B0004020202020204" pitchFamily="34" charset="0"/>
              </a:rPr>
              <a:t>Opportunity: test structural edits rather than rewrite SQL text blindly.</a:t>
            </a:r>
          </a:p>
        </p:txBody>
      </p:sp>
    </p:spTree>
    <p:extLst>
      <p:ext uri="{BB962C8B-B14F-4D97-AF65-F5344CB8AC3E}">
        <p14:creationId xmlns:p14="http://schemas.microsoft.com/office/powerpoint/2010/main" val="28951571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43C7EA-C684-A00D-C8D8-41796E97C0C3}"/>
              </a:ext>
            </a:extLst>
          </p:cNvPr>
          <p:cNvSpPr txBox="1"/>
          <p:nvPr/>
        </p:nvSpPr>
        <p:spPr>
          <a:xfrm>
            <a:off x="609600" y="444500"/>
            <a:ext cx="10972800" cy="523220"/>
          </a:xfrm>
          <a:prstGeom prst="rect">
            <a:avLst/>
          </a:prstGeom>
          <a:noFill/>
        </p:spPr>
        <p:txBody>
          <a:bodyPr vert="horz" wrap="square" lIns="0" tIns="0" rIns="0" bIns="0" rtlCol="0">
            <a:spAutoFit/>
          </a:bodyPr>
          <a:lstStyle/>
          <a:p>
            <a:r>
              <a:rPr lang="en-US" sz="3400" b="1">
                <a:solidFill>
                  <a:srgbClr val="142735"/>
                </a:solidFill>
                <a:latin typeface="Aptos" panose="020B0004020202020204" pitchFamily="34" charset="0"/>
              </a:rPr>
              <a:t>Capability-driven SQL generation</a:t>
            </a:r>
          </a:p>
        </p:txBody>
      </p:sp>
      <p:sp>
        <p:nvSpPr>
          <p:cNvPr id="3" name="TextBox 2">
            <a:extLst>
              <a:ext uri="{FF2B5EF4-FFF2-40B4-BE49-F238E27FC236}">
                <a16:creationId xmlns:a16="http://schemas.microsoft.com/office/drawing/2014/main" id="{D16EBBF4-1E3C-98E5-9A25-0FE8C58D010D}"/>
              </a:ext>
            </a:extLst>
          </p:cNvPr>
          <p:cNvSpPr txBox="1"/>
          <p:nvPr/>
        </p:nvSpPr>
        <p:spPr>
          <a:xfrm>
            <a:off x="609600" y="6464300"/>
            <a:ext cx="10414000" cy="169277"/>
          </a:xfrm>
          <a:prstGeom prst="rect">
            <a:avLst/>
          </a:prstGeom>
          <a:noFill/>
        </p:spPr>
        <p:txBody>
          <a:bodyPr vert="horz" wrap="square" lIns="0" tIns="0" rIns="0" bIns="0" rtlCol="0">
            <a:spAutoFit/>
          </a:bodyPr>
          <a:lstStyle/>
          <a:p>
            <a:r>
              <a:rPr lang="en-US" sz="1100">
                <a:solidFill>
                  <a:srgbClr val="526471"/>
                </a:solidFill>
                <a:latin typeface="Aptos" panose="020B0004020202020204" pitchFamily="34" charset="0"/>
              </a:rPr>
              <a:t>Po-wei Huang / Golden query prototype / October 2026</a:t>
            </a:r>
          </a:p>
        </p:txBody>
      </p:sp>
      <p:sp>
        <p:nvSpPr>
          <p:cNvPr id="4" name="TextBox 3">
            <a:extLst>
              <a:ext uri="{FF2B5EF4-FFF2-40B4-BE49-F238E27FC236}">
                <a16:creationId xmlns:a16="http://schemas.microsoft.com/office/drawing/2014/main" id="{12254BD6-96BB-BE9D-E08B-58B84664D5AD}"/>
              </a:ext>
            </a:extLst>
          </p:cNvPr>
          <p:cNvSpPr txBox="1"/>
          <p:nvPr/>
        </p:nvSpPr>
        <p:spPr>
          <a:xfrm>
            <a:off x="11430000" y="6464300"/>
            <a:ext cx="381000" cy="169277"/>
          </a:xfrm>
          <a:prstGeom prst="rect">
            <a:avLst/>
          </a:prstGeom>
          <a:noFill/>
        </p:spPr>
        <p:txBody>
          <a:bodyPr vert="horz" wrap="square" lIns="0" tIns="0" rIns="0" bIns="0" rtlCol="0">
            <a:spAutoFit/>
          </a:bodyPr>
          <a:lstStyle/>
          <a:p>
            <a:r>
              <a:rPr lang="en-US" sz="1100">
                <a:solidFill>
                  <a:srgbClr val="526471"/>
                </a:solidFill>
                <a:latin typeface="Aptos" panose="020B0004020202020204" pitchFamily="34" charset="0"/>
              </a:rPr>
              <a:t>4</a:t>
            </a:r>
          </a:p>
        </p:txBody>
      </p:sp>
      <p:sp>
        <p:nvSpPr>
          <p:cNvPr id="5" name="Rectangle 4">
            <a:extLst>
              <a:ext uri="{FF2B5EF4-FFF2-40B4-BE49-F238E27FC236}">
                <a16:creationId xmlns:a16="http://schemas.microsoft.com/office/drawing/2014/main" id="{C7CEBF85-2FED-923E-7925-BDEDDEADA2AD}"/>
              </a:ext>
            </a:extLst>
          </p:cNvPr>
          <p:cNvSpPr/>
          <p:nvPr/>
        </p:nvSpPr>
        <p:spPr>
          <a:xfrm>
            <a:off x="3556000" y="1651000"/>
            <a:ext cx="5080000" cy="825500"/>
          </a:xfrm>
          <a:prstGeom prst="rect">
            <a:avLst/>
          </a:prstGeom>
          <a:solidFill>
            <a:srgbClr val="087F6B"/>
          </a:solidFill>
          <a:ln w="12700">
            <a:solidFill>
              <a:srgbClr val="087F6B"/>
            </a:solidFill>
          </a:ln>
        </p:spPr>
        <p:style>
          <a:lnRef idx="2">
            <a:schemeClr val="accent1">
              <a:shade val="15000"/>
            </a:schemeClr>
          </a:lnRef>
          <a:fillRef idx="1">
            <a:schemeClr val="accent1"/>
          </a:fillRef>
          <a:effectRef idx="0">
            <a:schemeClr val="accent1"/>
          </a:effectRef>
          <a:fontRef idx="minor">
            <a:schemeClr val="lt1"/>
          </a:fontRef>
        </p:style>
        <p:txBody>
          <a:bodyPr lIns="152400" tIns="114300" rIns="152400" bIns="114300" rtlCol="0" anchor="ctr"/>
          <a:lstStyle/>
          <a:p>
            <a:pPr algn="ctr"/>
            <a:r>
              <a:rPr lang="en-US" sz="2200">
                <a:solidFill>
                  <a:srgbClr val="FFFFFF"/>
                </a:solidFill>
                <a:latin typeface="Aptos" panose="020B0004020202020204" pitchFamily="34" charset="0"/>
              </a:rPr>
              <a:t>Logical operation: continuous percentile</a:t>
            </a:r>
          </a:p>
        </p:txBody>
      </p:sp>
      <p:sp>
        <p:nvSpPr>
          <p:cNvPr id="6" name="Rectangle 5">
            <a:extLst>
              <a:ext uri="{FF2B5EF4-FFF2-40B4-BE49-F238E27FC236}">
                <a16:creationId xmlns:a16="http://schemas.microsoft.com/office/drawing/2014/main" id="{0DA78B97-14BB-4693-9617-8E287D478773}"/>
              </a:ext>
            </a:extLst>
          </p:cNvPr>
          <p:cNvSpPr/>
          <p:nvPr/>
        </p:nvSpPr>
        <p:spPr>
          <a:xfrm>
            <a:off x="4127500" y="2857500"/>
            <a:ext cx="3937000" cy="762000"/>
          </a:xfrm>
          <a:prstGeom prst="rect">
            <a:avLst/>
          </a:prstGeom>
          <a:solidFill>
            <a:srgbClr val="EDF4F2"/>
          </a:solidFill>
          <a:ln w="12700">
            <a:solidFill>
              <a:srgbClr val="087F6B"/>
            </a:solidFill>
          </a:ln>
        </p:spPr>
        <p:style>
          <a:lnRef idx="2">
            <a:schemeClr val="accent1">
              <a:shade val="15000"/>
            </a:schemeClr>
          </a:lnRef>
          <a:fillRef idx="1">
            <a:schemeClr val="accent1"/>
          </a:fillRef>
          <a:effectRef idx="0">
            <a:schemeClr val="accent1"/>
          </a:effectRef>
          <a:fontRef idx="minor">
            <a:schemeClr val="lt1"/>
          </a:fontRef>
        </p:style>
        <p:txBody>
          <a:bodyPr lIns="152400" tIns="114300" rIns="152400" bIns="114300" rtlCol="0" anchor="ctr"/>
          <a:lstStyle/>
          <a:p>
            <a:pPr algn="ctr"/>
            <a:r>
              <a:rPr lang="en-US" sz="2200">
                <a:solidFill>
                  <a:srgbClr val="142735"/>
                </a:solidFill>
                <a:latin typeface="Aptos" panose="020B0004020202020204" pitchFamily="34" charset="0"/>
              </a:rPr>
              <a:t>Capability resolution</a:t>
            </a:r>
          </a:p>
        </p:txBody>
      </p:sp>
      <p:cxnSp>
        <p:nvCxnSpPr>
          <p:cNvPr id="7" name="Straight Connector 6">
            <a:extLst>
              <a:ext uri="{FF2B5EF4-FFF2-40B4-BE49-F238E27FC236}">
                <a16:creationId xmlns:a16="http://schemas.microsoft.com/office/drawing/2014/main" id="{268DB864-7DF1-C5E5-246E-1CD52684F8A3}"/>
              </a:ext>
            </a:extLst>
          </p:cNvPr>
          <p:cNvCxnSpPr/>
          <p:nvPr/>
        </p:nvCxnSpPr>
        <p:spPr>
          <a:xfrm>
            <a:off x="6096000" y="2476500"/>
            <a:ext cx="0" cy="381000"/>
          </a:xfrm>
          <a:prstGeom prst="line">
            <a:avLst/>
          </a:prstGeom>
          <a:ln w="25400">
            <a:solidFill>
              <a:srgbClr val="087F6B"/>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1591D9C6-A80A-F456-6F37-898304612FF8}"/>
              </a:ext>
            </a:extLst>
          </p:cNvPr>
          <p:cNvCxnSpPr/>
          <p:nvPr/>
        </p:nvCxnSpPr>
        <p:spPr>
          <a:xfrm flipH="1">
            <a:off x="2540000" y="3619500"/>
            <a:ext cx="2159000" cy="635000"/>
          </a:xfrm>
          <a:prstGeom prst="line">
            <a:avLst/>
          </a:prstGeom>
          <a:ln w="25400">
            <a:solidFill>
              <a:srgbClr val="087F6B"/>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8D01EB6-A397-10EC-F811-F407EEE9F4DE}"/>
              </a:ext>
            </a:extLst>
          </p:cNvPr>
          <p:cNvCxnSpPr/>
          <p:nvPr/>
        </p:nvCxnSpPr>
        <p:spPr>
          <a:xfrm>
            <a:off x="6096000" y="3619500"/>
            <a:ext cx="0" cy="635000"/>
          </a:xfrm>
          <a:prstGeom prst="line">
            <a:avLst/>
          </a:prstGeom>
          <a:ln w="25400">
            <a:solidFill>
              <a:srgbClr val="087F6B"/>
            </a:solidFill>
            <a:tailEnd type="arrow"/>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3075056D-03A1-D751-FA46-0AD90D69C54D}"/>
              </a:ext>
            </a:extLst>
          </p:cNvPr>
          <p:cNvCxnSpPr/>
          <p:nvPr/>
        </p:nvCxnSpPr>
        <p:spPr>
          <a:xfrm>
            <a:off x="7493000" y="3619500"/>
            <a:ext cx="2286000" cy="635000"/>
          </a:xfrm>
          <a:prstGeom prst="line">
            <a:avLst/>
          </a:prstGeom>
          <a:ln w="25400">
            <a:solidFill>
              <a:srgbClr val="087F6B"/>
            </a:solidFill>
            <a:tailEnd type="arrow"/>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0BE5A8EF-1995-56B6-2B91-785A96A34F6D}"/>
              </a:ext>
            </a:extLst>
          </p:cNvPr>
          <p:cNvSpPr/>
          <p:nvPr/>
        </p:nvSpPr>
        <p:spPr>
          <a:xfrm>
            <a:off x="698500" y="4254500"/>
            <a:ext cx="3683000" cy="952500"/>
          </a:xfrm>
          <a:prstGeom prst="rect">
            <a:avLst/>
          </a:prstGeom>
          <a:solidFill>
            <a:srgbClr val="EDF4F2"/>
          </a:solidFill>
          <a:ln w="12700">
            <a:solidFill>
              <a:srgbClr val="087F6B"/>
            </a:solidFill>
          </a:ln>
        </p:spPr>
        <p:style>
          <a:lnRef idx="2">
            <a:schemeClr val="accent1">
              <a:shade val="15000"/>
            </a:schemeClr>
          </a:lnRef>
          <a:fillRef idx="1">
            <a:schemeClr val="accent1"/>
          </a:fillRef>
          <a:effectRef idx="0">
            <a:schemeClr val="accent1"/>
          </a:effectRef>
          <a:fontRef idx="minor">
            <a:schemeClr val="lt1"/>
          </a:fontRef>
        </p:style>
        <p:txBody>
          <a:bodyPr lIns="152400" tIns="114300" rIns="152400" bIns="114300" rtlCol="0" anchor="ctr"/>
          <a:lstStyle/>
          <a:p>
            <a:pPr algn="ctr"/>
            <a:r>
              <a:rPr lang="en-US" sz="2200">
                <a:solidFill>
                  <a:srgbClr val="142735"/>
                </a:solidFill>
                <a:latin typeface="Aptos" panose="020B0004020202020204" pitchFamily="34" charset="0"/>
              </a:rPr>
              <a:t>BigQuery native
PERCENTILE_CONT</a:t>
            </a:r>
          </a:p>
        </p:txBody>
      </p:sp>
      <p:sp>
        <p:nvSpPr>
          <p:cNvPr id="12" name="Rectangle 11">
            <a:extLst>
              <a:ext uri="{FF2B5EF4-FFF2-40B4-BE49-F238E27FC236}">
                <a16:creationId xmlns:a16="http://schemas.microsoft.com/office/drawing/2014/main" id="{FA56EAA3-C3D3-413B-FDE2-DABCFBBC677C}"/>
              </a:ext>
            </a:extLst>
          </p:cNvPr>
          <p:cNvSpPr/>
          <p:nvPr/>
        </p:nvSpPr>
        <p:spPr>
          <a:xfrm>
            <a:off x="4699000" y="4254500"/>
            <a:ext cx="2794000" cy="952500"/>
          </a:xfrm>
          <a:prstGeom prst="rect">
            <a:avLst/>
          </a:prstGeom>
          <a:solidFill>
            <a:srgbClr val="EDF4F2"/>
          </a:solidFill>
          <a:ln w="12700">
            <a:solidFill>
              <a:srgbClr val="087F6B"/>
            </a:solidFill>
          </a:ln>
        </p:spPr>
        <p:style>
          <a:lnRef idx="2">
            <a:schemeClr val="accent1">
              <a:shade val="15000"/>
            </a:schemeClr>
          </a:lnRef>
          <a:fillRef idx="1">
            <a:schemeClr val="accent1"/>
          </a:fillRef>
          <a:effectRef idx="0">
            <a:schemeClr val="accent1"/>
          </a:effectRef>
          <a:fontRef idx="minor">
            <a:schemeClr val="lt1"/>
          </a:fontRef>
        </p:style>
        <p:txBody>
          <a:bodyPr lIns="152400" tIns="114300" rIns="152400" bIns="114300" rtlCol="0" anchor="ctr"/>
          <a:lstStyle/>
          <a:p>
            <a:pPr algn="ctr"/>
            <a:r>
              <a:rPr lang="en-US" sz="2200">
                <a:solidFill>
                  <a:srgbClr val="142735"/>
                </a:solidFill>
                <a:latin typeface="Aptos" panose="020B0004020202020204" pitchFamily="34" charset="0"/>
              </a:rPr>
              <a:t>MySQL rewrite
Rank + count</a:t>
            </a:r>
          </a:p>
        </p:txBody>
      </p:sp>
      <p:sp>
        <p:nvSpPr>
          <p:cNvPr id="13" name="Rectangle 12">
            <a:extLst>
              <a:ext uri="{FF2B5EF4-FFF2-40B4-BE49-F238E27FC236}">
                <a16:creationId xmlns:a16="http://schemas.microsoft.com/office/drawing/2014/main" id="{D14E331D-CB5A-EABA-8D06-8BBCD80800C6}"/>
              </a:ext>
            </a:extLst>
          </p:cNvPr>
          <p:cNvSpPr/>
          <p:nvPr/>
        </p:nvSpPr>
        <p:spPr>
          <a:xfrm>
            <a:off x="7810500" y="4254500"/>
            <a:ext cx="3683000" cy="952500"/>
          </a:xfrm>
          <a:prstGeom prst="rect">
            <a:avLst/>
          </a:prstGeom>
          <a:solidFill>
            <a:srgbClr val="EDF4F2"/>
          </a:solidFill>
          <a:ln w="12700">
            <a:solidFill>
              <a:srgbClr val="087F6B"/>
            </a:solidFill>
          </a:ln>
        </p:spPr>
        <p:style>
          <a:lnRef idx="2">
            <a:schemeClr val="accent1">
              <a:shade val="15000"/>
            </a:schemeClr>
          </a:lnRef>
          <a:fillRef idx="1">
            <a:schemeClr val="accent1"/>
          </a:fillRef>
          <a:effectRef idx="0">
            <a:schemeClr val="accent1"/>
          </a:effectRef>
          <a:fontRef idx="minor">
            <a:schemeClr val="lt1"/>
          </a:fontRef>
        </p:style>
        <p:txBody>
          <a:bodyPr lIns="152400" tIns="114300" rIns="152400" bIns="114300" rtlCol="0" anchor="ctr"/>
          <a:lstStyle/>
          <a:p>
            <a:pPr algn="ctr"/>
            <a:r>
              <a:rPr lang="en-US" sz="2200">
                <a:solidFill>
                  <a:srgbClr val="142735"/>
                </a:solidFill>
                <a:latin typeface="Aptos" panose="020B0004020202020204" pitchFamily="34" charset="0"/>
              </a:rPr>
              <a:t>Unsupported operation
Explicit error</a:t>
            </a:r>
          </a:p>
        </p:txBody>
      </p:sp>
      <p:sp>
        <p:nvSpPr>
          <p:cNvPr id="14" name="TextBox 13">
            <a:extLst>
              <a:ext uri="{FF2B5EF4-FFF2-40B4-BE49-F238E27FC236}">
                <a16:creationId xmlns:a16="http://schemas.microsoft.com/office/drawing/2014/main" id="{367D3D71-4526-67A4-61DF-6E2968D3FF2D}"/>
              </a:ext>
            </a:extLst>
          </p:cNvPr>
          <p:cNvSpPr txBox="1"/>
          <p:nvPr/>
        </p:nvSpPr>
        <p:spPr>
          <a:xfrm>
            <a:off x="609600" y="5651500"/>
            <a:ext cx="10972800" cy="353943"/>
          </a:xfrm>
          <a:prstGeom prst="rect">
            <a:avLst/>
          </a:prstGeom>
          <a:noFill/>
        </p:spPr>
        <p:txBody>
          <a:bodyPr vert="horz" wrap="square" lIns="0" tIns="0" rIns="0" bIns="0" rtlCol="0">
            <a:spAutoFit/>
          </a:bodyPr>
          <a:lstStyle/>
          <a:p>
            <a:r>
              <a:rPr lang="en-US" sz="2300" b="1">
                <a:solidFill>
                  <a:srgbClr val="087F6B"/>
                </a:solidFill>
                <a:latin typeface="Aptos" panose="020B0004020202020204" pitchFamily="34" charset="0"/>
              </a:rPr>
              <a:t>The caller keeps the same supported analytical operation.</a:t>
            </a:r>
          </a:p>
        </p:txBody>
      </p:sp>
    </p:spTree>
    <p:extLst>
      <p:ext uri="{BB962C8B-B14F-4D97-AF65-F5344CB8AC3E}">
        <p14:creationId xmlns:p14="http://schemas.microsoft.com/office/powerpoint/2010/main" val="219727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771D04-74C7-FEE0-889C-FCFD8FFE4A21}"/>
              </a:ext>
            </a:extLst>
          </p:cNvPr>
          <p:cNvSpPr txBox="1"/>
          <p:nvPr/>
        </p:nvSpPr>
        <p:spPr>
          <a:xfrm>
            <a:off x="609600" y="444500"/>
            <a:ext cx="10972800" cy="523220"/>
          </a:xfrm>
          <a:prstGeom prst="rect">
            <a:avLst/>
          </a:prstGeom>
          <a:noFill/>
        </p:spPr>
        <p:txBody>
          <a:bodyPr vert="horz" wrap="square" lIns="0" tIns="0" rIns="0" bIns="0" rtlCol="0">
            <a:spAutoFit/>
          </a:bodyPr>
          <a:lstStyle/>
          <a:p>
            <a:r>
              <a:rPr lang="en-US" sz="3400" b="1">
                <a:solidFill>
                  <a:srgbClr val="142735"/>
                </a:solidFill>
                <a:latin typeface="Aptos" panose="020B0004020202020204" pitchFamily="34" charset="0"/>
              </a:rPr>
              <a:t>SQL size: repeated trees versus named stages</a:t>
            </a:r>
          </a:p>
        </p:txBody>
      </p:sp>
      <p:sp>
        <p:nvSpPr>
          <p:cNvPr id="3" name="TextBox 2">
            <a:extLst>
              <a:ext uri="{FF2B5EF4-FFF2-40B4-BE49-F238E27FC236}">
                <a16:creationId xmlns:a16="http://schemas.microsoft.com/office/drawing/2014/main" id="{B53283CF-BA1E-CBD5-F127-2D0D305D806F}"/>
              </a:ext>
            </a:extLst>
          </p:cNvPr>
          <p:cNvSpPr txBox="1"/>
          <p:nvPr/>
        </p:nvSpPr>
        <p:spPr>
          <a:xfrm>
            <a:off x="609600" y="6464300"/>
            <a:ext cx="10414000" cy="169277"/>
          </a:xfrm>
          <a:prstGeom prst="rect">
            <a:avLst/>
          </a:prstGeom>
          <a:noFill/>
        </p:spPr>
        <p:txBody>
          <a:bodyPr vert="horz" wrap="square" lIns="0" tIns="0" rIns="0" bIns="0" rtlCol="0">
            <a:spAutoFit/>
          </a:bodyPr>
          <a:lstStyle/>
          <a:p>
            <a:r>
              <a:rPr lang="en-US" sz="1100">
                <a:solidFill>
                  <a:srgbClr val="526471"/>
                </a:solidFill>
                <a:latin typeface="Aptos" panose="020B0004020202020204" pitchFamily="34" charset="0"/>
              </a:rPr>
              <a:t>Po-wei Huang / Golden query prototype / October 2026</a:t>
            </a:r>
          </a:p>
        </p:txBody>
      </p:sp>
      <p:sp>
        <p:nvSpPr>
          <p:cNvPr id="4" name="TextBox 3">
            <a:extLst>
              <a:ext uri="{FF2B5EF4-FFF2-40B4-BE49-F238E27FC236}">
                <a16:creationId xmlns:a16="http://schemas.microsoft.com/office/drawing/2014/main" id="{E18EAD2E-696A-E28B-CE1D-20BF8BE63D9F}"/>
              </a:ext>
            </a:extLst>
          </p:cNvPr>
          <p:cNvSpPr txBox="1"/>
          <p:nvPr/>
        </p:nvSpPr>
        <p:spPr>
          <a:xfrm>
            <a:off x="11430000" y="6464300"/>
            <a:ext cx="381000" cy="169277"/>
          </a:xfrm>
          <a:prstGeom prst="rect">
            <a:avLst/>
          </a:prstGeom>
          <a:noFill/>
        </p:spPr>
        <p:txBody>
          <a:bodyPr vert="horz" wrap="square" lIns="0" tIns="0" rIns="0" bIns="0" rtlCol="0">
            <a:spAutoFit/>
          </a:bodyPr>
          <a:lstStyle/>
          <a:p>
            <a:r>
              <a:rPr lang="en-US" sz="1100">
                <a:solidFill>
                  <a:srgbClr val="526471"/>
                </a:solidFill>
                <a:latin typeface="Aptos" panose="020B0004020202020204" pitchFamily="34" charset="0"/>
              </a:rPr>
              <a:t>5</a:t>
            </a:r>
          </a:p>
        </p:txBody>
      </p:sp>
      <p:sp>
        <p:nvSpPr>
          <p:cNvPr id="5" name="TextBox 4">
            <a:extLst>
              <a:ext uri="{FF2B5EF4-FFF2-40B4-BE49-F238E27FC236}">
                <a16:creationId xmlns:a16="http://schemas.microsoft.com/office/drawing/2014/main" id="{2C6080B0-4003-B7C4-A88B-291DE1AAC963}"/>
              </a:ext>
            </a:extLst>
          </p:cNvPr>
          <p:cNvSpPr txBox="1"/>
          <p:nvPr/>
        </p:nvSpPr>
        <p:spPr>
          <a:xfrm>
            <a:off x="609600" y="1587500"/>
            <a:ext cx="4953000" cy="400110"/>
          </a:xfrm>
          <a:prstGeom prst="rect">
            <a:avLst/>
          </a:prstGeom>
          <a:noFill/>
        </p:spPr>
        <p:txBody>
          <a:bodyPr vert="horz" wrap="square" lIns="0" tIns="0" rIns="0" bIns="0" rtlCol="0">
            <a:spAutoFit/>
          </a:bodyPr>
          <a:lstStyle/>
          <a:p>
            <a:r>
              <a:rPr lang="en-US" sz="2600">
                <a:solidFill>
                  <a:srgbClr val="526471"/>
                </a:solidFill>
                <a:latin typeface="Aptos" panose="020B0004020202020204" pitchFamily="34" charset="0"/>
              </a:rPr>
              <a:t>Current expansion</a:t>
            </a:r>
          </a:p>
        </p:txBody>
      </p:sp>
      <p:sp>
        <p:nvSpPr>
          <p:cNvPr id="6" name="TextBox 5">
            <a:extLst>
              <a:ext uri="{FF2B5EF4-FFF2-40B4-BE49-F238E27FC236}">
                <a16:creationId xmlns:a16="http://schemas.microsoft.com/office/drawing/2014/main" id="{DF661DC8-9C47-DAD1-C4DF-B9A87DFFF8C0}"/>
              </a:ext>
            </a:extLst>
          </p:cNvPr>
          <p:cNvSpPr txBox="1"/>
          <p:nvPr/>
        </p:nvSpPr>
        <p:spPr>
          <a:xfrm>
            <a:off x="6604000" y="1587500"/>
            <a:ext cx="4978400" cy="400110"/>
          </a:xfrm>
          <a:prstGeom prst="rect">
            <a:avLst/>
          </a:prstGeom>
          <a:noFill/>
        </p:spPr>
        <p:txBody>
          <a:bodyPr vert="horz" wrap="square" lIns="0" tIns="0" rIns="0" bIns="0" rtlCol="0">
            <a:spAutoFit/>
          </a:bodyPr>
          <a:lstStyle/>
          <a:p>
            <a:r>
              <a:rPr lang="en-US" sz="2600" b="1">
                <a:solidFill>
                  <a:srgbClr val="087F6B"/>
                </a:solidFill>
                <a:latin typeface="Aptos" panose="020B0004020202020204" pitchFamily="34" charset="0"/>
              </a:rPr>
              <a:t>Proposed named stages</a:t>
            </a:r>
          </a:p>
        </p:txBody>
      </p:sp>
      <p:sp>
        <p:nvSpPr>
          <p:cNvPr id="7" name="Rectangle 6">
            <a:extLst>
              <a:ext uri="{FF2B5EF4-FFF2-40B4-BE49-F238E27FC236}">
                <a16:creationId xmlns:a16="http://schemas.microsoft.com/office/drawing/2014/main" id="{F41375F7-DD9B-1B81-25DD-5E540228A0BC}"/>
              </a:ext>
            </a:extLst>
          </p:cNvPr>
          <p:cNvSpPr/>
          <p:nvPr/>
        </p:nvSpPr>
        <p:spPr>
          <a:xfrm>
            <a:off x="1143000" y="2349500"/>
            <a:ext cx="3810000" cy="762000"/>
          </a:xfrm>
          <a:prstGeom prst="rect">
            <a:avLst/>
          </a:prstGeom>
          <a:solidFill>
            <a:srgbClr val="EDF4F2"/>
          </a:solidFill>
          <a:ln w="12700">
            <a:solidFill>
              <a:srgbClr val="087F6B"/>
            </a:solidFill>
          </a:ln>
        </p:spPr>
        <p:style>
          <a:lnRef idx="2">
            <a:schemeClr val="accent1">
              <a:shade val="15000"/>
            </a:schemeClr>
          </a:lnRef>
          <a:fillRef idx="1">
            <a:schemeClr val="accent1"/>
          </a:fillRef>
          <a:effectRef idx="0">
            <a:schemeClr val="accent1"/>
          </a:effectRef>
          <a:fontRef idx="minor">
            <a:schemeClr val="lt1"/>
          </a:fontRef>
        </p:style>
        <p:txBody>
          <a:bodyPr lIns="152400" tIns="114300" rIns="152400" bIns="114300" rtlCol="0" anchor="ctr"/>
          <a:lstStyle/>
          <a:p>
            <a:pPr algn="ctr"/>
            <a:r>
              <a:rPr lang="en-US" sz="2200">
                <a:solidFill>
                  <a:srgbClr val="142735"/>
                </a:solidFill>
                <a:latin typeface="Aptos" panose="020B0004020202020204" pitchFamily="34" charset="0"/>
              </a:rPr>
              <a:t>Check final expression</a:t>
            </a:r>
          </a:p>
        </p:txBody>
      </p:sp>
      <p:sp>
        <p:nvSpPr>
          <p:cNvPr id="8" name="Rectangle 7">
            <a:extLst>
              <a:ext uri="{FF2B5EF4-FFF2-40B4-BE49-F238E27FC236}">
                <a16:creationId xmlns:a16="http://schemas.microsoft.com/office/drawing/2014/main" id="{533D9450-E390-2012-1B87-E025CE41A4A8}"/>
              </a:ext>
            </a:extLst>
          </p:cNvPr>
          <p:cNvSpPr/>
          <p:nvPr/>
        </p:nvSpPr>
        <p:spPr>
          <a:xfrm>
            <a:off x="609600" y="3937000"/>
            <a:ext cx="2286000" cy="952500"/>
          </a:xfrm>
          <a:prstGeom prst="rect">
            <a:avLst/>
          </a:prstGeom>
          <a:solidFill>
            <a:srgbClr val="EDF4F2"/>
          </a:solidFill>
          <a:ln w="12700">
            <a:solidFill>
              <a:srgbClr val="087F6B"/>
            </a:solidFill>
          </a:ln>
        </p:spPr>
        <p:style>
          <a:lnRef idx="2">
            <a:schemeClr val="accent1">
              <a:shade val="15000"/>
            </a:schemeClr>
          </a:lnRef>
          <a:fillRef idx="1">
            <a:schemeClr val="accent1"/>
          </a:fillRef>
          <a:effectRef idx="0">
            <a:schemeClr val="accent1"/>
          </a:effectRef>
          <a:fontRef idx="minor">
            <a:schemeClr val="lt1"/>
          </a:fontRef>
        </p:style>
        <p:txBody>
          <a:bodyPr lIns="152400" tIns="114300" rIns="152400" bIns="114300" rtlCol="0" anchor="ctr"/>
          <a:lstStyle/>
          <a:p>
            <a:pPr algn="ctr"/>
            <a:r>
              <a:rPr lang="en-US" sz="2200">
                <a:solidFill>
                  <a:srgbClr val="142735"/>
                </a:solidFill>
                <a:latin typeface="Aptos" panose="020B0004020202020204" pitchFamily="34" charset="0"/>
              </a:rPr>
              <a:t>Repeat child
expression</a:t>
            </a:r>
          </a:p>
        </p:txBody>
      </p:sp>
      <p:sp>
        <p:nvSpPr>
          <p:cNvPr id="9" name="Rectangle 8">
            <a:extLst>
              <a:ext uri="{FF2B5EF4-FFF2-40B4-BE49-F238E27FC236}">
                <a16:creationId xmlns:a16="http://schemas.microsoft.com/office/drawing/2014/main" id="{7A338ED0-5277-4536-EBE7-C5F969BCABB1}"/>
              </a:ext>
            </a:extLst>
          </p:cNvPr>
          <p:cNvSpPr/>
          <p:nvPr/>
        </p:nvSpPr>
        <p:spPr>
          <a:xfrm>
            <a:off x="3276600" y="3937000"/>
            <a:ext cx="2286000" cy="952500"/>
          </a:xfrm>
          <a:prstGeom prst="rect">
            <a:avLst/>
          </a:prstGeom>
          <a:solidFill>
            <a:srgbClr val="EDF4F2"/>
          </a:solidFill>
          <a:ln w="12700">
            <a:solidFill>
              <a:srgbClr val="087F6B"/>
            </a:solidFill>
          </a:ln>
        </p:spPr>
        <p:style>
          <a:lnRef idx="2">
            <a:schemeClr val="accent1">
              <a:shade val="15000"/>
            </a:schemeClr>
          </a:lnRef>
          <a:fillRef idx="1">
            <a:schemeClr val="accent1"/>
          </a:fillRef>
          <a:effectRef idx="0">
            <a:schemeClr val="accent1"/>
          </a:effectRef>
          <a:fontRef idx="minor">
            <a:schemeClr val="lt1"/>
          </a:fontRef>
        </p:style>
        <p:txBody>
          <a:bodyPr lIns="152400" tIns="114300" rIns="152400" bIns="114300" rtlCol="0" anchor="ctr"/>
          <a:lstStyle/>
          <a:p>
            <a:pPr algn="ctr"/>
            <a:r>
              <a:rPr lang="en-US" sz="2200">
                <a:solidFill>
                  <a:srgbClr val="142735"/>
                </a:solidFill>
                <a:latin typeface="Aptos" panose="020B0004020202020204" pitchFamily="34" charset="0"/>
              </a:rPr>
              <a:t>Repeat child
expression</a:t>
            </a:r>
          </a:p>
        </p:txBody>
      </p:sp>
      <p:cxnSp>
        <p:nvCxnSpPr>
          <p:cNvPr id="10" name="Straight Connector 9">
            <a:extLst>
              <a:ext uri="{FF2B5EF4-FFF2-40B4-BE49-F238E27FC236}">
                <a16:creationId xmlns:a16="http://schemas.microsoft.com/office/drawing/2014/main" id="{73CBD724-D7F5-B233-B4B8-3DF70FFB094E}"/>
              </a:ext>
            </a:extLst>
          </p:cNvPr>
          <p:cNvCxnSpPr/>
          <p:nvPr/>
        </p:nvCxnSpPr>
        <p:spPr>
          <a:xfrm flipH="1">
            <a:off x="1752600" y="3111500"/>
            <a:ext cx="533400" cy="825500"/>
          </a:xfrm>
          <a:prstGeom prst="line">
            <a:avLst/>
          </a:prstGeom>
          <a:ln w="25400">
            <a:solidFill>
              <a:srgbClr val="087F6B"/>
            </a:solidFill>
            <a:tailEnd type="arrow"/>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E995F851-5A15-B7FD-4101-8743E311F589}"/>
              </a:ext>
            </a:extLst>
          </p:cNvPr>
          <p:cNvCxnSpPr/>
          <p:nvPr/>
        </p:nvCxnSpPr>
        <p:spPr>
          <a:xfrm>
            <a:off x="3810000" y="3111500"/>
            <a:ext cx="609600" cy="825500"/>
          </a:xfrm>
          <a:prstGeom prst="line">
            <a:avLst/>
          </a:prstGeom>
          <a:ln w="25400">
            <a:solidFill>
              <a:srgbClr val="087F6B"/>
            </a:solidFill>
            <a:tailEnd type="arrow"/>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721EA112-4386-BDB2-7FF4-375DB478F1BF}"/>
              </a:ext>
            </a:extLst>
          </p:cNvPr>
          <p:cNvSpPr/>
          <p:nvPr/>
        </p:nvSpPr>
        <p:spPr>
          <a:xfrm>
            <a:off x="6921500" y="2286000"/>
            <a:ext cx="4318000" cy="698500"/>
          </a:xfrm>
          <a:prstGeom prst="rect">
            <a:avLst/>
          </a:prstGeom>
          <a:solidFill>
            <a:srgbClr val="EDF4F2"/>
          </a:solidFill>
          <a:ln w="12700">
            <a:solidFill>
              <a:srgbClr val="087F6B"/>
            </a:solidFill>
          </a:ln>
        </p:spPr>
        <p:style>
          <a:lnRef idx="2">
            <a:schemeClr val="accent1">
              <a:shade val="15000"/>
            </a:schemeClr>
          </a:lnRef>
          <a:fillRef idx="1">
            <a:schemeClr val="accent1"/>
          </a:fillRef>
          <a:effectRef idx="0">
            <a:schemeClr val="accent1"/>
          </a:effectRef>
          <a:fontRef idx="minor">
            <a:schemeClr val="lt1"/>
          </a:fontRef>
        </p:style>
        <p:txBody>
          <a:bodyPr lIns="152400" tIns="114300" rIns="152400" bIns="114300" rtlCol="0" anchor="ctr"/>
          <a:lstStyle/>
          <a:p>
            <a:pPr algn="ctr"/>
            <a:r>
              <a:rPr lang="en-US" sz="2200">
                <a:solidFill>
                  <a:srgbClr val="142735"/>
                </a:solidFill>
                <a:latin typeface="Aptos" panose="020B0004020202020204" pitchFamily="34" charset="0"/>
              </a:rPr>
              <a:t>Compute intermediate columns</a:t>
            </a:r>
          </a:p>
        </p:txBody>
      </p:sp>
      <p:sp>
        <p:nvSpPr>
          <p:cNvPr id="13" name="Rectangle 12">
            <a:extLst>
              <a:ext uri="{FF2B5EF4-FFF2-40B4-BE49-F238E27FC236}">
                <a16:creationId xmlns:a16="http://schemas.microsoft.com/office/drawing/2014/main" id="{90EB3154-28D1-9218-659A-FE3784AA0B01}"/>
              </a:ext>
            </a:extLst>
          </p:cNvPr>
          <p:cNvSpPr/>
          <p:nvPr/>
        </p:nvSpPr>
        <p:spPr>
          <a:xfrm>
            <a:off x="6921500" y="3365500"/>
            <a:ext cx="4318000" cy="698500"/>
          </a:xfrm>
          <a:prstGeom prst="rect">
            <a:avLst/>
          </a:prstGeom>
          <a:solidFill>
            <a:srgbClr val="EDF4F2"/>
          </a:solidFill>
          <a:ln w="12700">
            <a:solidFill>
              <a:srgbClr val="087F6B"/>
            </a:solidFill>
          </a:ln>
        </p:spPr>
        <p:style>
          <a:lnRef idx="2">
            <a:schemeClr val="accent1">
              <a:shade val="15000"/>
            </a:schemeClr>
          </a:lnRef>
          <a:fillRef idx="1">
            <a:schemeClr val="accent1"/>
          </a:fillRef>
          <a:effectRef idx="0">
            <a:schemeClr val="accent1"/>
          </a:effectRef>
          <a:fontRef idx="minor">
            <a:schemeClr val="lt1"/>
          </a:fontRef>
        </p:style>
        <p:txBody>
          <a:bodyPr lIns="152400" tIns="114300" rIns="152400" bIns="114300" rtlCol="0" anchor="ctr"/>
          <a:lstStyle/>
          <a:p>
            <a:pPr algn="ctr"/>
            <a:r>
              <a:rPr lang="en-US" sz="2200">
                <a:solidFill>
                  <a:srgbClr val="142735"/>
                </a:solidFill>
                <a:latin typeface="Aptos" panose="020B0004020202020204" pitchFamily="34" charset="0"/>
              </a:rPr>
              <a:t>Check named values</a:t>
            </a:r>
          </a:p>
        </p:txBody>
      </p:sp>
      <p:sp>
        <p:nvSpPr>
          <p:cNvPr id="14" name="Rectangle 13">
            <a:extLst>
              <a:ext uri="{FF2B5EF4-FFF2-40B4-BE49-F238E27FC236}">
                <a16:creationId xmlns:a16="http://schemas.microsoft.com/office/drawing/2014/main" id="{1291B9F2-9B54-DF8B-6D23-3C9ED9B22A87}"/>
              </a:ext>
            </a:extLst>
          </p:cNvPr>
          <p:cNvSpPr/>
          <p:nvPr/>
        </p:nvSpPr>
        <p:spPr>
          <a:xfrm>
            <a:off x="6921500" y="4445000"/>
            <a:ext cx="4318000" cy="698500"/>
          </a:xfrm>
          <a:prstGeom prst="rect">
            <a:avLst/>
          </a:prstGeom>
          <a:solidFill>
            <a:srgbClr val="EDF4F2"/>
          </a:solidFill>
          <a:ln w="12700">
            <a:solidFill>
              <a:srgbClr val="087F6B"/>
            </a:solidFill>
          </a:ln>
        </p:spPr>
        <p:style>
          <a:lnRef idx="2">
            <a:schemeClr val="accent1">
              <a:shade val="15000"/>
            </a:schemeClr>
          </a:lnRef>
          <a:fillRef idx="1">
            <a:schemeClr val="accent1"/>
          </a:fillRef>
          <a:effectRef idx="0">
            <a:schemeClr val="accent1"/>
          </a:effectRef>
          <a:fontRef idx="minor">
            <a:schemeClr val="lt1"/>
          </a:fontRef>
        </p:style>
        <p:txBody>
          <a:bodyPr lIns="152400" tIns="114300" rIns="152400" bIns="114300" rtlCol="0" anchor="ctr"/>
          <a:lstStyle/>
          <a:p>
            <a:pPr algn="ctr"/>
            <a:r>
              <a:rPr lang="en-US" sz="2200">
                <a:solidFill>
                  <a:srgbClr val="142735"/>
                </a:solidFill>
                <a:latin typeface="Aptos" panose="020B0004020202020204" pitchFamily="34" charset="0"/>
              </a:rPr>
              <a:t>Aggregate and reference aliases</a:t>
            </a:r>
          </a:p>
        </p:txBody>
      </p:sp>
      <p:cxnSp>
        <p:nvCxnSpPr>
          <p:cNvPr id="15" name="Straight Connector 14">
            <a:extLst>
              <a:ext uri="{FF2B5EF4-FFF2-40B4-BE49-F238E27FC236}">
                <a16:creationId xmlns:a16="http://schemas.microsoft.com/office/drawing/2014/main" id="{B3A6FCD4-9C47-E21F-150F-0BA028756A1A}"/>
              </a:ext>
            </a:extLst>
          </p:cNvPr>
          <p:cNvCxnSpPr/>
          <p:nvPr/>
        </p:nvCxnSpPr>
        <p:spPr>
          <a:xfrm>
            <a:off x="9080500" y="2984500"/>
            <a:ext cx="0" cy="381000"/>
          </a:xfrm>
          <a:prstGeom prst="line">
            <a:avLst/>
          </a:prstGeom>
          <a:ln w="25400">
            <a:solidFill>
              <a:srgbClr val="087F6B"/>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23E653D6-4631-02E7-3B0A-1D04DD75452C}"/>
              </a:ext>
            </a:extLst>
          </p:cNvPr>
          <p:cNvCxnSpPr/>
          <p:nvPr/>
        </p:nvCxnSpPr>
        <p:spPr>
          <a:xfrm>
            <a:off x="9080500" y="4064000"/>
            <a:ext cx="0" cy="381000"/>
          </a:xfrm>
          <a:prstGeom prst="line">
            <a:avLst/>
          </a:prstGeom>
          <a:ln w="25400">
            <a:solidFill>
              <a:srgbClr val="087F6B"/>
            </a:solidFill>
            <a:tailEnd type="arrow"/>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7E6E2E9F-6079-896C-0F68-36EF05ECB894}"/>
              </a:ext>
            </a:extLst>
          </p:cNvPr>
          <p:cNvSpPr txBox="1"/>
          <p:nvPr/>
        </p:nvSpPr>
        <p:spPr>
          <a:xfrm>
            <a:off x="609600" y="5651500"/>
            <a:ext cx="10972800" cy="353943"/>
          </a:xfrm>
          <a:prstGeom prst="rect">
            <a:avLst/>
          </a:prstGeom>
          <a:noFill/>
        </p:spPr>
        <p:txBody>
          <a:bodyPr vert="horz" wrap="square" lIns="0" tIns="0" rIns="0" bIns="0" rtlCol="0">
            <a:spAutoFit/>
          </a:bodyPr>
          <a:lstStyle/>
          <a:p>
            <a:r>
              <a:rPr lang="en-US" sz="2300" b="1">
                <a:solidFill>
                  <a:srgbClr val="087F6B"/>
                </a:solidFill>
                <a:latin typeface="Aptos" panose="020B0004020202020204" pitchFamily="34" charset="0"/>
              </a:rPr>
              <a:t>Fewer repeated expressions must also preserve semantics and cost.</a:t>
            </a:r>
          </a:p>
        </p:txBody>
      </p:sp>
    </p:spTree>
    <p:extLst>
      <p:ext uri="{BB962C8B-B14F-4D97-AF65-F5344CB8AC3E}">
        <p14:creationId xmlns:p14="http://schemas.microsoft.com/office/powerpoint/2010/main" val="36771162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160EE5F-39F3-EB20-3DB9-4CC5F1562145}"/>
              </a:ext>
            </a:extLst>
          </p:cNvPr>
          <p:cNvSpPr txBox="1"/>
          <p:nvPr/>
        </p:nvSpPr>
        <p:spPr>
          <a:xfrm>
            <a:off x="609600" y="444500"/>
            <a:ext cx="10972800" cy="523220"/>
          </a:xfrm>
          <a:prstGeom prst="rect">
            <a:avLst/>
          </a:prstGeom>
          <a:noFill/>
        </p:spPr>
        <p:txBody>
          <a:bodyPr vert="horz" wrap="square" lIns="0" tIns="0" rIns="0" bIns="0" rtlCol="0">
            <a:spAutoFit/>
          </a:bodyPr>
          <a:lstStyle/>
          <a:p>
            <a:r>
              <a:rPr lang="en-US" sz="3400" b="1">
                <a:solidFill>
                  <a:srgbClr val="142735"/>
                </a:solidFill>
                <a:latin typeface="Aptos" panose="020B0004020202020204" pitchFamily="34" charset="0"/>
              </a:rPr>
              <a:t>Verification needs a semantic oracle</a:t>
            </a:r>
          </a:p>
        </p:txBody>
      </p:sp>
      <p:sp>
        <p:nvSpPr>
          <p:cNvPr id="3" name="TextBox 2">
            <a:extLst>
              <a:ext uri="{FF2B5EF4-FFF2-40B4-BE49-F238E27FC236}">
                <a16:creationId xmlns:a16="http://schemas.microsoft.com/office/drawing/2014/main" id="{91E78666-6B49-5F73-AF70-BAF0D6F7B92C}"/>
              </a:ext>
            </a:extLst>
          </p:cNvPr>
          <p:cNvSpPr txBox="1"/>
          <p:nvPr/>
        </p:nvSpPr>
        <p:spPr>
          <a:xfrm>
            <a:off x="609600" y="6464300"/>
            <a:ext cx="10414000" cy="169277"/>
          </a:xfrm>
          <a:prstGeom prst="rect">
            <a:avLst/>
          </a:prstGeom>
          <a:noFill/>
        </p:spPr>
        <p:txBody>
          <a:bodyPr vert="horz" wrap="square" lIns="0" tIns="0" rIns="0" bIns="0" rtlCol="0">
            <a:spAutoFit/>
          </a:bodyPr>
          <a:lstStyle/>
          <a:p>
            <a:r>
              <a:rPr lang="en-US" sz="1100">
                <a:solidFill>
                  <a:srgbClr val="526471"/>
                </a:solidFill>
                <a:latin typeface="Aptos" panose="020B0004020202020204" pitchFamily="34" charset="0"/>
              </a:rPr>
              <a:t>Po-wei Huang / Golden query prototype / October 2026</a:t>
            </a:r>
          </a:p>
        </p:txBody>
      </p:sp>
      <p:sp>
        <p:nvSpPr>
          <p:cNvPr id="4" name="TextBox 3">
            <a:extLst>
              <a:ext uri="{FF2B5EF4-FFF2-40B4-BE49-F238E27FC236}">
                <a16:creationId xmlns:a16="http://schemas.microsoft.com/office/drawing/2014/main" id="{6831D3AE-E787-9B64-A019-8D2E67188607}"/>
              </a:ext>
            </a:extLst>
          </p:cNvPr>
          <p:cNvSpPr txBox="1"/>
          <p:nvPr/>
        </p:nvSpPr>
        <p:spPr>
          <a:xfrm>
            <a:off x="11430000" y="6464300"/>
            <a:ext cx="381000" cy="169277"/>
          </a:xfrm>
          <a:prstGeom prst="rect">
            <a:avLst/>
          </a:prstGeom>
          <a:noFill/>
        </p:spPr>
        <p:txBody>
          <a:bodyPr vert="horz" wrap="square" lIns="0" tIns="0" rIns="0" bIns="0" rtlCol="0">
            <a:spAutoFit/>
          </a:bodyPr>
          <a:lstStyle/>
          <a:p>
            <a:r>
              <a:rPr lang="en-US" sz="1100">
                <a:solidFill>
                  <a:srgbClr val="526471"/>
                </a:solidFill>
                <a:latin typeface="Aptos" panose="020B0004020202020204" pitchFamily="34" charset="0"/>
              </a:rPr>
              <a:t>6</a:t>
            </a:r>
          </a:p>
        </p:txBody>
      </p:sp>
      <p:sp>
        <p:nvSpPr>
          <p:cNvPr id="5" name="Rectangle 4">
            <a:extLst>
              <a:ext uri="{FF2B5EF4-FFF2-40B4-BE49-F238E27FC236}">
                <a16:creationId xmlns:a16="http://schemas.microsoft.com/office/drawing/2014/main" id="{F5E871B1-3937-EE71-5F99-FDD3957E54E2}"/>
              </a:ext>
            </a:extLst>
          </p:cNvPr>
          <p:cNvSpPr/>
          <p:nvPr/>
        </p:nvSpPr>
        <p:spPr>
          <a:xfrm>
            <a:off x="609600" y="1841500"/>
            <a:ext cx="3302000" cy="825500"/>
          </a:xfrm>
          <a:prstGeom prst="rect">
            <a:avLst/>
          </a:prstGeom>
          <a:solidFill>
            <a:srgbClr val="EDF4F2"/>
          </a:solidFill>
          <a:ln w="12700">
            <a:solidFill>
              <a:srgbClr val="087F6B"/>
            </a:solidFill>
          </a:ln>
        </p:spPr>
        <p:style>
          <a:lnRef idx="2">
            <a:schemeClr val="accent1">
              <a:shade val="15000"/>
            </a:schemeClr>
          </a:lnRef>
          <a:fillRef idx="1">
            <a:schemeClr val="accent1"/>
          </a:fillRef>
          <a:effectRef idx="0">
            <a:schemeClr val="accent1"/>
          </a:effectRef>
          <a:fontRef idx="minor">
            <a:schemeClr val="lt1"/>
          </a:fontRef>
        </p:style>
        <p:txBody>
          <a:bodyPr lIns="152400" tIns="114300" rIns="152400" bIns="114300" rtlCol="0" anchor="ctr"/>
          <a:lstStyle/>
          <a:p>
            <a:pPr algn="ctr"/>
            <a:r>
              <a:rPr lang="en-US" sz="2200">
                <a:solidFill>
                  <a:srgbClr val="142735"/>
                </a:solidFill>
                <a:latin typeface="Aptos" panose="020B0004020202020204" pitchFamily="34" charset="0"/>
              </a:rPr>
              <a:t>LLM or compiler SQL</a:t>
            </a:r>
          </a:p>
        </p:txBody>
      </p:sp>
      <p:sp>
        <p:nvSpPr>
          <p:cNvPr id="6" name="Rectangle 5">
            <a:extLst>
              <a:ext uri="{FF2B5EF4-FFF2-40B4-BE49-F238E27FC236}">
                <a16:creationId xmlns:a16="http://schemas.microsoft.com/office/drawing/2014/main" id="{8CDEC932-1520-3C40-30D4-1D6455D09470}"/>
              </a:ext>
            </a:extLst>
          </p:cNvPr>
          <p:cNvSpPr/>
          <p:nvPr/>
        </p:nvSpPr>
        <p:spPr>
          <a:xfrm>
            <a:off x="4445000" y="1841500"/>
            <a:ext cx="3302000" cy="825500"/>
          </a:xfrm>
          <a:prstGeom prst="rect">
            <a:avLst/>
          </a:prstGeom>
          <a:solidFill>
            <a:srgbClr val="EDF4F2"/>
          </a:solidFill>
          <a:ln w="12700">
            <a:solidFill>
              <a:srgbClr val="087F6B"/>
            </a:solidFill>
          </a:ln>
        </p:spPr>
        <p:style>
          <a:lnRef idx="2">
            <a:schemeClr val="accent1">
              <a:shade val="15000"/>
            </a:schemeClr>
          </a:lnRef>
          <a:fillRef idx="1">
            <a:schemeClr val="accent1"/>
          </a:fillRef>
          <a:effectRef idx="0">
            <a:schemeClr val="accent1"/>
          </a:effectRef>
          <a:fontRef idx="minor">
            <a:schemeClr val="lt1"/>
          </a:fontRef>
        </p:style>
        <p:txBody>
          <a:bodyPr lIns="152400" tIns="114300" rIns="152400" bIns="114300" rtlCol="0" anchor="ctr"/>
          <a:lstStyle/>
          <a:p>
            <a:pPr algn="ctr"/>
            <a:r>
              <a:rPr lang="en-US" sz="2200">
                <a:solidFill>
                  <a:srgbClr val="142735"/>
                </a:solidFill>
                <a:latin typeface="Aptos" panose="020B0004020202020204" pitchFamily="34" charset="0"/>
              </a:rPr>
              <a:t>Independent fixtures</a:t>
            </a:r>
          </a:p>
        </p:txBody>
      </p:sp>
      <p:sp>
        <p:nvSpPr>
          <p:cNvPr id="7" name="Rectangle 6">
            <a:extLst>
              <a:ext uri="{FF2B5EF4-FFF2-40B4-BE49-F238E27FC236}">
                <a16:creationId xmlns:a16="http://schemas.microsoft.com/office/drawing/2014/main" id="{6C3EFF4F-E003-28EC-5562-4781E72BE870}"/>
              </a:ext>
            </a:extLst>
          </p:cNvPr>
          <p:cNvSpPr/>
          <p:nvPr/>
        </p:nvSpPr>
        <p:spPr>
          <a:xfrm>
            <a:off x="8280400" y="1841500"/>
            <a:ext cx="3302000" cy="825500"/>
          </a:xfrm>
          <a:prstGeom prst="rect">
            <a:avLst/>
          </a:prstGeom>
          <a:solidFill>
            <a:srgbClr val="087F6B"/>
          </a:solidFill>
          <a:ln w="12700">
            <a:solidFill>
              <a:srgbClr val="087F6B"/>
            </a:solidFill>
          </a:ln>
        </p:spPr>
        <p:style>
          <a:lnRef idx="2">
            <a:schemeClr val="accent1">
              <a:shade val="15000"/>
            </a:schemeClr>
          </a:lnRef>
          <a:fillRef idx="1">
            <a:schemeClr val="accent1"/>
          </a:fillRef>
          <a:effectRef idx="0">
            <a:schemeClr val="accent1"/>
          </a:effectRef>
          <a:fontRef idx="minor">
            <a:schemeClr val="lt1"/>
          </a:fontRef>
        </p:style>
        <p:txBody>
          <a:bodyPr lIns="152400" tIns="114300" rIns="152400" bIns="114300" rtlCol="0" anchor="ctr"/>
          <a:lstStyle/>
          <a:p>
            <a:pPr algn="ctr"/>
            <a:r>
              <a:rPr lang="en-US" sz="2200">
                <a:solidFill>
                  <a:srgbClr val="FFFFFF"/>
                </a:solidFill>
                <a:latin typeface="Aptos" panose="020B0004020202020204" pitchFamily="34" charset="0"/>
              </a:rPr>
              <a:t>Compare results</a:t>
            </a:r>
          </a:p>
        </p:txBody>
      </p:sp>
      <p:cxnSp>
        <p:nvCxnSpPr>
          <p:cNvPr id="8" name="Straight Connector 7">
            <a:extLst>
              <a:ext uri="{FF2B5EF4-FFF2-40B4-BE49-F238E27FC236}">
                <a16:creationId xmlns:a16="http://schemas.microsoft.com/office/drawing/2014/main" id="{9F82C71B-3C03-5E5E-F36C-253BC6C4B3A0}"/>
              </a:ext>
            </a:extLst>
          </p:cNvPr>
          <p:cNvCxnSpPr/>
          <p:nvPr/>
        </p:nvCxnSpPr>
        <p:spPr>
          <a:xfrm>
            <a:off x="3911600" y="2247900"/>
            <a:ext cx="533400" cy="0"/>
          </a:xfrm>
          <a:prstGeom prst="line">
            <a:avLst/>
          </a:prstGeom>
          <a:ln w="25400">
            <a:solidFill>
              <a:srgbClr val="087F6B"/>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FEE07AB2-08C6-2B5A-B18F-5B03FAE5CA8B}"/>
              </a:ext>
            </a:extLst>
          </p:cNvPr>
          <p:cNvCxnSpPr/>
          <p:nvPr/>
        </p:nvCxnSpPr>
        <p:spPr>
          <a:xfrm>
            <a:off x="7747000" y="2247900"/>
            <a:ext cx="533400" cy="0"/>
          </a:xfrm>
          <a:prstGeom prst="line">
            <a:avLst/>
          </a:prstGeom>
          <a:ln w="25400">
            <a:solidFill>
              <a:srgbClr val="087F6B"/>
            </a:solidFill>
            <a:tailEnd type="arrow"/>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EEF91106-C6CB-2821-2759-D991F0806FEF}"/>
              </a:ext>
            </a:extLst>
          </p:cNvPr>
          <p:cNvSpPr txBox="1"/>
          <p:nvPr/>
        </p:nvSpPr>
        <p:spPr>
          <a:xfrm>
            <a:off x="609600" y="3302000"/>
            <a:ext cx="10972800" cy="400110"/>
          </a:xfrm>
          <a:prstGeom prst="rect">
            <a:avLst/>
          </a:prstGeom>
          <a:noFill/>
        </p:spPr>
        <p:txBody>
          <a:bodyPr vert="horz" wrap="square" lIns="0" tIns="0" rIns="0" bIns="0" rtlCol="0">
            <a:spAutoFit/>
          </a:bodyPr>
          <a:lstStyle/>
          <a:p>
            <a:r>
              <a:rPr lang="en-US" sz="2600" b="1">
                <a:solidFill>
                  <a:srgbClr val="142735"/>
                </a:solidFill>
                <a:latin typeface="Aptos" panose="020B0004020202020204" pitchFamily="34" charset="0"/>
              </a:rPr>
              <a:t>One order: $10 freight and three $100 detail lines</a:t>
            </a:r>
          </a:p>
        </p:txBody>
      </p:sp>
      <p:sp>
        <p:nvSpPr>
          <p:cNvPr id="11" name="Rectangle 10">
            <a:extLst>
              <a:ext uri="{FF2B5EF4-FFF2-40B4-BE49-F238E27FC236}">
                <a16:creationId xmlns:a16="http://schemas.microsoft.com/office/drawing/2014/main" id="{1DCE3577-0EFF-40F7-7A3C-E61905ED98A8}"/>
              </a:ext>
            </a:extLst>
          </p:cNvPr>
          <p:cNvSpPr/>
          <p:nvPr/>
        </p:nvSpPr>
        <p:spPr>
          <a:xfrm>
            <a:off x="825500" y="4191000"/>
            <a:ext cx="4699000" cy="889000"/>
          </a:xfrm>
          <a:prstGeom prst="rect">
            <a:avLst/>
          </a:prstGeom>
          <a:solidFill>
            <a:srgbClr val="EDF4F2"/>
          </a:solidFill>
          <a:ln w="12700">
            <a:solidFill>
              <a:srgbClr val="087F6B"/>
            </a:solidFill>
          </a:ln>
        </p:spPr>
        <p:style>
          <a:lnRef idx="2">
            <a:schemeClr val="accent1">
              <a:shade val="15000"/>
            </a:schemeClr>
          </a:lnRef>
          <a:fillRef idx="1">
            <a:schemeClr val="accent1"/>
          </a:fillRef>
          <a:effectRef idx="0">
            <a:schemeClr val="accent1"/>
          </a:effectRef>
          <a:fontRef idx="minor">
            <a:schemeClr val="lt1"/>
          </a:fontRef>
        </p:style>
        <p:txBody>
          <a:bodyPr lIns="152400" tIns="114300" rIns="152400" bIns="114300" rtlCol="0" anchor="ctr"/>
          <a:lstStyle/>
          <a:p>
            <a:pPr algn="ctr"/>
            <a:r>
              <a:rPr lang="en-US" sz="2200">
                <a:solidFill>
                  <a:srgbClr val="142735"/>
                </a:solidFill>
                <a:latin typeface="Aptos" panose="020B0004020202020204" pitchFamily="34" charset="0"/>
              </a:rPr>
              <a:t>Correct: 10 / 300 = 3.33%</a:t>
            </a:r>
          </a:p>
        </p:txBody>
      </p:sp>
      <p:sp>
        <p:nvSpPr>
          <p:cNvPr id="12" name="Rectangle 11">
            <a:extLst>
              <a:ext uri="{FF2B5EF4-FFF2-40B4-BE49-F238E27FC236}">
                <a16:creationId xmlns:a16="http://schemas.microsoft.com/office/drawing/2014/main" id="{0D521D75-E8B2-A81E-CC74-D9926068A697}"/>
              </a:ext>
            </a:extLst>
          </p:cNvPr>
          <p:cNvSpPr/>
          <p:nvPr/>
        </p:nvSpPr>
        <p:spPr>
          <a:xfrm>
            <a:off x="6667500" y="4191000"/>
            <a:ext cx="4699000" cy="889000"/>
          </a:xfrm>
          <a:prstGeom prst="rect">
            <a:avLst/>
          </a:prstGeom>
          <a:solidFill>
            <a:srgbClr val="EDF4F2"/>
          </a:solidFill>
          <a:ln w="12700">
            <a:solidFill>
              <a:srgbClr val="087F6B"/>
            </a:solidFill>
          </a:ln>
        </p:spPr>
        <p:style>
          <a:lnRef idx="2">
            <a:schemeClr val="accent1">
              <a:shade val="15000"/>
            </a:schemeClr>
          </a:lnRef>
          <a:fillRef idx="1">
            <a:schemeClr val="accent1"/>
          </a:fillRef>
          <a:effectRef idx="0">
            <a:schemeClr val="accent1"/>
          </a:effectRef>
          <a:fontRef idx="minor">
            <a:schemeClr val="lt1"/>
          </a:fontRef>
        </p:style>
        <p:txBody>
          <a:bodyPr lIns="152400" tIns="114300" rIns="152400" bIns="114300" rtlCol="0" anchor="ctr"/>
          <a:lstStyle/>
          <a:p>
            <a:pPr algn="ctr"/>
            <a:r>
              <a:rPr lang="es-ES" sz="2200">
                <a:solidFill>
                  <a:srgbClr val="142735"/>
                </a:solidFill>
                <a:latin typeface="Aptos" panose="020B0004020202020204" pitchFamily="34" charset="0"/>
              </a:rPr>
              <a:t>Fanout error: 30 / 300 = 10.00%</a:t>
            </a:r>
            <a:endParaRPr lang="en-US" sz="2200">
              <a:solidFill>
                <a:srgbClr val="142735"/>
              </a:solidFill>
              <a:latin typeface="Aptos" panose="020B0004020202020204" pitchFamily="34" charset="0"/>
            </a:endParaRPr>
          </a:p>
        </p:txBody>
      </p:sp>
      <p:sp>
        <p:nvSpPr>
          <p:cNvPr id="13" name="TextBox 12">
            <a:extLst>
              <a:ext uri="{FF2B5EF4-FFF2-40B4-BE49-F238E27FC236}">
                <a16:creationId xmlns:a16="http://schemas.microsoft.com/office/drawing/2014/main" id="{BA83A024-4AE0-5B5D-3D95-35B268F46B66}"/>
              </a:ext>
            </a:extLst>
          </p:cNvPr>
          <p:cNvSpPr txBox="1"/>
          <p:nvPr/>
        </p:nvSpPr>
        <p:spPr>
          <a:xfrm>
            <a:off x="609600" y="5651500"/>
            <a:ext cx="10972800" cy="353943"/>
          </a:xfrm>
          <a:prstGeom prst="rect">
            <a:avLst/>
          </a:prstGeom>
          <a:noFill/>
        </p:spPr>
        <p:txBody>
          <a:bodyPr vert="horz" wrap="square" lIns="0" tIns="0" rIns="0" bIns="0" rtlCol="0">
            <a:spAutoFit/>
          </a:bodyPr>
          <a:lstStyle/>
          <a:p>
            <a:r>
              <a:rPr lang="en-US" sz="2300" b="1">
                <a:solidFill>
                  <a:srgbClr val="087F6B"/>
                </a:solidFill>
                <a:latin typeface="Aptos" panose="020B0004020202020204" pitchFamily="34" charset="0"/>
              </a:rPr>
              <a:t>Executable SQL can still answer the wrong question.</a:t>
            </a:r>
          </a:p>
        </p:txBody>
      </p:sp>
    </p:spTree>
    <p:extLst>
      <p:ext uri="{BB962C8B-B14F-4D97-AF65-F5344CB8AC3E}">
        <p14:creationId xmlns:p14="http://schemas.microsoft.com/office/powerpoint/2010/main" val="7752370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39E7AF6-CB01-0161-6E76-0319E80363C9}"/>
              </a:ext>
            </a:extLst>
          </p:cNvPr>
          <p:cNvSpPr txBox="1"/>
          <p:nvPr/>
        </p:nvSpPr>
        <p:spPr>
          <a:xfrm>
            <a:off x="609600" y="444500"/>
            <a:ext cx="10972800" cy="523220"/>
          </a:xfrm>
          <a:prstGeom prst="rect">
            <a:avLst/>
          </a:prstGeom>
          <a:noFill/>
        </p:spPr>
        <p:txBody>
          <a:bodyPr vert="horz" wrap="square" lIns="0" tIns="0" rIns="0" bIns="0" rtlCol="0">
            <a:spAutoFit/>
          </a:bodyPr>
          <a:lstStyle/>
          <a:p>
            <a:r>
              <a:rPr lang="en-US" sz="3400" b="1">
                <a:solidFill>
                  <a:srgbClr val="142735"/>
                </a:solidFill>
                <a:latin typeface="Aptos" panose="020B0004020202020204" pitchFamily="34" charset="0"/>
              </a:rPr>
              <a:t>Float and decimal are explicit choices</a:t>
            </a:r>
          </a:p>
        </p:txBody>
      </p:sp>
      <p:sp>
        <p:nvSpPr>
          <p:cNvPr id="3" name="TextBox 2">
            <a:extLst>
              <a:ext uri="{FF2B5EF4-FFF2-40B4-BE49-F238E27FC236}">
                <a16:creationId xmlns:a16="http://schemas.microsoft.com/office/drawing/2014/main" id="{6624D9DE-38A5-385D-B143-9F79C7C436BF}"/>
              </a:ext>
            </a:extLst>
          </p:cNvPr>
          <p:cNvSpPr txBox="1"/>
          <p:nvPr/>
        </p:nvSpPr>
        <p:spPr>
          <a:xfrm>
            <a:off x="609600" y="6464300"/>
            <a:ext cx="10414000" cy="169277"/>
          </a:xfrm>
          <a:prstGeom prst="rect">
            <a:avLst/>
          </a:prstGeom>
          <a:noFill/>
        </p:spPr>
        <p:txBody>
          <a:bodyPr vert="horz" wrap="square" lIns="0" tIns="0" rIns="0" bIns="0" rtlCol="0">
            <a:spAutoFit/>
          </a:bodyPr>
          <a:lstStyle/>
          <a:p>
            <a:r>
              <a:rPr lang="en-US" sz="1100">
                <a:solidFill>
                  <a:srgbClr val="526471"/>
                </a:solidFill>
                <a:latin typeface="Aptos" panose="020B0004020202020204" pitchFamily="34" charset="0"/>
              </a:rPr>
              <a:t>Po-wei Huang / Golden query prototype / October 2026</a:t>
            </a:r>
          </a:p>
        </p:txBody>
      </p:sp>
      <p:sp>
        <p:nvSpPr>
          <p:cNvPr id="4" name="TextBox 3">
            <a:extLst>
              <a:ext uri="{FF2B5EF4-FFF2-40B4-BE49-F238E27FC236}">
                <a16:creationId xmlns:a16="http://schemas.microsoft.com/office/drawing/2014/main" id="{451430DF-8198-26D3-B367-B8DC3841F84C}"/>
              </a:ext>
            </a:extLst>
          </p:cNvPr>
          <p:cNvSpPr txBox="1"/>
          <p:nvPr/>
        </p:nvSpPr>
        <p:spPr>
          <a:xfrm>
            <a:off x="11430000" y="6464300"/>
            <a:ext cx="381000" cy="169277"/>
          </a:xfrm>
          <a:prstGeom prst="rect">
            <a:avLst/>
          </a:prstGeom>
          <a:noFill/>
        </p:spPr>
        <p:txBody>
          <a:bodyPr vert="horz" wrap="square" lIns="0" tIns="0" rIns="0" bIns="0" rtlCol="0">
            <a:spAutoFit/>
          </a:bodyPr>
          <a:lstStyle/>
          <a:p>
            <a:r>
              <a:rPr lang="en-US" sz="1100">
                <a:solidFill>
                  <a:srgbClr val="526471"/>
                </a:solidFill>
                <a:latin typeface="Aptos" panose="020B0004020202020204" pitchFamily="34" charset="0"/>
              </a:rPr>
              <a:t>7</a:t>
            </a:r>
          </a:p>
        </p:txBody>
      </p:sp>
      <p:sp>
        <p:nvSpPr>
          <p:cNvPr id="5" name="Rectangle 4">
            <a:extLst>
              <a:ext uri="{FF2B5EF4-FFF2-40B4-BE49-F238E27FC236}">
                <a16:creationId xmlns:a16="http://schemas.microsoft.com/office/drawing/2014/main" id="{3EC73944-1E3B-666B-72CE-2CC47F5C1AB3}"/>
              </a:ext>
            </a:extLst>
          </p:cNvPr>
          <p:cNvSpPr/>
          <p:nvPr/>
        </p:nvSpPr>
        <p:spPr>
          <a:xfrm>
            <a:off x="609600" y="2667000"/>
            <a:ext cx="3048000" cy="1206500"/>
          </a:xfrm>
          <a:prstGeom prst="rect">
            <a:avLst/>
          </a:prstGeom>
          <a:solidFill>
            <a:srgbClr val="EDF4F2"/>
          </a:solidFill>
          <a:ln w="12700">
            <a:solidFill>
              <a:srgbClr val="087F6B"/>
            </a:solidFill>
          </a:ln>
        </p:spPr>
        <p:style>
          <a:lnRef idx="2">
            <a:schemeClr val="accent1">
              <a:shade val="15000"/>
            </a:schemeClr>
          </a:lnRef>
          <a:fillRef idx="1">
            <a:schemeClr val="accent1"/>
          </a:fillRef>
          <a:effectRef idx="0">
            <a:schemeClr val="accent1"/>
          </a:effectRef>
          <a:fontRef idx="minor">
            <a:schemeClr val="lt1"/>
          </a:fontRef>
        </p:style>
        <p:txBody>
          <a:bodyPr lIns="152400" tIns="114300" rIns="152400" bIns="114300" rtlCol="0" anchor="ctr"/>
          <a:lstStyle/>
          <a:p>
            <a:pPr algn="ctr"/>
            <a:r>
              <a:rPr lang="en-US" sz="2200">
                <a:solidFill>
                  <a:srgbClr val="142735"/>
                </a:solidFill>
                <a:latin typeface="Aptos" panose="020B0004020202020204" pitchFamily="34" charset="0"/>
              </a:rPr>
              <a:t>Order values
Exact P75: 2477.575</a:t>
            </a:r>
          </a:p>
        </p:txBody>
      </p:sp>
      <p:sp>
        <p:nvSpPr>
          <p:cNvPr id="6" name="Rectangle 5">
            <a:extLst>
              <a:ext uri="{FF2B5EF4-FFF2-40B4-BE49-F238E27FC236}">
                <a16:creationId xmlns:a16="http://schemas.microsoft.com/office/drawing/2014/main" id="{C67DD2EF-1EE3-BE5F-1811-9CD30547E6C7}"/>
              </a:ext>
            </a:extLst>
          </p:cNvPr>
          <p:cNvSpPr/>
          <p:nvPr/>
        </p:nvSpPr>
        <p:spPr>
          <a:xfrm>
            <a:off x="4953000" y="1841500"/>
            <a:ext cx="3048000" cy="1016000"/>
          </a:xfrm>
          <a:prstGeom prst="rect">
            <a:avLst/>
          </a:prstGeom>
          <a:solidFill>
            <a:srgbClr val="EDF4F2"/>
          </a:solidFill>
          <a:ln w="12700">
            <a:solidFill>
              <a:srgbClr val="087F6B"/>
            </a:solidFill>
          </a:ln>
        </p:spPr>
        <p:style>
          <a:lnRef idx="2">
            <a:schemeClr val="accent1">
              <a:shade val="15000"/>
            </a:schemeClr>
          </a:lnRef>
          <a:fillRef idx="1">
            <a:schemeClr val="accent1"/>
          </a:fillRef>
          <a:effectRef idx="0">
            <a:schemeClr val="accent1"/>
          </a:effectRef>
          <a:fontRef idx="minor">
            <a:schemeClr val="lt1"/>
          </a:fontRef>
        </p:style>
        <p:txBody>
          <a:bodyPr lIns="152400" tIns="114300" rIns="152400" bIns="114300" rtlCol="0" anchor="ctr"/>
          <a:lstStyle/>
          <a:p>
            <a:pPr algn="ctr"/>
            <a:r>
              <a:rPr lang="en-US" sz="2200">
                <a:solidFill>
                  <a:srgbClr val="142735"/>
                </a:solidFill>
                <a:latin typeface="Aptos" panose="020B0004020202020204" pitchFamily="34" charset="0"/>
              </a:rPr>
              <a:t>FLOAT64 path
Approximate arithmetic</a:t>
            </a:r>
          </a:p>
        </p:txBody>
      </p:sp>
      <p:sp>
        <p:nvSpPr>
          <p:cNvPr id="7" name="Rectangle 6">
            <a:extLst>
              <a:ext uri="{FF2B5EF4-FFF2-40B4-BE49-F238E27FC236}">
                <a16:creationId xmlns:a16="http://schemas.microsoft.com/office/drawing/2014/main" id="{2BDE26FF-413E-64AB-CA68-FBB1FD0560D2}"/>
              </a:ext>
            </a:extLst>
          </p:cNvPr>
          <p:cNvSpPr/>
          <p:nvPr/>
        </p:nvSpPr>
        <p:spPr>
          <a:xfrm>
            <a:off x="4953000" y="3873500"/>
            <a:ext cx="3048000" cy="1016000"/>
          </a:xfrm>
          <a:prstGeom prst="rect">
            <a:avLst/>
          </a:prstGeom>
          <a:solidFill>
            <a:srgbClr val="EDF4F2"/>
          </a:solidFill>
          <a:ln w="12700">
            <a:solidFill>
              <a:srgbClr val="087F6B"/>
            </a:solidFill>
          </a:ln>
        </p:spPr>
        <p:style>
          <a:lnRef idx="2">
            <a:schemeClr val="accent1">
              <a:shade val="15000"/>
            </a:schemeClr>
          </a:lnRef>
          <a:fillRef idx="1">
            <a:schemeClr val="accent1"/>
          </a:fillRef>
          <a:effectRef idx="0">
            <a:schemeClr val="accent1"/>
          </a:effectRef>
          <a:fontRef idx="minor">
            <a:schemeClr val="lt1"/>
          </a:fontRef>
        </p:style>
        <p:txBody>
          <a:bodyPr lIns="152400" tIns="114300" rIns="152400" bIns="114300" rtlCol="0" anchor="ctr"/>
          <a:lstStyle/>
          <a:p>
            <a:pPr algn="ctr"/>
            <a:r>
              <a:rPr lang="en-US" sz="2200">
                <a:solidFill>
                  <a:srgbClr val="142735"/>
                </a:solidFill>
                <a:latin typeface="Aptos" panose="020B0004020202020204" pitchFamily="34" charset="0"/>
              </a:rPr>
              <a:t>Decimal path
Typed fraction</a:t>
            </a:r>
          </a:p>
        </p:txBody>
      </p:sp>
      <p:sp>
        <p:nvSpPr>
          <p:cNvPr id="8" name="Rectangle 7">
            <a:extLst>
              <a:ext uri="{FF2B5EF4-FFF2-40B4-BE49-F238E27FC236}">
                <a16:creationId xmlns:a16="http://schemas.microsoft.com/office/drawing/2014/main" id="{5B61D268-371E-F0C6-E210-39E640FC07B7}"/>
              </a:ext>
            </a:extLst>
          </p:cNvPr>
          <p:cNvSpPr/>
          <p:nvPr/>
        </p:nvSpPr>
        <p:spPr>
          <a:xfrm>
            <a:off x="9271000" y="1841500"/>
            <a:ext cx="2286000" cy="1016000"/>
          </a:xfrm>
          <a:prstGeom prst="rect">
            <a:avLst/>
          </a:prstGeom>
          <a:solidFill>
            <a:srgbClr val="EDF4F2"/>
          </a:solidFill>
          <a:ln w="12700">
            <a:solidFill>
              <a:srgbClr val="087F6B"/>
            </a:solidFill>
          </a:ln>
        </p:spPr>
        <p:style>
          <a:lnRef idx="2">
            <a:schemeClr val="accent1">
              <a:shade val="15000"/>
            </a:schemeClr>
          </a:lnRef>
          <a:fillRef idx="1">
            <a:schemeClr val="accent1"/>
          </a:fillRef>
          <a:effectRef idx="0">
            <a:schemeClr val="accent1"/>
          </a:effectRef>
          <a:fontRef idx="minor">
            <a:schemeClr val="lt1"/>
          </a:fontRef>
        </p:style>
        <p:txBody>
          <a:bodyPr lIns="152400" tIns="114300" rIns="152400" bIns="114300" rtlCol="0" anchor="ctr"/>
          <a:lstStyle/>
          <a:p>
            <a:pPr algn="ctr"/>
            <a:r>
              <a:rPr lang="en-US" sz="2200">
                <a:solidFill>
                  <a:srgbClr val="142735"/>
                </a:solidFill>
                <a:latin typeface="Aptos" panose="020B0004020202020204" pitchFamily="34" charset="0"/>
              </a:rPr>
              <a:t>Display 2477.57</a:t>
            </a:r>
          </a:p>
        </p:txBody>
      </p:sp>
      <p:sp>
        <p:nvSpPr>
          <p:cNvPr id="9" name="Rectangle 8">
            <a:extLst>
              <a:ext uri="{FF2B5EF4-FFF2-40B4-BE49-F238E27FC236}">
                <a16:creationId xmlns:a16="http://schemas.microsoft.com/office/drawing/2014/main" id="{C6F70EA9-B65D-270F-519C-E275BB1184EE}"/>
              </a:ext>
            </a:extLst>
          </p:cNvPr>
          <p:cNvSpPr/>
          <p:nvPr/>
        </p:nvSpPr>
        <p:spPr>
          <a:xfrm>
            <a:off x="9271000" y="3873500"/>
            <a:ext cx="2286000" cy="1016000"/>
          </a:xfrm>
          <a:prstGeom prst="rect">
            <a:avLst/>
          </a:prstGeom>
          <a:solidFill>
            <a:srgbClr val="EDF4F2"/>
          </a:solidFill>
          <a:ln w="12700">
            <a:solidFill>
              <a:srgbClr val="087F6B"/>
            </a:solidFill>
          </a:ln>
        </p:spPr>
        <p:style>
          <a:lnRef idx="2">
            <a:schemeClr val="accent1">
              <a:shade val="15000"/>
            </a:schemeClr>
          </a:lnRef>
          <a:fillRef idx="1">
            <a:schemeClr val="accent1"/>
          </a:fillRef>
          <a:effectRef idx="0">
            <a:schemeClr val="accent1"/>
          </a:effectRef>
          <a:fontRef idx="minor">
            <a:schemeClr val="lt1"/>
          </a:fontRef>
        </p:style>
        <p:txBody>
          <a:bodyPr lIns="152400" tIns="114300" rIns="152400" bIns="114300" rtlCol="0" anchor="ctr"/>
          <a:lstStyle/>
          <a:p>
            <a:pPr algn="ctr"/>
            <a:r>
              <a:rPr lang="en-US" sz="2200">
                <a:solidFill>
                  <a:srgbClr val="142735"/>
                </a:solidFill>
                <a:latin typeface="Aptos" panose="020B0004020202020204" pitchFamily="34" charset="0"/>
              </a:rPr>
              <a:t>Display 2477.58</a:t>
            </a:r>
          </a:p>
        </p:txBody>
      </p:sp>
      <p:cxnSp>
        <p:nvCxnSpPr>
          <p:cNvPr id="10" name="Straight Connector 9">
            <a:extLst>
              <a:ext uri="{FF2B5EF4-FFF2-40B4-BE49-F238E27FC236}">
                <a16:creationId xmlns:a16="http://schemas.microsoft.com/office/drawing/2014/main" id="{B1C40F45-9663-F9C6-62DE-FC897219FED1}"/>
              </a:ext>
            </a:extLst>
          </p:cNvPr>
          <p:cNvCxnSpPr/>
          <p:nvPr/>
        </p:nvCxnSpPr>
        <p:spPr>
          <a:xfrm flipV="1">
            <a:off x="3657600" y="2349500"/>
            <a:ext cx="1295400" cy="698500"/>
          </a:xfrm>
          <a:prstGeom prst="line">
            <a:avLst/>
          </a:prstGeom>
          <a:ln w="25400">
            <a:solidFill>
              <a:srgbClr val="087F6B"/>
            </a:solidFill>
            <a:tailEnd type="arrow"/>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48718A4C-7435-F8A1-54C8-EDDB55C035E7}"/>
              </a:ext>
            </a:extLst>
          </p:cNvPr>
          <p:cNvCxnSpPr/>
          <p:nvPr/>
        </p:nvCxnSpPr>
        <p:spPr>
          <a:xfrm>
            <a:off x="3657600" y="3556000"/>
            <a:ext cx="1295400" cy="825500"/>
          </a:xfrm>
          <a:prstGeom prst="line">
            <a:avLst/>
          </a:prstGeom>
          <a:ln w="25400">
            <a:solidFill>
              <a:srgbClr val="087F6B"/>
            </a:solidFill>
            <a:tailEnd type="arrow"/>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407DD0FB-728A-215F-13BE-478AEFAD33CE}"/>
              </a:ext>
            </a:extLst>
          </p:cNvPr>
          <p:cNvCxnSpPr/>
          <p:nvPr/>
        </p:nvCxnSpPr>
        <p:spPr>
          <a:xfrm>
            <a:off x="8001000" y="2349500"/>
            <a:ext cx="1270000" cy="0"/>
          </a:xfrm>
          <a:prstGeom prst="line">
            <a:avLst/>
          </a:prstGeom>
          <a:ln w="25400">
            <a:solidFill>
              <a:srgbClr val="087F6B"/>
            </a:solidFill>
            <a:tailEnd type="arrow"/>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536C9939-9D97-B864-3CC8-094A9058CD7E}"/>
              </a:ext>
            </a:extLst>
          </p:cNvPr>
          <p:cNvCxnSpPr/>
          <p:nvPr/>
        </p:nvCxnSpPr>
        <p:spPr>
          <a:xfrm>
            <a:off x="8001000" y="4381500"/>
            <a:ext cx="1270000" cy="0"/>
          </a:xfrm>
          <a:prstGeom prst="line">
            <a:avLst/>
          </a:prstGeom>
          <a:ln w="25400">
            <a:solidFill>
              <a:srgbClr val="087F6B"/>
            </a:solidFill>
            <a:tailEnd type="arrow"/>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91F0A602-09BF-1D19-4D83-F3463A21C943}"/>
              </a:ext>
            </a:extLst>
          </p:cNvPr>
          <p:cNvSpPr txBox="1"/>
          <p:nvPr/>
        </p:nvSpPr>
        <p:spPr>
          <a:xfrm>
            <a:off x="609600" y="5651500"/>
            <a:ext cx="10972800" cy="353943"/>
          </a:xfrm>
          <a:prstGeom prst="rect">
            <a:avLst/>
          </a:prstGeom>
          <a:noFill/>
        </p:spPr>
        <p:txBody>
          <a:bodyPr vert="horz" wrap="square" lIns="0" tIns="0" rIns="0" bIns="0" rtlCol="0">
            <a:spAutoFit/>
          </a:bodyPr>
          <a:lstStyle/>
          <a:p>
            <a:r>
              <a:rPr lang="en-US" sz="2300" b="1">
                <a:solidFill>
                  <a:srgbClr val="087F6B"/>
                </a:solidFill>
                <a:latin typeface="Aptos" panose="020B0004020202020204" pitchFamily="34" charset="0"/>
              </a:rPr>
              <a:t>Choose a precision contract. A one-cent difference alone does not justify IR.</a:t>
            </a:r>
          </a:p>
        </p:txBody>
      </p:sp>
    </p:spTree>
    <p:extLst>
      <p:ext uri="{BB962C8B-B14F-4D97-AF65-F5344CB8AC3E}">
        <p14:creationId xmlns:p14="http://schemas.microsoft.com/office/powerpoint/2010/main" val="24327175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47AC65-72A7-679A-1B62-71A0222DD11A}"/>
              </a:ext>
            </a:extLst>
          </p:cNvPr>
          <p:cNvSpPr txBox="1"/>
          <p:nvPr/>
        </p:nvSpPr>
        <p:spPr>
          <a:xfrm>
            <a:off x="609600" y="444500"/>
            <a:ext cx="10972800" cy="523220"/>
          </a:xfrm>
          <a:prstGeom prst="rect">
            <a:avLst/>
          </a:prstGeom>
          <a:noFill/>
        </p:spPr>
        <p:txBody>
          <a:bodyPr vert="horz" wrap="square" lIns="0" tIns="0" rIns="0" bIns="0" rtlCol="0">
            <a:spAutoFit/>
          </a:bodyPr>
          <a:lstStyle/>
          <a:p>
            <a:r>
              <a:rPr lang="en-US" sz="3400" b="1">
                <a:solidFill>
                  <a:srgbClr val="142735"/>
                </a:solidFill>
                <a:latin typeface="Aptos" panose="020B0004020202020204" pitchFamily="34" charset="0"/>
              </a:rPr>
              <a:t>A practical validation roadmap</a:t>
            </a:r>
          </a:p>
        </p:txBody>
      </p:sp>
      <p:sp>
        <p:nvSpPr>
          <p:cNvPr id="3" name="TextBox 2">
            <a:extLst>
              <a:ext uri="{FF2B5EF4-FFF2-40B4-BE49-F238E27FC236}">
                <a16:creationId xmlns:a16="http://schemas.microsoft.com/office/drawing/2014/main" id="{53B29454-868C-9099-FBD4-B5712C900400}"/>
              </a:ext>
            </a:extLst>
          </p:cNvPr>
          <p:cNvSpPr txBox="1"/>
          <p:nvPr/>
        </p:nvSpPr>
        <p:spPr>
          <a:xfrm>
            <a:off x="609600" y="6464300"/>
            <a:ext cx="10414000" cy="169277"/>
          </a:xfrm>
          <a:prstGeom prst="rect">
            <a:avLst/>
          </a:prstGeom>
          <a:noFill/>
        </p:spPr>
        <p:txBody>
          <a:bodyPr vert="horz" wrap="square" lIns="0" tIns="0" rIns="0" bIns="0" rtlCol="0">
            <a:spAutoFit/>
          </a:bodyPr>
          <a:lstStyle/>
          <a:p>
            <a:r>
              <a:rPr lang="en-US" sz="1100">
                <a:solidFill>
                  <a:srgbClr val="526471"/>
                </a:solidFill>
                <a:latin typeface="Aptos" panose="020B0004020202020204" pitchFamily="34" charset="0"/>
              </a:rPr>
              <a:t>Po-wei Huang / Golden query prototype / October 2026</a:t>
            </a:r>
          </a:p>
        </p:txBody>
      </p:sp>
      <p:sp>
        <p:nvSpPr>
          <p:cNvPr id="4" name="TextBox 3">
            <a:extLst>
              <a:ext uri="{FF2B5EF4-FFF2-40B4-BE49-F238E27FC236}">
                <a16:creationId xmlns:a16="http://schemas.microsoft.com/office/drawing/2014/main" id="{84E38C38-22AC-6135-7558-555294B88F3D}"/>
              </a:ext>
            </a:extLst>
          </p:cNvPr>
          <p:cNvSpPr txBox="1"/>
          <p:nvPr/>
        </p:nvSpPr>
        <p:spPr>
          <a:xfrm>
            <a:off x="11430000" y="6464300"/>
            <a:ext cx="381000" cy="169277"/>
          </a:xfrm>
          <a:prstGeom prst="rect">
            <a:avLst/>
          </a:prstGeom>
          <a:noFill/>
        </p:spPr>
        <p:txBody>
          <a:bodyPr vert="horz" wrap="square" lIns="0" tIns="0" rIns="0" bIns="0" rtlCol="0">
            <a:spAutoFit/>
          </a:bodyPr>
          <a:lstStyle/>
          <a:p>
            <a:r>
              <a:rPr lang="en-US" sz="1100">
                <a:solidFill>
                  <a:srgbClr val="526471"/>
                </a:solidFill>
                <a:latin typeface="Aptos" panose="020B0004020202020204" pitchFamily="34" charset="0"/>
              </a:rPr>
              <a:t>8</a:t>
            </a:r>
          </a:p>
        </p:txBody>
      </p:sp>
      <p:sp>
        <p:nvSpPr>
          <p:cNvPr id="5" name="Rectangle 4">
            <a:extLst>
              <a:ext uri="{FF2B5EF4-FFF2-40B4-BE49-F238E27FC236}">
                <a16:creationId xmlns:a16="http://schemas.microsoft.com/office/drawing/2014/main" id="{77E38F95-B07B-4F7A-DE28-929E59831394}"/>
              </a:ext>
            </a:extLst>
          </p:cNvPr>
          <p:cNvSpPr/>
          <p:nvPr/>
        </p:nvSpPr>
        <p:spPr>
          <a:xfrm>
            <a:off x="609600" y="2603500"/>
            <a:ext cx="2413000" cy="1270000"/>
          </a:xfrm>
          <a:prstGeom prst="rect">
            <a:avLst/>
          </a:prstGeom>
          <a:solidFill>
            <a:srgbClr val="EDF4F2"/>
          </a:solidFill>
          <a:ln w="12700">
            <a:solidFill>
              <a:srgbClr val="087F6B"/>
            </a:solidFill>
          </a:ln>
        </p:spPr>
        <p:style>
          <a:lnRef idx="2">
            <a:schemeClr val="accent1">
              <a:shade val="15000"/>
            </a:schemeClr>
          </a:lnRef>
          <a:fillRef idx="1">
            <a:schemeClr val="accent1"/>
          </a:fillRef>
          <a:effectRef idx="0">
            <a:schemeClr val="accent1"/>
          </a:effectRef>
          <a:fontRef idx="minor">
            <a:schemeClr val="lt1"/>
          </a:fontRef>
        </p:style>
        <p:txBody>
          <a:bodyPr lIns="152400" tIns="114300" rIns="152400" bIns="114300" rtlCol="0" anchor="ctr"/>
          <a:lstStyle/>
          <a:p>
            <a:pPr algn="ctr"/>
            <a:r>
              <a:rPr lang="en-US" sz="2200">
                <a:solidFill>
                  <a:srgbClr val="142735"/>
                </a:solidFill>
                <a:latin typeface="Aptos" panose="020B0004020202020204" pitchFamily="34" charset="0"/>
              </a:rPr>
              <a:t>1. Define intent
Grain and filters</a:t>
            </a:r>
          </a:p>
        </p:txBody>
      </p:sp>
      <p:sp>
        <p:nvSpPr>
          <p:cNvPr id="6" name="Rectangle 5">
            <a:extLst>
              <a:ext uri="{FF2B5EF4-FFF2-40B4-BE49-F238E27FC236}">
                <a16:creationId xmlns:a16="http://schemas.microsoft.com/office/drawing/2014/main" id="{D3CEFE96-4CCE-9F4F-7665-F1561FF6BFAC}"/>
              </a:ext>
            </a:extLst>
          </p:cNvPr>
          <p:cNvSpPr/>
          <p:nvPr/>
        </p:nvSpPr>
        <p:spPr>
          <a:xfrm>
            <a:off x="3467100" y="2603500"/>
            <a:ext cx="2413000" cy="1270000"/>
          </a:xfrm>
          <a:prstGeom prst="rect">
            <a:avLst/>
          </a:prstGeom>
          <a:solidFill>
            <a:srgbClr val="EDF4F2"/>
          </a:solidFill>
          <a:ln w="12700">
            <a:solidFill>
              <a:srgbClr val="087F6B"/>
            </a:solidFill>
          </a:ln>
        </p:spPr>
        <p:style>
          <a:lnRef idx="2">
            <a:schemeClr val="accent1">
              <a:shade val="15000"/>
            </a:schemeClr>
          </a:lnRef>
          <a:fillRef idx="1">
            <a:schemeClr val="accent1"/>
          </a:fillRef>
          <a:effectRef idx="0">
            <a:schemeClr val="accent1"/>
          </a:effectRef>
          <a:fontRef idx="minor">
            <a:schemeClr val="lt1"/>
          </a:fontRef>
        </p:style>
        <p:txBody>
          <a:bodyPr lIns="152400" tIns="114300" rIns="152400" bIns="114300" rtlCol="0" anchor="ctr"/>
          <a:lstStyle/>
          <a:p>
            <a:pPr algn="ctr"/>
            <a:r>
              <a:rPr lang="en-US" sz="2200">
                <a:solidFill>
                  <a:srgbClr val="142735"/>
                </a:solidFill>
                <a:latin typeface="Aptos" panose="020B0004020202020204" pitchFamily="34" charset="0"/>
              </a:rPr>
              <a:t>2. Test semantics
Small counterexamples</a:t>
            </a:r>
          </a:p>
        </p:txBody>
      </p:sp>
      <p:sp>
        <p:nvSpPr>
          <p:cNvPr id="7" name="Rectangle 6">
            <a:extLst>
              <a:ext uri="{FF2B5EF4-FFF2-40B4-BE49-F238E27FC236}">
                <a16:creationId xmlns:a16="http://schemas.microsoft.com/office/drawing/2014/main" id="{B41BD1F5-1EF5-B2E6-060F-96871D20B3AF}"/>
              </a:ext>
            </a:extLst>
          </p:cNvPr>
          <p:cNvSpPr/>
          <p:nvPr/>
        </p:nvSpPr>
        <p:spPr>
          <a:xfrm>
            <a:off x="6324600" y="2603500"/>
            <a:ext cx="2413000" cy="1270000"/>
          </a:xfrm>
          <a:prstGeom prst="rect">
            <a:avLst/>
          </a:prstGeom>
          <a:solidFill>
            <a:srgbClr val="EDF4F2"/>
          </a:solidFill>
          <a:ln w="12700">
            <a:solidFill>
              <a:srgbClr val="087F6B"/>
            </a:solidFill>
          </a:ln>
        </p:spPr>
        <p:style>
          <a:lnRef idx="2">
            <a:schemeClr val="accent1">
              <a:shade val="15000"/>
            </a:schemeClr>
          </a:lnRef>
          <a:fillRef idx="1">
            <a:schemeClr val="accent1"/>
          </a:fillRef>
          <a:effectRef idx="0">
            <a:schemeClr val="accent1"/>
          </a:effectRef>
          <a:fontRef idx="minor">
            <a:schemeClr val="lt1"/>
          </a:fontRef>
        </p:style>
        <p:txBody>
          <a:bodyPr lIns="152400" tIns="114300" rIns="152400" bIns="114300" rtlCol="0" anchor="ctr"/>
          <a:lstStyle/>
          <a:p>
            <a:pPr algn="ctr"/>
            <a:r>
              <a:rPr lang="en-US" sz="2200">
                <a:solidFill>
                  <a:srgbClr val="142735"/>
                </a:solidFill>
                <a:latin typeface="Aptos" panose="020B0004020202020204" pitchFamily="34" charset="0"/>
              </a:rPr>
              <a:t>3. Expand coverage
Nine datasets</a:t>
            </a:r>
          </a:p>
        </p:txBody>
      </p:sp>
      <p:sp>
        <p:nvSpPr>
          <p:cNvPr id="8" name="Rectangle 7">
            <a:extLst>
              <a:ext uri="{FF2B5EF4-FFF2-40B4-BE49-F238E27FC236}">
                <a16:creationId xmlns:a16="http://schemas.microsoft.com/office/drawing/2014/main" id="{861FC2A8-CA80-392D-8798-2D89682671E8}"/>
              </a:ext>
            </a:extLst>
          </p:cNvPr>
          <p:cNvSpPr/>
          <p:nvPr/>
        </p:nvSpPr>
        <p:spPr>
          <a:xfrm>
            <a:off x="9182100" y="2603500"/>
            <a:ext cx="2413000" cy="1270000"/>
          </a:xfrm>
          <a:prstGeom prst="rect">
            <a:avLst/>
          </a:prstGeom>
          <a:solidFill>
            <a:srgbClr val="087F6B"/>
          </a:solidFill>
          <a:ln w="12700">
            <a:solidFill>
              <a:srgbClr val="087F6B"/>
            </a:solidFill>
          </a:ln>
        </p:spPr>
        <p:style>
          <a:lnRef idx="2">
            <a:schemeClr val="accent1">
              <a:shade val="15000"/>
            </a:schemeClr>
          </a:lnRef>
          <a:fillRef idx="1">
            <a:schemeClr val="accent1"/>
          </a:fillRef>
          <a:effectRef idx="0">
            <a:schemeClr val="accent1"/>
          </a:effectRef>
          <a:fontRef idx="minor">
            <a:schemeClr val="lt1"/>
          </a:fontRef>
        </p:style>
        <p:txBody>
          <a:bodyPr lIns="152400" tIns="114300" rIns="152400" bIns="114300" rtlCol="0" anchor="ctr"/>
          <a:lstStyle/>
          <a:p>
            <a:pPr algn="ctr"/>
            <a:r>
              <a:rPr lang="en-US" sz="2200">
                <a:solidFill>
                  <a:srgbClr val="FFFFFF"/>
                </a:solidFill>
                <a:latin typeface="Aptos" panose="020B0004020202020204" pitchFamily="34" charset="0"/>
              </a:rPr>
              <a:t>4. Measure value
Cost and change effort</a:t>
            </a:r>
          </a:p>
        </p:txBody>
      </p:sp>
      <p:cxnSp>
        <p:nvCxnSpPr>
          <p:cNvPr id="9" name="Straight Connector 8">
            <a:extLst>
              <a:ext uri="{FF2B5EF4-FFF2-40B4-BE49-F238E27FC236}">
                <a16:creationId xmlns:a16="http://schemas.microsoft.com/office/drawing/2014/main" id="{545B2B4A-8687-DAFE-A3D2-9E0E3C1F2199}"/>
              </a:ext>
            </a:extLst>
          </p:cNvPr>
          <p:cNvCxnSpPr/>
          <p:nvPr/>
        </p:nvCxnSpPr>
        <p:spPr>
          <a:xfrm>
            <a:off x="3022600" y="3238500"/>
            <a:ext cx="444500" cy="0"/>
          </a:xfrm>
          <a:prstGeom prst="line">
            <a:avLst/>
          </a:prstGeom>
          <a:ln w="25400">
            <a:solidFill>
              <a:srgbClr val="087F6B"/>
            </a:solidFill>
            <a:tailEnd type="arrow"/>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5C6D7D12-551C-769A-7D5E-74632974BCCC}"/>
              </a:ext>
            </a:extLst>
          </p:cNvPr>
          <p:cNvCxnSpPr/>
          <p:nvPr/>
        </p:nvCxnSpPr>
        <p:spPr>
          <a:xfrm>
            <a:off x="5880100" y="3238500"/>
            <a:ext cx="444500" cy="0"/>
          </a:xfrm>
          <a:prstGeom prst="line">
            <a:avLst/>
          </a:prstGeom>
          <a:ln w="25400">
            <a:solidFill>
              <a:srgbClr val="087F6B"/>
            </a:solidFill>
            <a:tailEnd type="arrow"/>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5903F40-A3DF-5E79-33AC-F0357216166F}"/>
              </a:ext>
            </a:extLst>
          </p:cNvPr>
          <p:cNvCxnSpPr/>
          <p:nvPr/>
        </p:nvCxnSpPr>
        <p:spPr>
          <a:xfrm>
            <a:off x="8737600" y="3238500"/>
            <a:ext cx="444500" cy="0"/>
          </a:xfrm>
          <a:prstGeom prst="line">
            <a:avLst/>
          </a:prstGeom>
          <a:ln w="25400">
            <a:solidFill>
              <a:srgbClr val="087F6B"/>
            </a:solidFill>
            <a:tailEnd type="arrow"/>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FA146E66-8053-21EA-F3D6-BB361CCDCBFF}"/>
              </a:ext>
            </a:extLst>
          </p:cNvPr>
          <p:cNvSpPr txBox="1"/>
          <p:nvPr/>
        </p:nvSpPr>
        <p:spPr>
          <a:xfrm>
            <a:off x="609600" y="4508500"/>
            <a:ext cx="10972800" cy="384721"/>
          </a:xfrm>
          <a:prstGeom prst="rect">
            <a:avLst/>
          </a:prstGeom>
          <a:noFill/>
        </p:spPr>
        <p:txBody>
          <a:bodyPr vert="horz" wrap="square" lIns="0" tIns="0" rIns="0" bIns="0" rtlCol="0">
            <a:spAutoFit/>
          </a:bodyPr>
          <a:lstStyle/>
          <a:p>
            <a:r>
              <a:rPr lang="en-US" sz="2500">
                <a:solidFill>
                  <a:srgbClr val="142735"/>
                </a:solidFill>
                <a:latin typeface="Aptos" panose="020B0004020202020204" pitchFamily="34" charset="0"/>
              </a:rPr>
              <a:t>Golden already has typed composition, backend lowering and regression tests.</a:t>
            </a:r>
          </a:p>
        </p:txBody>
      </p:sp>
      <p:sp>
        <p:nvSpPr>
          <p:cNvPr id="13" name="TextBox 12">
            <a:extLst>
              <a:ext uri="{FF2B5EF4-FFF2-40B4-BE49-F238E27FC236}">
                <a16:creationId xmlns:a16="http://schemas.microsoft.com/office/drawing/2014/main" id="{7809430A-588E-E7A8-3AE1-2CB43EC01695}"/>
              </a:ext>
            </a:extLst>
          </p:cNvPr>
          <p:cNvSpPr txBox="1"/>
          <p:nvPr/>
        </p:nvSpPr>
        <p:spPr>
          <a:xfrm>
            <a:off x="609600" y="5651500"/>
            <a:ext cx="10972800" cy="353943"/>
          </a:xfrm>
          <a:prstGeom prst="rect">
            <a:avLst/>
          </a:prstGeom>
          <a:noFill/>
        </p:spPr>
        <p:txBody>
          <a:bodyPr vert="horz" wrap="square" lIns="0" tIns="0" rIns="0" bIns="0" rtlCol="0">
            <a:spAutoFit/>
          </a:bodyPr>
          <a:lstStyle/>
          <a:p>
            <a:r>
              <a:rPr lang="en-US" sz="2300" b="1">
                <a:solidFill>
                  <a:srgbClr val="087F6B"/>
                </a:solidFill>
                <a:latin typeface="Aptos" panose="020B0004020202020204" pitchFamily="34" charset="0"/>
              </a:rPr>
              <a:t>The next proof is reliable dashboard evolution across real query changes.</a:t>
            </a:r>
          </a:p>
        </p:txBody>
      </p:sp>
    </p:spTree>
    <p:extLst>
      <p:ext uri="{BB962C8B-B14F-4D97-AF65-F5344CB8AC3E}">
        <p14:creationId xmlns:p14="http://schemas.microsoft.com/office/powerpoint/2010/main" val="28563277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31D4949-4368-A0E7-334D-A0EF5FF3B74F}"/>
              </a:ext>
            </a:extLst>
          </p:cNvPr>
          <p:cNvSpPr txBox="1"/>
          <p:nvPr/>
        </p:nvSpPr>
        <p:spPr>
          <a:xfrm>
            <a:off x="609600" y="444500"/>
            <a:ext cx="10972800" cy="523220"/>
          </a:xfrm>
          <a:prstGeom prst="rect">
            <a:avLst/>
          </a:prstGeom>
          <a:noFill/>
        </p:spPr>
        <p:txBody>
          <a:bodyPr vert="horz" wrap="square" lIns="0" tIns="0" rIns="0" bIns="0" rtlCol="0">
            <a:spAutoFit/>
          </a:bodyPr>
          <a:lstStyle/>
          <a:p>
            <a:r>
              <a:rPr lang="en-US" sz="3400" b="1">
                <a:solidFill>
                  <a:srgbClr val="142735"/>
                </a:solidFill>
                <a:latin typeface="Aptos" panose="020B0004020202020204" pitchFamily="34" charset="0"/>
              </a:rPr>
              <a:t>Reference: Claude country P75 SQL</a:t>
            </a:r>
          </a:p>
        </p:txBody>
      </p:sp>
      <p:sp>
        <p:nvSpPr>
          <p:cNvPr id="3" name="TextBox 2">
            <a:extLst>
              <a:ext uri="{FF2B5EF4-FFF2-40B4-BE49-F238E27FC236}">
                <a16:creationId xmlns:a16="http://schemas.microsoft.com/office/drawing/2014/main" id="{5560981A-5B70-667C-9A64-D0B38271FFEF}"/>
              </a:ext>
            </a:extLst>
          </p:cNvPr>
          <p:cNvSpPr txBox="1"/>
          <p:nvPr/>
        </p:nvSpPr>
        <p:spPr>
          <a:xfrm>
            <a:off x="609600" y="6464300"/>
            <a:ext cx="10414000" cy="169277"/>
          </a:xfrm>
          <a:prstGeom prst="rect">
            <a:avLst/>
          </a:prstGeom>
          <a:noFill/>
        </p:spPr>
        <p:txBody>
          <a:bodyPr vert="horz" wrap="square" lIns="0" tIns="0" rIns="0" bIns="0" rtlCol="0">
            <a:spAutoFit/>
          </a:bodyPr>
          <a:lstStyle/>
          <a:p>
            <a:r>
              <a:rPr lang="en-US" sz="1100">
                <a:solidFill>
                  <a:srgbClr val="526471"/>
                </a:solidFill>
                <a:latin typeface="Aptos" panose="020B0004020202020204" pitchFamily="34" charset="0"/>
              </a:rPr>
              <a:t>Po-wei Huang / Golden query prototype / October 2026</a:t>
            </a:r>
          </a:p>
        </p:txBody>
      </p:sp>
      <p:sp>
        <p:nvSpPr>
          <p:cNvPr id="4" name="TextBox 3">
            <a:extLst>
              <a:ext uri="{FF2B5EF4-FFF2-40B4-BE49-F238E27FC236}">
                <a16:creationId xmlns:a16="http://schemas.microsoft.com/office/drawing/2014/main" id="{0DDF3ECE-7FE4-1C49-A014-ABE078606DD7}"/>
              </a:ext>
            </a:extLst>
          </p:cNvPr>
          <p:cNvSpPr txBox="1"/>
          <p:nvPr/>
        </p:nvSpPr>
        <p:spPr>
          <a:xfrm>
            <a:off x="11430000" y="6464300"/>
            <a:ext cx="381000" cy="169277"/>
          </a:xfrm>
          <a:prstGeom prst="rect">
            <a:avLst/>
          </a:prstGeom>
          <a:noFill/>
        </p:spPr>
        <p:txBody>
          <a:bodyPr vert="horz" wrap="square" lIns="0" tIns="0" rIns="0" bIns="0" rtlCol="0">
            <a:spAutoFit/>
          </a:bodyPr>
          <a:lstStyle/>
          <a:p>
            <a:r>
              <a:rPr lang="en-US" sz="1100">
                <a:solidFill>
                  <a:srgbClr val="526471"/>
                </a:solidFill>
                <a:latin typeface="Aptos" panose="020B0004020202020204" pitchFamily="34" charset="0"/>
              </a:rPr>
              <a:t>9</a:t>
            </a:r>
          </a:p>
        </p:txBody>
      </p:sp>
      <p:sp>
        <p:nvSpPr>
          <p:cNvPr id="5" name="TextBox 4">
            <a:extLst>
              <a:ext uri="{FF2B5EF4-FFF2-40B4-BE49-F238E27FC236}">
                <a16:creationId xmlns:a16="http://schemas.microsoft.com/office/drawing/2014/main" id="{E86526EE-AAC0-F7E9-79E7-58A327208E64}"/>
              </a:ext>
            </a:extLst>
          </p:cNvPr>
          <p:cNvSpPr txBox="1"/>
          <p:nvPr/>
        </p:nvSpPr>
        <p:spPr>
          <a:xfrm>
            <a:off x="609600" y="1841500"/>
            <a:ext cx="10972800" cy="2769989"/>
          </a:xfrm>
          <a:prstGeom prst="rect">
            <a:avLst/>
          </a:prstGeom>
          <a:noFill/>
        </p:spPr>
        <p:txBody>
          <a:bodyPr vert="horz" wrap="square" lIns="0" tIns="0" rIns="0" bIns="0" rtlCol="0">
            <a:spAutoFit/>
          </a:bodyPr>
          <a:lstStyle/>
          <a:p>
            <a:r>
              <a:rPr lang="en-US">
                <a:solidFill>
                  <a:srgbClr val="142735"/>
                </a:solidFill>
                <a:latin typeface="Consolas" panose="020B0609020204030204" pitchFamily="49" charset="0"/>
              </a:rPr>
              <a:t>SELECT country, COUNT(*) AS orders,
  CAST(ROUND(ANY_VALUE(p75), 2) AS FLOAT64) AS p75_order_value
FROM (
  SELECT country,
    PERCENTILE_CONT(value, 0.75)
      OVER (PARTITION BY country) AS p75
  FROM o
)
GROUP BY country
ORDER BY p75_order_value DESC;</a:t>
            </a:r>
          </a:p>
        </p:txBody>
      </p:sp>
      <p:sp>
        <p:nvSpPr>
          <p:cNvPr id="6" name="TextBox 5">
            <a:extLst>
              <a:ext uri="{FF2B5EF4-FFF2-40B4-BE49-F238E27FC236}">
                <a16:creationId xmlns:a16="http://schemas.microsoft.com/office/drawing/2014/main" id="{B2DC5C58-50C2-DD8E-078B-38D4C8620A3A}"/>
              </a:ext>
            </a:extLst>
          </p:cNvPr>
          <p:cNvSpPr txBox="1"/>
          <p:nvPr/>
        </p:nvSpPr>
        <p:spPr>
          <a:xfrm>
            <a:off x="609600" y="5651500"/>
            <a:ext cx="10972800" cy="353943"/>
          </a:xfrm>
          <a:prstGeom prst="rect">
            <a:avLst/>
          </a:prstGeom>
          <a:noFill/>
        </p:spPr>
        <p:txBody>
          <a:bodyPr vert="horz" wrap="square" lIns="0" tIns="0" rIns="0" bIns="0" rtlCol="0">
            <a:spAutoFit/>
          </a:bodyPr>
          <a:lstStyle/>
          <a:p>
            <a:r>
              <a:rPr lang="en-US" sz="2300" b="1">
                <a:solidFill>
                  <a:srgbClr val="087F6B"/>
                </a:solidFill>
                <a:latin typeface="Aptos" panose="020B0004020202020204" pitchFamily="34" charset="0"/>
              </a:rPr>
              <a:t>Opportunity: retain native SQL while making precision and filter scope explicit.</a:t>
            </a:r>
          </a:p>
        </p:txBody>
      </p:sp>
    </p:spTree>
    <p:extLst>
      <p:ext uri="{BB962C8B-B14F-4D97-AF65-F5344CB8AC3E}">
        <p14:creationId xmlns:p14="http://schemas.microsoft.com/office/powerpoint/2010/main" val="18005156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1285</Words>
  <Application>Microsoft Office PowerPoint</Application>
  <PresentationFormat>Custom</PresentationFormat>
  <Paragraphs>100</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Po-wei Huang</dc:creator>
  <cp:lastModifiedBy>Po-wei Huang</cp:lastModifiedBy>
  <cp:revision>1</cp:revision>
  <dcterms:created xsi:type="dcterms:W3CDTF">2026-10-21T06:46:27Z</dcterms:created>
  <dcterms:modified xsi:type="dcterms:W3CDTF">2026-10-21T06:46:27Z</dcterms:modified>
</cp:coreProperties>
</file>